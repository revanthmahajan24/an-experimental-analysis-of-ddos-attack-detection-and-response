
<file path=[Content_Types].xml><?xml version="1.0" encoding="utf-8"?>
<Types xmlns="http://schemas.openxmlformats.org/package/2006/content-types">
  <Default Extension="jpeg" ContentType="image/jpeg"/>
  <Default Extension="png" ContentType="image/pn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notesMasters/notesMaster1.xml" ContentType="application/vnd.openxmlformats-officedocument.presentationml.notesMaster+xml"/>
  <Override PartName="/ppt/handoutMasters/handoutMaster1.xml" ContentType="application/vnd.openxmlformats-officedocument.presentationml.handoutMaster+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theme/theme3.xml" ContentType="application/vnd.openxmlformats-officedocument.theme+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27"/>
  </p:notesMasterIdLst>
  <p:handoutMasterIdLst>
    <p:handoutMasterId r:id="rId28"/>
  </p:handoutMasterIdLst>
  <p:sldIdLst>
    <p:sldId id="256" r:id="rId2"/>
    <p:sldId id="257" r:id="rId3"/>
    <p:sldId id="258" r:id="rId4"/>
    <p:sldId id="259" r:id="rId5"/>
    <p:sldId id="260" r:id="rId6"/>
    <p:sldId id="263" r:id="rId7"/>
    <p:sldId id="261" r:id="rId8"/>
    <p:sldId id="262" r:id="rId9"/>
    <p:sldId id="278" r:id="rId10"/>
    <p:sldId id="279" r:id="rId11"/>
    <p:sldId id="277" r:id="rId12"/>
    <p:sldId id="280" r:id="rId13"/>
    <p:sldId id="264" r:id="rId14"/>
    <p:sldId id="265" r:id="rId15"/>
    <p:sldId id="266" r:id="rId16"/>
    <p:sldId id="267" r:id="rId17"/>
    <p:sldId id="268" r:id="rId18"/>
    <p:sldId id="269" r:id="rId19"/>
    <p:sldId id="270" r:id="rId20"/>
    <p:sldId id="271" r:id="rId21"/>
    <p:sldId id="272" r:id="rId22"/>
    <p:sldId id="273" r:id="rId23"/>
    <p:sldId id="274" r:id="rId24"/>
    <p:sldId id="275" r:id="rId25"/>
    <p:sldId id="276" r:id="rId26"/>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a:tblStyle styleId="{284E427A-3D55-4303-BF80-6455036E1DE7}" styleName="Themed Style 1 - Accent 2">
    <a:tblBg>
      <a:fillRef idx="2">
        <a:schemeClr val="accent2"/>
      </a:fillRef>
      <a:effectRef idx="1">
        <a:schemeClr val="accent2"/>
      </a:effectRef>
    </a:tblBg>
    <a:wholeTbl>
      <a:tcTxStyle>
        <a:fontRef idx="minor">
          <a:scrgbClr r="0" g="0" b="0"/>
        </a:fontRef>
        <a:schemeClr val="dk1"/>
      </a:tcTxStyle>
      <a:tcStyle>
        <a:tcBdr>
          <a:left>
            <a:lnRef idx="1">
              <a:schemeClr val="accent2"/>
            </a:lnRef>
          </a:left>
          <a:right>
            <a:lnRef idx="1">
              <a:schemeClr val="accent2"/>
            </a:lnRef>
          </a:right>
          <a:top>
            <a:lnRef idx="1">
              <a:schemeClr val="accent2"/>
            </a:lnRef>
          </a:top>
          <a:bottom>
            <a:lnRef idx="1">
              <a:schemeClr val="accent2"/>
            </a:lnRef>
          </a:bottom>
          <a:insideH>
            <a:lnRef idx="1">
              <a:schemeClr val="accent2"/>
            </a:lnRef>
          </a:insideH>
          <a:insideV>
            <a:lnRef idx="1">
              <a:schemeClr val="accent2"/>
            </a:lnRef>
          </a:insideV>
        </a:tcBdr>
        <a:fill>
          <a:noFill/>
        </a:fill>
      </a:tcStyle>
    </a:wholeTbl>
    <a:band1H>
      <a:tcStyle>
        <a:tcBdr/>
        <a:fill>
          <a:solidFill>
            <a:schemeClr val="accent2">
              <a:alpha val="40000"/>
            </a:schemeClr>
          </a:solidFill>
        </a:fill>
      </a:tcStyle>
    </a:band1H>
    <a:band2H>
      <a:tcStyle>
        <a:tcBdr/>
      </a:tcStyle>
    </a:band2H>
    <a:band1V>
      <a:tcStyle>
        <a:tcBdr>
          <a:top>
            <a:lnRef idx="1">
              <a:schemeClr val="accent2"/>
            </a:lnRef>
          </a:top>
          <a:bottom>
            <a:lnRef idx="1">
              <a:schemeClr val="accent2"/>
            </a:lnRef>
          </a:bottom>
        </a:tcBdr>
        <a:fill>
          <a:solidFill>
            <a:schemeClr val="accent2">
              <a:alpha val="40000"/>
            </a:schemeClr>
          </a:solidFill>
        </a:fill>
      </a:tcStyle>
    </a:band1V>
    <a:band2V>
      <a:tcStyle>
        <a:tcBdr/>
      </a:tcStyle>
    </a:band2V>
    <a:lastCol>
      <a:tcTxStyle b="on"/>
      <a:tcStyle>
        <a:tcBdr>
          <a:left>
            <a:lnRef idx="2">
              <a:schemeClr val="accent2"/>
            </a:lnRef>
          </a:left>
          <a:right>
            <a:lnRef idx="1">
              <a:schemeClr val="accent2"/>
            </a:lnRef>
          </a:right>
          <a:top>
            <a:lnRef idx="1">
              <a:schemeClr val="accent2"/>
            </a:lnRef>
          </a:top>
          <a:bottom>
            <a:lnRef idx="1">
              <a:schemeClr val="accent2"/>
            </a:lnRef>
          </a:bottom>
          <a:insideH>
            <a:lnRef idx="1">
              <a:schemeClr val="accent2"/>
            </a:lnRef>
          </a:insideH>
          <a:insideV>
            <a:ln>
              <a:noFill/>
            </a:ln>
          </a:insideV>
        </a:tcBdr>
      </a:tcStyle>
    </a:lastCol>
    <a:firstCol>
      <a:tcTxStyle b="on"/>
      <a:tcStyle>
        <a:tcBdr>
          <a:left>
            <a:lnRef idx="1">
              <a:schemeClr val="accent2"/>
            </a:lnRef>
          </a:left>
          <a:right>
            <a:lnRef idx="2">
              <a:schemeClr val="accent2"/>
            </a:lnRef>
          </a:right>
          <a:top>
            <a:lnRef idx="1">
              <a:schemeClr val="accent2"/>
            </a:lnRef>
          </a:top>
          <a:bottom>
            <a:lnRef idx="1">
              <a:schemeClr val="accent2"/>
            </a:lnRef>
          </a:bottom>
          <a:insideH>
            <a:lnRef idx="1">
              <a:schemeClr val="accent2"/>
            </a:lnRef>
          </a:insideH>
          <a:insideV>
            <a:ln>
              <a:noFill/>
            </a:ln>
          </a:insideV>
        </a:tcBdr>
      </a:tcStyle>
    </a:firstCol>
    <a:lastRow>
      <a:tcTxStyle b="on"/>
      <a:tcStyle>
        <a:tcBdr>
          <a:left>
            <a:lnRef idx="1">
              <a:schemeClr val="accent2"/>
            </a:lnRef>
          </a:left>
          <a:right>
            <a:lnRef idx="1">
              <a:schemeClr val="accent2"/>
            </a:lnRef>
          </a:right>
          <a:top>
            <a:lnRef idx="2">
              <a:schemeClr val="accent2"/>
            </a:lnRef>
          </a:top>
          <a:bottom>
            <a:lnRef idx="2">
              <a:schemeClr val="accent2"/>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2"/>
            </a:lnRef>
          </a:left>
          <a:right>
            <a:lnRef idx="1">
              <a:schemeClr val="accent2"/>
            </a:lnRef>
          </a:right>
          <a:top>
            <a:lnRef idx="1">
              <a:schemeClr val="accent2"/>
            </a:lnRef>
          </a:top>
          <a:bottom>
            <a:lnRef idx="2">
              <a:schemeClr val="lt1"/>
            </a:lnRef>
          </a:bottom>
          <a:insideH>
            <a:ln>
              <a:noFill/>
            </a:ln>
          </a:insideH>
          <a:insideV>
            <a:ln>
              <a:noFill/>
            </a:ln>
          </a:insideV>
        </a:tcBdr>
        <a:fill>
          <a:solidFill>
            <a:schemeClr val="accent2"/>
          </a:solidFill>
        </a:fill>
      </a:tcStyle>
    </a:firstRow>
  </a:tblStyle>
  <a:tblStyle styleId="{775DCB02-9BB8-47FD-8907-85C794F793BA}" styleName="Themed Style 1 - Accent 4">
    <a:tblBg>
      <a:fillRef idx="2">
        <a:schemeClr val="accent4"/>
      </a:fillRef>
      <a:effectRef idx="1">
        <a:schemeClr val="accent4"/>
      </a:effectRef>
    </a:tblBg>
    <a:wholeTbl>
      <a:tcTxStyle>
        <a:fontRef idx="minor">
          <a:scrgbClr r="0" g="0" b="0"/>
        </a:fontRef>
        <a:schemeClr val="dk1"/>
      </a:tcTxStyle>
      <a:tcStyle>
        <a:tcBdr>
          <a:left>
            <a:lnRef idx="1">
              <a:schemeClr val="accent4"/>
            </a:lnRef>
          </a:left>
          <a:right>
            <a:lnRef idx="1">
              <a:schemeClr val="accent4"/>
            </a:lnRef>
          </a:right>
          <a:top>
            <a:lnRef idx="1">
              <a:schemeClr val="accent4"/>
            </a:lnRef>
          </a:top>
          <a:bottom>
            <a:lnRef idx="1">
              <a:schemeClr val="accent4"/>
            </a:lnRef>
          </a:bottom>
          <a:insideH>
            <a:lnRef idx="1">
              <a:schemeClr val="accent4"/>
            </a:lnRef>
          </a:insideH>
          <a:insideV>
            <a:lnRef idx="1">
              <a:schemeClr val="accent4"/>
            </a:lnRef>
          </a:insideV>
        </a:tcBdr>
        <a:fill>
          <a:noFill/>
        </a:fill>
      </a:tcStyle>
    </a:wholeTbl>
    <a:band1H>
      <a:tcStyle>
        <a:tcBdr/>
        <a:fill>
          <a:solidFill>
            <a:schemeClr val="accent4">
              <a:alpha val="40000"/>
            </a:schemeClr>
          </a:solidFill>
        </a:fill>
      </a:tcStyle>
    </a:band1H>
    <a:band2H>
      <a:tcStyle>
        <a:tcBdr/>
      </a:tcStyle>
    </a:band2H>
    <a:band1V>
      <a:tcStyle>
        <a:tcBdr>
          <a:top>
            <a:lnRef idx="1">
              <a:schemeClr val="accent4"/>
            </a:lnRef>
          </a:top>
          <a:bottom>
            <a:lnRef idx="1">
              <a:schemeClr val="accent4"/>
            </a:lnRef>
          </a:bottom>
        </a:tcBdr>
        <a:fill>
          <a:solidFill>
            <a:schemeClr val="accent4">
              <a:alpha val="40000"/>
            </a:schemeClr>
          </a:solidFill>
        </a:fill>
      </a:tcStyle>
    </a:band1V>
    <a:band2V>
      <a:tcStyle>
        <a:tcBdr/>
      </a:tcStyle>
    </a:band2V>
    <a:lastCol>
      <a:tcTxStyle b="on"/>
      <a:tcStyle>
        <a:tcBdr>
          <a:left>
            <a:lnRef idx="2">
              <a:schemeClr val="accent4"/>
            </a:lnRef>
          </a:left>
          <a:right>
            <a:lnRef idx="1">
              <a:schemeClr val="accent4"/>
            </a:lnRef>
          </a:right>
          <a:top>
            <a:lnRef idx="1">
              <a:schemeClr val="accent4"/>
            </a:lnRef>
          </a:top>
          <a:bottom>
            <a:lnRef idx="1">
              <a:schemeClr val="accent4"/>
            </a:lnRef>
          </a:bottom>
          <a:insideH>
            <a:lnRef idx="1">
              <a:schemeClr val="accent4"/>
            </a:lnRef>
          </a:insideH>
          <a:insideV>
            <a:ln>
              <a:noFill/>
            </a:ln>
          </a:insideV>
        </a:tcBdr>
      </a:tcStyle>
    </a:lastCol>
    <a:firstCol>
      <a:tcTxStyle b="on"/>
      <a:tcStyle>
        <a:tcBdr>
          <a:left>
            <a:lnRef idx="1">
              <a:schemeClr val="accent4"/>
            </a:lnRef>
          </a:left>
          <a:right>
            <a:lnRef idx="2">
              <a:schemeClr val="accent4"/>
            </a:lnRef>
          </a:right>
          <a:top>
            <a:lnRef idx="1">
              <a:schemeClr val="accent4"/>
            </a:lnRef>
          </a:top>
          <a:bottom>
            <a:lnRef idx="1">
              <a:schemeClr val="accent4"/>
            </a:lnRef>
          </a:bottom>
          <a:insideH>
            <a:lnRef idx="1">
              <a:schemeClr val="accent4"/>
            </a:lnRef>
          </a:insideH>
          <a:insideV>
            <a:ln>
              <a:noFill/>
            </a:ln>
          </a:insideV>
        </a:tcBdr>
      </a:tcStyle>
    </a:firstCol>
    <a:lastRow>
      <a:tcTxStyle b="on"/>
      <a:tcStyle>
        <a:tcBdr>
          <a:left>
            <a:lnRef idx="1">
              <a:schemeClr val="accent4"/>
            </a:lnRef>
          </a:left>
          <a:right>
            <a:lnRef idx="1">
              <a:schemeClr val="accent4"/>
            </a:lnRef>
          </a:right>
          <a:top>
            <a:lnRef idx="2">
              <a:schemeClr val="accent4"/>
            </a:lnRef>
          </a:top>
          <a:bottom>
            <a:lnRef idx="2">
              <a:schemeClr val="accent4"/>
            </a:lnRef>
          </a:bottom>
          <a:insideH>
            <a:ln>
              <a:noFill/>
            </a:ln>
          </a:insideH>
          <a:insideV>
            <a:ln>
              <a:noFill/>
            </a:ln>
          </a:insideV>
        </a:tcBdr>
        <a:fill>
          <a:noFill/>
        </a:fill>
      </a:tcStyle>
    </a:lastRow>
    <a:firstRow>
      <a:tcTxStyle b="on">
        <a:fontRef idx="minor">
          <a:scrgbClr r="0" g="0" b="0"/>
        </a:fontRef>
        <a:schemeClr val="lt1"/>
      </a:tcTxStyle>
      <a:tcStyle>
        <a:tcBdr>
          <a:left>
            <a:lnRef idx="1">
              <a:schemeClr val="accent4"/>
            </a:lnRef>
          </a:left>
          <a:right>
            <a:lnRef idx="1">
              <a:schemeClr val="accent4"/>
            </a:lnRef>
          </a:right>
          <a:top>
            <a:lnRef idx="1">
              <a:schemeClr val="accent4"/>
            </a:lnRef>
          </a:top>
          <a:bottom>
            <a:lnRef idx="2">
              <a:schemeClr val="lt1"/>
            </a:lnRef>
          </a:bottom>
          <a:insideH>
            <a:ln>
              <a:noFill/>
            </a:ln>
          </a:insideH>
          <a:insideV>
            <a:ln>
              <a:noFill/>
            </a:ln>
          </a:insideV>
        </a:tcBdr>
        <a:fill>
          <a:solidFill>
            <a:schemeClr val="accent4"/>
          </a:solidFill>
        </a:fill>
      </a:tcStyle>
    </a:firstRow>
  </a:tblStyle>
</a:tblStyleLst>
</file>

<file path=ppt/viewProps.xml><?xml version="1.0" encoding="utf-8"?>
<p:viewPr xmlns:a="http://schemas.openxmlformats.org/drawingml/2006/main" xmlns:r="http://schemas.openxmlformats.org/officeDocument/2006/relationships" xmlns:p="http://schemas.openxmlformats.org/presentationml/2006/main">
  <p:normalViewPr>
    <p:restoredLeft sz="14972" autoAdjust="0"/>
    <p:restoredTop sz="94660"/>
  </p:normalViewPr>
  <p:slideViewPr>
    <p:cSldViewPr snapToGrid="0">
      <p:cViewPr varScale="1">
        <p:scale>
          <a:sx n="81" d="100"/>
          <a:sy n="81" d="100"/>
        </p:scale>
        <p:origin x="754" y="48"/>
      </p:cViewPr>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 Type="http://schemas.openxmlformats.org/officeDocument/2006/relationships/slide" Target="slides/slide2.xml"/><Relationship Id="rId21" Type="http://schemas.openxmlformats.org/officeDocument/2006/relationships/slide" Target="slides/slide20.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presProps" Target="presProps.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tableStyles" Target="tableStyles.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handoutMaster" Target="handoutMasters/handoutMaster1.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theme" Target="theme/theme1.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notesMaster" Target="notesMasters/notesMaster1.xml"/><Relationship Id="rId30" Type="http://schemas.openxmlformats.org/officeDocument/2006/relationships/viewProps" Target="viewProps.xml"/></Relationships>
</file>

<file path=ppt/handoutMasters/_rels/handoutMaster1.xml.rels><?xml version="1.0" encoding="UTF-8" standalone="yes"?>
<Relationships xmlns="http://schemas.openxmlformats.org/package/2006/relationships"><Relationship Id="rId1" Type="http://schemas.openxmlformats.org/officeDocument/2006/relationships/theme" Target="../theme/theme3.xml"/></Relationships>
</file>

<file path=ppt/handoutMasters/handoutMaster1.xml><?xml version="1.0" encoding="utf-8"?>
<p:handout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a:extLst>
              <a:ext uri="{FF2B5EF4-FFF2-40B4-BE49-F238E27FC236}">
                <a16:creationId xmlns:a16="http://schemas.microsoft.com/office/drawing/2014/main" id="{9C88B3BF-2628-1A95-0CF9-0C74EB178048}"/>
              </a:ext>
            </a:extLst>
          </p:cNvPr>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a:extLst>
              <a:ext uri="{FF2B5EF4-FFF2-40B4-BE49-F238E27FC236}">
                <a16:creationId xmlns:a16="http://schemas.microsoft.com/office/drawing/2014/main" id="{A937EA96-F17F-F9C2-9D1B-36276838C2AA}"/>
              </a:ext>
            </a:extLst>
          </p:cNvPr>
          <p:cNvSpPr>
            <a:spLocks noGrp="1"/>
          </p:cNvSpPr>
          <p:nvPr>
            <p:ph type="dt" sz="quarter" idx="1"/>
          </p:nvPr>
        </p:nvSpPr>
        <p:spPr>
          <a:xfrm>
            <a:off x="3884613" y="0"/>
            <a:ext cx="2971800" cy="458788"/>
          </a:xfrm>
          <a:prstGeom prst="rect">
            <a:avLst/>
          </a:prstGeom>
        </p:spPr>
        <p:txBody>
          <a:bodyPr vert="horz" lIns="91440" tIns="45720" rIns="91440" bIns="45720" rtlCol="0"/>
          <a:lstStyle>
            <a:lvl1pPr algn="r">
              <a:defRPr sz="1200"/>
            </a:lvl1pPr>
          </a:lstStyle>
          <a:p>
            <a:fld id="{3FCD70CA-DC2E-402B-AA7B-F10EA855C47B}" type="datetimeFigureOut">
              <a:rPr lang="en-IN" smtClean="0"/>
              <a:t>29-04-2026</a:t>
            </a:fld>
            <a:endParaRPr lang="en-IN"/>
          </a:p>
        </p:txBody>
      </p:sp>
      <p:sp>
        <p:nvSpPr>
          <p:cNvPr id="4" name="Footer Placeholder 3">
            <a:extLst>
              <a:ext uri="{FF2B5EF4-FFF2-40B4-BE49-F238E27FC236}">
                <a16:creationId xmlns:a16="http://schemas.microsoft.com/office/drawing/2014/main" id="{6B169DB7-6577-2E8F-854E-6C9FE83EB08B}"/>
              </a:ext>
            </a:extLst>
          </p:cNvPr>
          <p:cNvSpPr>
            <a:spLocks noGrp="1"/>
          </p:cNvSpPr>
          <p:nvPr>
            <p:ph type="ftr" sz="quarter" idx="2"/>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5" name="Slide Number Placeholder 4">
            <a:extLst>
              <a:ext uri="{FF2B5EF4-FFF2-40B4-BE49-F238E27FC236}">
                <a16:creationId xmlns:a16="http://schemas.microsoft.com/office/drawing/2014/main" id="{ED6FBFEA-194C-0657-5302-73986BAA698F}"/>
              </a:ext>
            </a:extLst>
          </p:cNvPr>
          <p:cNvSpPr>
            <a:spLocks noGrp="1"/>
          </p:cNvSpPr>
          <p:nvPr>
            <p:ph type="sldNum" sz="quarter" idx="3"/>
          </p:nvPr>
        </p:nvSpPr>
        <p:spPr>
          <a:xfrm>
            <a:off x="3884613" y="8685213"/>
            <a:ext cx="2971800" cy="458787"/>
          </a:xfrm>
          <a:prstGeom prst="rect">
            <a:avLst/>
          </a:prstGeom>
        </p:spPr>
        <p:txBody>
          <a:bodyPr vert="horz" lIns="91440" tIns="45720" rIns="91440" bIns="45720" rtlCol="0" anchor="b"/>
          <a:lstStyle>
            <a:lvl1pPr algn="r">
              <a:defRPr sz="1200"/>
            </a:lvl1pPr>
          </a:lstStyle>
          <a:p>
            <a:fld id="{AB28943C-80FA-416D-B63E-3A33347251AD}" type="slidenum">
              <a:rPr lang="en-IN" smtClean="0"/>
              <a:t>‹#›</a:t>
            </a:fld>
            <a:endParaRPr lang="en-IN"/>
          </a:p>
        </p:txBody>
      </p:sp>
    </p:spTree>
    <p:extLst>
      <p:ext uri="{BB962C8B-B14F-4D97-AF65-F5344CB8AC3E}">
        <p14:creationId xmlns:p14="http://schemas.microsoft.com/office/powerpoint/2010/main" val="962119639"/>
      </p:ext>
    </p:extLst>
  </p:cSld>
  <p:clrMap bg1="lt1" tx1="dk1" bg2="lt2" tx2="dk2" accent1="accent1" accent2="accent2" accent3="accent3" accent4="accent4" accent5="accent5" accent6="accent6" hlink="hlink" folHlink="folHlink"/>
</p:handoutMaster>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IN"/>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6903F68B-DCE5-4CF7-ADB1-EFD5283817E1}" type="datetimeFigureOut">
              <a:rPr lang="en-IN" smtClean="0"/>
              <a:t>29-04-2026</a:t>
            </a:fld>
            <a:endParaRPr lang="en-IN"/>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IN"/>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IN"/>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D99BBF2B-04B6-4EF9-A250-7CEDD247A537}" type="slidenum">
              <a:rPr lang="en-IN" smtClean="0"/>
              <a:t>‹#›</a:t>
            </a:fld>
            <a:endParaRPr lang="en-IN"/>
          </a:p>
        </p:txBody>
      </p:sp>
    </p:spTree>
    <p:extLst>
      <p:ext uri="{BB962C8B-B14F-4D97-AF65-F5344CB8AC3E}">
        <p14:creationId xmlns:p14="http://schemas.microsoft.com/office/powerpoint/2010/main" val="812657281"/>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E6BB4AB-3090-C4D0-1F2C-003A36039381}"/>
              </a:ext>
            </a:extLst>
          </p:cNvPr>
          <p:cNvSpPr>
            <a:spLocks noGrp="1"/>
          </p:cNvSpPr>
          <p:nvPr>
            <p:ph type="ctrTitle"/>
          </p:nvPr>
        </p:nvSpPr>
        <p:spPr>
          <a:xfrm>
            <a:off x="1524000" y="1122363"/>
            <a:ext cx="9144000" cy="2387600"/>
          </a:xfrm>
        </p:spPr>
        <p:txBody>
          <a:bodyPr anchor="b"/>
          <a:lstStyle>
            <a:lvl1pPr algn="ctr">
              <a:defRPr sz="6000"/>
            </a:lvl1pPr>
          </a:lstStyle>
          <a:p>
            <a:r>
              <a:rPr lang="en-US"/>
              <a:t>Click to edit Master title style</a:t>
            </a:r>
            <a:endParaRPr lang="en-IN"/>
          </a:p>
        </p:txBody>
      </p:sp>
      <p:sp>
        <p:nvSpPr>
          <p:cNvPr id="3" name="Subtitle 2">
            <a:extLst>
              <a:ext uri="{FF2B5EF4-FFF2-40B4-BE49-F238E27FC236}">
                <a16:creationId xmlns:a16="http://schemas.microsoft.com/office/drawing/2014/main" id="{C8FECC25-EAD9-5A36-27C1-909A0F74F5BA}"/>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en-US"/>
              <a:t>Click to edit Master subtitle style</a:t>
            </a:r>
            <a:endParaRPr lang="en-IN"/>
          </a:p>
        </p:txBody>
      </p:sp>
      <p:sp>
        <p:nvSpPr>
          <p:cNvPr id="4" name="Date Placeholder 3">
            <a:extLst>
              <a:ext uri="{FF2B5EF4-FFF2-40B4-BE49-F238E27FC236}">
                <a16:creationId xmlns:a16="http://schemas.microsoft.com/office/drawing/2014/main" id="{C5B85DCC-A901-F820-566D-7FD546ABFF59}"/>
              </a:ext>
            </a:extLst>
          </p:cNvPr>
          <p:cNvSpPr>
            <a:spLocks noGrp="1"/>
          </p:cNvSpPr>
          <p:nvPr>
            <p:ph type="dt" sz="half" idx="10"/>
          </p:nvPr>
        </p:nvSpPr>
        <p:spPr/>
        <p:txBody>
          <a:bodyPr/>
          <a:lstStyle/>
          <a:p>
            <a:fld id="{AB0B33A9-95AC-4483-8D56-155D86B8F734}" type="datetime1">
              <a:rPr lang="en-IN" smtClean="0"/>
              <a:t>29-04-2026</a:t>
            </a:fld>
            <a:endParaRPr lang="en-IN"/>
          </a:p>
        </p:txBody>
      </p:sp>
      <p:sp>
        <p:nvSpPr>
          <p:cNvPr id="5" name="Footer Placeholder 4">
            <a:extLst>
              <a:ext uri="{FF2B5EF4-FFF2-40B4-BE49-F238E27FC236}">
                <a16:creationId xmlns:a16="http://schemas.microsoft.com/office/drawing/2014/main" id="{A396B962-0BAF-D23E-9A83-B9A2E233EA30}"/>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90DAD50-6F56-2E44-045F-6E0138A23A19}"/>
              </a:ext>
            </a:extLst>
          </p:cNvPr>
          <p:cNvSpPr>
            <a:spLocks noGrp="1"/>
          </p:cNvSpPr>
          <p:nvPr>
            <p:ph type="sldNum" sz="quarter" idx="12"/>
          </p:nvPr>
        </p:nvSpPr>
        <p:spPr/>
        <p:txBody>
          <a:bodyPr/>
          <a:lstStyle/>
          <a:p>
            <a:fld id="{29FACB4C-C362-4046-86B4-4C56FF9F32A5}" type="slidenum">
              <a:rPr lang="en-IN" smtClean="0"/>
              <a:t>‹#›</a:t>
            </a:fld>
            <a:endParaRPr lang="en-IN"/>
          </a:p>
        </p:txBody>
      </p:sp>
    </p:spTree>
    <p:extLst>
      <p:ext uri="{BB962C8B-B14F-4D97-AF65-F5344CB8AC3E}">
        <p14:creationId xmlns:p14="http://schemas.microsoft.com/office/powerpoint/2010/main" val="254166530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80EF378-1F72-BE2F-2A01-0B2EEB7D1904}"/>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5F2C0EEE-38FB-1529-1E32-6D47DFACFDDE}"/>
              </a:ext>
            </a:extLst>
          </p:cNvPr>
          <p:cNvSpPr>
            <a:spLocks noGrp="1"/>
          </p:cNvSpPr>
          <p:nvPr>
            <p:ph idx="1"/>
          </p:nvPr>
        </p:nvSpPr>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95FDDE5C-9214-61B9-0C6B-C9B9E60791B0}"/>
              </a:ext>
            </a:extLst>
          </p:cNvPr>
          <p:cNvSpPr>
            <a:spLocks noGrp="1"/>
          </p:cNvSpPr>
          <p:nvPr>
            <p:ph type="dt" sz="half" idx="10"/>
          </p:nvPr>
        </p:nvSpPr>
        <p:spPr/>
        <p:txBody>
          <a:bodyPr/>
          <a:lstStyle/>
          <a:p>
            <a:fld id="{120950EA-B71C-4FD0-B2FB-1048A82B387D}" type="datetime1">
              <a:rPr lang="en-IN" smtClean="0"/>
              <a:t>29-04-2026</a:t>
            </a:fld>
            <a:endParaRPr lang="en-IN"/>
          </a:p>
        </p:txBody>
      </p:sp>
      <p:sp>
        <p:nvSpPr>
          <p:cNvPr id="5" name="Footer Placeholder 4">
            <a:extLst>
              <a:ext uri="{FF2B5EF4-FFF2-40B4-BE49-F238E27FC236}">
                <a16:creationId xmlns:a16="http://schemas.microsoft.com/office/drawing/2014/main" id="{77BD67A2-AF61-C8E7-9657-BBFECF2AC88B}"/>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70ABB177-2EA7-0412-0074-066DF11E5C1A}"/>
              </a:ext>
            </a:extLst>
          </p:cNvPr>
          <p:cNvSpPr>
            <a:spLocks noGrp="1"/>
          </p:cNvSpPr>
          <p:nvPr>
            <p:ph type="sldNum" sz="quarter" idx="12"/>
          </p:nvPr>
        </p:nvSpPr>
        <p:spPr/>
        <p:txBody>
          <a:bodyPr/>
          <a:lstStyle/>
          <a:p>
            <a:fld id="{29FACB4C-C362-4046-86B4-4C56FF9F32A5}" type="slidenum">
              <a:rPr lang="en-IN" smtClean="0"/>
              <a:t>‹#›</a:t>
            </a:fld>
            <a:endParaRPr lang="en-IN"/>
          </a:p>
        </p:txBody>
      </p:sp>
    </p:spTree>
    <p:extLst>
      <p:ext uri="{BB962C8B-B14F-4D97-AF65-F5344CB8AC3E}">
        <p14:creationId xmlns:p14="http://schemas.microsoft.com/office/powerpoint/2010/main" val="204517176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1E1A723-EE6F-273C-6D4D-7010B4CD6E80}"/>
              </a:ext>
            </a:extLst>
          </p:cNvPr>
          <p:cNvSpPr>
            <a:spLocks noGrp="1"/>
          </p:cNvSpPr>
          <p:nvPr>
            <p:ph type="title"/>
          </p:nvPr>
        </p:nvSpPr>
        <p:spPr>
          <a:xfrm>
            <a:off x="831850" y="1709738"/>
            <a:ext cx="10515600" cy="2852737"/>
          </a:xfrm>
        </p:spPr>
        <p:txBody>
          <a:bodyPr anchor="b"/>
          <a:lstStyle>
            <a:lvl1pPr>
              <a:defRPr sz="6000"/>
            </a:lvl1pPr>
          </a:lstStyle>
          <a:p>
            <a:r>
              <a:rPr lang="en-US"/>
              <a:t>Click to edit Master title style</a:t>
            </a:r>
            <a:endParaRPr lang="en-IN"/>
          </a:p>
        </p:txBody>
      </p:sp>
      <p:sp>
        <p:nvSpPr>
          <p:cNvPr id="3" name="Text Placeholder 2">
            <a:extLst>
              <a:ext uri="{FF2B5EF4-FFF2-40B4-BE49-F238E27FC236}">
                <a16:creationId xmlns:a16="http://schemas.microsoft.com/office/drawing/2014/main" id="{BD25BEA4-07D0-94ED-8EF6-8AE98C577A96}"/>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en-US"/>
              <a:t>Click to edit Master text styles</a:t>
            </a:r>
          </a:p>
        </p:txBody>
      </p:sp>
      <p:sp>
        <p:nvSpPr>
          <p:cNvPr id="4" name="Date Placeholder 3">
            <a:extLst>
              <a:ext uri="{FF2B5EF4-FFF2-40B4-BE49-F238E27FC236}">
                <a16:creationId xmlns:a16="http://schemas.microsoft.com/office/drawing/2014/main" id="{1DE9F2AE-4CAD-9D64-D9E0-3696A8399F57}"/>
              </a:ext>
            </a:extLst>
          </p:cNvPr>
          <p:cNvSpPr>
            <a:spLocks noGrp="1"/>
          </p:cNvSpPr>
          <p:nvPr>
            <p:ph type="dt" sz="half" idx="10"/>
          </p:nvPr>
        </p:nvSpPr>
        <p:spPr/>
        <p:txBody>
          <a:bodyPr/>
          <a:lstStyle/>
          <a:p>
            <a:fld id="{D6D7EA5A-F6A4-4FE9-982D-8A31DBD6CFEE}" type="datetime1">
              <a:rPr lang="en-IN" smtClean="0"/>
              <a:t>29-04-2026</a:t>
            </a:fld>
            <a:endParaRPr lang="en-IN"/>
          </a:p>
        </p:txBody>
      </p:sp>
      <p:sp>
        <p:nvSpPr>
          <p:cNvPr id="5" name="Footer Placeholder 4">
            <a:extLst>
              <a:ext uri="{FF2B5EF4-FFF2-40B4-BE49-F238E27FC236}">
                <a16:creationId xmlns:a16="http://schemas.microsoft.com/office/drawing/2014/main" id="{9E17F1AC-C7BC-54CA-A080-47BEFC056A46}"/>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88BFEBF3-4194-D0E6-A50D-3184372C9C4A}"/>
              </a:ext>
            </a:extLst>
          </p:cNvPr>
          <p:cNvSpPr>
            <a:spLocks noGrp="1"/>
          </p:cNvSpPr>
          <p:nvPr>
            <p:ph type="sldNum" sz="quarter" idx="12"/>
          </p:nvPr>
        </p:nvSpPr>
        <p:spPr/>
        <p:txBody>
          <a:bodyPr/>
          <a:lstStyle/>
          <a:p>
            <a:fld id="{29FACB4C-C362-4046-86B4-4C56FF9F32A5}" type="slidenum">
              <a:rPr lang="en-IN" smtClean="0"/>
              <a:t>‹#›</a:t>
            </a:fld>
            <a:endParaRPr lang="en-IN"/>
          </a:p>
        </p:txBody>
      </p:sp>
    </p:spTree>
    <p:extLst>
      <p:ext uri="{BB962C8B-B14F-4D97-AF65-F5344CB8AC3E}">
        <p14:creationId xmlns:p14="http://schemas.microsoft.com/office/powerpoint/2010/main" val="1338493031"/>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7F75B76-D0BD-7CA2-C618-29A523110BD8}"/>
              </a:ext>
            </a:extLst>
          </p:cNvPr>
          <p:cNvSpPr>
            <a:spLocks noGrp="1"/>
          </p:cNvSpPr>
          <p:nvPr>
            <p:ph type="title"/>
          </p:nvPr>
        </p:nvSpPr>
        <p:spPr/>
        <p:txBody>
          <a:bodyPr/>
          <a:lstStyle/>
          <a:p>
            <a:r>
              <a:rPr lang="en-US"/>
              <a:t>Click to edit Master title style</a:t>
            </a:r>
            <a:endParaRPr lang="en-IN"/>
          </a:p>
        </p:txBody>
      </p:sp>
      <p:sp>
        <p:nvSpPr>
          <p:cNvPr id="3" name="Content Placeholder 2">
            <a:extLst>
              <a:ext uri="{FF2B5EF4-FFF2-40B4-BE49-F238E27FC236}">
                <a16:creationId xmlns:a16="http://schemas.microsoft.com/office/drawing/2014/main" id="{40D51FFA-31DB-6BD3-E186-3A1051BBDAAC}"/>
              </a:ext>
            </a:extLst>
          </p:cNvPr>
          <p:cNvSpPr>
            <a:spLocks noGrp="1"/>
          </p:cNvSpPr>
          <p:nvPr>
            <p:ph sz="half" idx="1"/>
          </p:nvPr>
        </p:nvSpPr>
        <p:spPr>
          <a:xfrm>
            <a:off x="838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Content Placeholder 3">
            <a:extLst>
              <a:ext uri="{FF2B5EF4-FFF2-40B4-BE49-F238E27FC236}">
                <a16:creationId xmlns:a16="http://schemas.microsoft.com/office/drawing/2014/main" id="{0947E79B-2C04-488A-AF18-884FE8D9DF89}"/>
              </a:ext>
            </a:extLst>
          </p:cNvPr>
          <p:cNvSpPr>
            <a:spLocks noGrp="1"/>
          </p:cNvSpPr>
          <p:nvPr>
            <p:ph sz="half" idx="2"/>
          </p:nvPr>
        </p:nvSpPr>
        <p:spPr>
          <a:xfrm>
            <a:off x="6172200" y="1825625"/>
            <a:ext cx="5181600" cy="435133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Date Placeholder 4">
            <a:extLst>
              <a:ext uri="{FF2B5EF4-FFF2-40B4-BE49-F238E27FC236}">
                <a16:creationId xmlns:a16="http://schemas.microsoft.com/office/drawing/2014/main" id="{4572430F-8A80-E1E9-1324-1A53942ABBA2}"/>
              </a:ext>
            </a:extLst>
          </p:cNvPr>
          <p:cNvSpPr>
            <a:spLocks noGrp="1"/>
          </p:cNvSpPr>
          <p:nvPr>
            <p:ph type="dt" sz="half" idx="10"/>
          </p:nvPr>
        </p:nvSpPr>
        <p:spPr/>
        <p:txBody>
          <a:bodyPr/>
          <a:lstStyle/>
          <a:p>
            <a:fld id="{0E7512C2-41D0-43FD-BA64-8FDFA0B25805}" type="datetime1">
              <a:rPr lang="en-IN" smtClean="0"/>
              <a:t>29-04-2026</a:t>
            </a:fld>
            <a:endParaRPr lang="en-IN"/>
          </a:p>
        </p:txBody>
      </p:sp>
      <p:sp>
        <p:nvSpPr>
          <p:cNvPr id="6" name="Footer Placeholder 5">
            <a:extLst>
              <a:ext uri="{FF2B5EF4-FFF2-40B4-BE49-F238E27FC236}">
                <a16:creationId xmlns:a16="http://schemas.microsoft.com/office/drawing/2014/main" id="{EA5BEE80-6D8B-4A2F-1350-F098F9561B33}"/>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797942C7-D719-3A54-C566-148816B70882}"/>
              </a:ext>
            </a:extLst>
          </p:cNvPr>
          <p:cNvSpPr>
            <a:spLocks noGrp="1"/>
          </p:cNvSpPr>
          <p:nvPr>
            <p:ph type="sldNum" sz="quarter" idx="12"/>
          </p:nvPr>
        </p:nvSpPr>
        <p:spPr/>
        <p:txBody>
          <a:bodyPr/>
          <a:lstStyle/>
          <a:p>
            <a:fld id="{29FACB4C-C362-4046-86B4-4C56FF9F32A5}" type="slidenum">
              <a:rPr lang="en-IN" smtClean="0"/>
              <a:t>‹#›</a:t>
            </a:fld>
            <a:endParaRPr lang="en-IN"/>
          </a:p>
        </p:txBody>
      </p:sp>
    </p:spTree>
    <p:extLst>
      <p:ext uri="{BB962C8B-B14F-4D97-AF65-F5344CB8AC3E}">
        <p14:creationId xmlns:p14="http://schemas.microsoft.com/office/powerpoint/2010/main" val="1538515545"/>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0A168D8-BED2-0334-1BB3-0BA81AE3D6F6}"/>
              </a:ext>
            </a:extLst>
          </p:cNvPr>
          <p:cNvSpPr>
            <a:spLocks noGrp="1"/>
          </p:cNvSpPr>
          <p:nvPr>
            <p:ph type="title"/>
          </p:nvPr>
        </p:nvSpPr>
        <p:spPr>
          <a:xfrm>
            <a:off x="839788" y="365125"/>
            <a:ext cx="10515600" cy="1325563"/>
          </a:xfrm>
        </p:spPr>
        <p:txBody>
          <a:bodyPr/>
          <a:lstStyle/>
          <a:p>
            <a:r>
              <a:rPr lang="en-US"/>
              <a:t>Click to edit Master title style</a:t>
            </a:r>
            <a:endParaRPr lang="en-IN"/>
          </a:p>
        </p:txBody>
      </p:sp>
      <p:sp>
        <p:nvSpPr>
          <p:cNvPr id="3" name="Text Placeholder 2">
            <a:extLst>
              <a:ext uri="{FF2B5EF4-FFF2-40B4-BE49-F238E27FC236}">
                <a16:creationId xmlns:a16="http://schemas.microsoft.com/office/drawing/2014/main" id="{E1EF6FFC-D518-1295-9950-1893BA5B5073}"/>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4" name="Content Placeholder 3">
            <a:extLst>
              <a:ext uri="{FF2B5EF4-FFF2-40B4-BE49-F238E27FC236}">
                <a16:creationId xmlns:a16="http://schemas.microsoft.com/office/drawing/2014/main" id="{073FEDFD-F34E-E7BF-098B-AD52E1E4BBEE}"/>
              </a:ext>
            </a:extLst>
          </p:cNvPr>
          <p:cNvSpPr>
            <a:spLocks noGrp="1"/>
          </p:cNvSpPr>
          <p:nvPr>
            <p:ph sz="half" idx="2"/>
          </p:nvPr>
        </p:nvSpPr>
        <p:spPr>
          <a:xfrm>
            <a:off x="839788" y="2505075"/>
            <a:ext cx="5157787"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5" name="Text Placeholder 4">
            <a:extLst>
              <a:ext uri="{FF2B5EF4-FFF2-40B4-BE49-F238E27FC236}">
                <a16:creationId xmlns:a16="http://schemas.microsoft.com/office/drawing/2014/main" id="{9F97584A-D94A-0679-2A4F-6A28A63F613F}"/>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a:t>Click to edit Master text styles</a:t>
            </a:r>
          </a:p>
        </p:txBody>
      </p:sp>
      <p:sp>
        <p:nvSpPr>
          <p:cNvPr id="6" name="Content Placeholder 5">
            <a:extLst>
              <a:ext uri="{FF2B5EF4-FFF2-40B4-BE49-F238E27FC236}">
                <a16:creationId xmlns:a16="http://schemas.microsoft.com/office/drawing/2014/main" id="{53B60728-8FD2-56A4-7CF7-9B389D90E495}"/>
              </a:ext>
            </a:extLst>
          </p:cNvPr>
          <p:cNvSpPr>
            <a:spLocks noGrp="1"/>
          </p:cNvSpPr>
          <p:nvPr>
            <p:ph sz="quarter" idx="4"/>
          </p:nvPr>
        </p:nvSpPr>
        <p:spPr>
          <a:xfrm>
            <a:off x="6172200" y="2505075"/>
            <a:ext cx="5183188" cy="3684588"/>
          </a:xfrm>
        </p:spPr>
        <p:txBody>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7" name="Date Placeholder 6">
            <a:extLst>
              <a:ext uri="{FF2B5EF4-FFF2-40B4-BE49-F238E27FC236}">
                <a16:creationId xmlns:a16="http://schemas.microsoft.com/office/drawing/2014/main" id="{EFA80345-3BCE-2503-EE76-F12BF79C3E0F}"/>
              </a:ext>
            </a:extLst>
          </p:cNvPr>
          <p:cNvSpPr>
            <a:spLocks noGrp="1"/>
          </p:cNvSpPr>
          <p:nvPr>
            <p:ph type="dt" sz="half" idx="10"/>
          </p:nvPr>
        </p:nvSpPr>
        <p:spPr/>
        <p:txBody>
          <a:bodyPr/>
          <a:lstStyle/>
          <a:p>
            <a:fld id="{3688E99B-7057-431F-AF85-BF0D63C4AB7E}" type="datetime1">
              <a:rPr lang="en-IN" smtClean="0"/>
              <a:t>29-04-2026</a:t>
            </a:fld>
            <a:endParaRPr lang="en-IN"/>
          </a:p>
        </p:txBody>
      </p:sp>
      <p:sp>
        <p:nvSpPr>
          <p:cNvPr id="8" name="Footer Placeholder 7">
            <a:extLst>
              <a:ext uri="{FF2B5EF4-FFF2-40B4-BE49-F238E27FC236}">
                <a16:creationId xmlns:a16="http://schemas.microsoft.com/office/drawing/2014/main" id="{2A798E37-BC4E-E44D-BEC5-879281FE6515}"/>
              </a:ext>
            </a:extLst>
          </p:cNvPr>
          <p:cNvSpPr>
            <a:spLocks noGrp="1"/>
          </p:cNvSpPr>
          <p:nvPr>
            <p:ph type="ftr" sz="quarter" idx="11"/>
          </p:nvPr>
        </p:nvSpPr>
        <p:spPr/>
        <p:txBody>
          <a:bodyPr/>
          <a:lstStyle/>
          <a:p>
            <a:endParaRPr lang="en-IN"/>
          </a:p>
        </p:txBody>
      </p:sp>
      <p:sp>
        <p:nvSpPr>
          <p:cNvPr id="9" name="Slide Number Placeholder 8">
            <a:extLst>
              <a:ext uri="{FF2B5EF4-FFF2-40B4-BE49-F238E27FC236}">
                <a16:creationId xmlns:a16="http://schemas.microsoft.com/office/drawing/2014/main" id="{5E5DC703-C03E-9326-6975-9D24FF1C84DF}"/>
              </a:ext>
            </a:extLst>
          </p:cNvPr>
          <p:cNvSpPr>
            <a:spLocks noGrp="1"/>
          </p:cNvSpPr>
          <p:nvPr>
            <p:ph type="sldNum" sz="quarter" idx="12"/>
          </p:nvPr>
        </p:nvSpPr>
        <p:spPr/>
        <p:txBody>
          <a:bodyPr/>
          <a:lstStyle/>
          <a:p>
            <a:fld id="{29FACB4C-C362-4046-86B4-4C56FF9F32A5}" type="slidenum">
              <a:rPr lang="en-IN" smtClean="0"/>
              <a:t>‹#›</a:t>
            </a:fld>
            <a:endParaRPr lang="en-IN"/>
          </a:p>
        </p:txBody>
      </p:sp>
    </p:spTree>
    <p:extLst>
      <p:ext uri="{BB962C8B-B14F-4D97-AF65-F5344CB8AC3E}">
        <p14:creationId xmlns:p14="http://schemas.microsoft.com/office/powerpoint/2010/main" val="1969894908"/>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A9BB250-EBBF-DAC3-1B4D-5593485D83A3}"/>
              </a:ext>
            </a:extLst>
          </p:cNvPr>
          <p:cNvSpPr>
            <a:spLocks noGrp="1"/>
          </p:cNvSpPr>
          <p:nvPr>
            <p:ph type="title"/>
          </p:nvPr>
        </p:nvSpPr>
        <p:spPr/>
        <p:txBody>
          <a:bodyPr/>
          <a:lstStyle/>
          <a:p>
            <a:r>
              <a:rPr lang="en-US"/>
              <a:t>Click to edit Master title style</a:t>
            </a:r>
            <a:endParaRPr lang="en-IN"/>
          </a:p>
        </p:txBody>
      </p:sp>
      <p:sp>
        <p:nvSpPr>
          <p:cNvPr id="3" name="Date Placeholder 2">
            <a:extLst>
              <a:ext uri="{FF2B5EF4-FFF2-40B4-BE49-F238E27FC236}">
                <a16:creationId xmlns:a16="http://schemas.microsoft.com/office/drawing/2014/main" id="{D8336EBC-84BB-9636-9A51-571EF47A7BCA}"/>
              </a:ext>
            </a:extLst>
          </p:cNvPr>
          <p:cNvSpPr>
            <a:spLocks noGrp="1"/>
          </p:cNvSpPr>
          <p:nvPr>
            <p:ph type="dt" sz="half" idx="10"/>
          </p:nvPr>
        </p:nvSpPr>
        <p:spPr/>
        <p:txBody>
          <a:bodyPr/>
          <a:lstStyle/>
          <a:p>
            <a:fld id="{A51D9472-999C-4364-ACF2-72C19A30F9D8}" type="datetime1">
              <a:rPr lang="en-IN" smtClean="0"/>
              <a:t>29-04-2026</a:t>
            </a:fld>
            <a:endParaRPr lang="en-IN"/>
          </a:p>
        </p:txBody>
      </p:sp>
      <p:sp>
        <p:nvSpPr>
          <p:cNvPr id="4" name="Footer Placeholder 3">
            <a:extLst>
              <a:ext uri="{FF2B5EF4-FFF2-40B4-BE49-F238E27FC236}">
                <a16:creationId xmlns:a16="http://schemas.microsoft.com/office/drawing/2014/main" id="{DFC4C8FC-5957-8B44-4C12-46443BE21F50}"/>
              </a:ext>
            </a:extLst>
          </p:cNvPr>
          <p:cNvSpPr>
            <a:spLocks noGrp="1"/>
          </p:cNvSpPr>
          <p:nvPr>
            <p:ph type="ftr" sz="quarter" idx="11"/>
          </p:nvPr>
        </p:nvSpPr>
        <p:spPr/>
        <p:txBody>
          <a:bodyPr/>
          <a:lstStyle/>
          <a:p>
            <a:endParaRPr lang="en-IN"/>
          </a:p>
        </p:txBody>
      </p:sp>
      <p:sp>
        <p:nvSpPr>
          <p:cNvPr id="5" name="Slide Number Placeholder 4">
            <a:extLst>
              <a:ext uri="{FF2B5EF4-FFF2-40B4-BE49-F238E27FC236}">
                <a16:creationId xmlns:a16="http://schemas.microsoft.com/office/drawing/2014/main" id="{47CEF020-AC59-B6FE-7817-5EB83AC98228}"/>
              </a:ext>
            </a:extLst>
          </p:cNvPr>
          <p:cNvSpPr>
            <a:spLocks noGrp="1"/>
          </p:cNvSpPr>
          <p:nvPr>
            <p:ph type="sldNum" sz="quarter" idx="12"/>
          </p:nvPr>
        </p:nvSpPr>
        <p:spPr/>
        <p:txBody>
          <a:bodyPr/>
          <a:lstStyle/>
          <a:p>
            <a:fld id="{29FACB4C-C362-4046-86B4-4C56FF9F32A5}" type="slidenum">
              <a:rPr lang="en-IN" smtClean="0"/>
              <a:t>‹#›</a:t>
            </a:fld>
            <a:endParaRPr lang="en-IN"/>
          </a:p>
        </p:txBody>
      </p:sp>
    </p:spTree>
    <p:extLst>
      <p:ext uri="{BB962C8B-B14F-4D97-AF65-F5344CB8AC3E}">
        <p14:creationId xmlns:p14="http://schemas.microsoft.com/office/powerpoint/2010/main" val="212203033"/>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a:extLst>
              <a:ext uri="{FF2B5EF4-FFF2-40B4-BE49-F238E27FC236}">
                <a16:creationId xmlns:a16="http://schemas.microsoft.com/office/drawing/2014/main" id="{75B952E6-F2A2-A3A3-4B88-C44D4632B26A}"/>
              </a:ext>
            </a:extLst>
          </p:cNvPr>
          <p:cNvSpPr>
            <a:spLocks noGrp="1"/>
          </p:cNvSpPr>
          <p:nvPr>
            <p:ph type="dt" sz="half" idx="10"/>
          </p:nvPr>
        </p:nvSpPr>
        <p:spPr/>
        <p:txBody>
          <a:bodyPr/>
          <a:lstStyle/>
          <a:p>
            <a:fld id="{A0F5201F-78CD-4C74-BA2A-95D4729C05B4}" type="datetime1">
              <a:rPr lang="en-IN" smtClean="0"/>
              <a:t>29-04-2026</a:t>
            </a:fld>
            <a:endParaRPr lang="en-IN"/>
          </a:p>
        </p:txBody>
      </p:sp>
      <p:sp>
        <p:nvSpPr>
          <p:cNvPr id="3" name="Footer Placeholder 2">
            <a:extLst>
              <a:ext uri="{FF2B5EF4-FFF2-40B4-BE49-F238E27FC236}">
                <a16:creationId xmlns:a16="http://schemas.microsoft.com/office/drawing/2014/main" id="{C9CC4F60-F9B1-973C-4E27-3EB91E9269FC}"/>
              </a:ext>
            </a:extLst>
          </p:cNvPr>
          <p:cNvSpPr>
            <a:spLocks noGrp="1"/>
          </p:cNvSpPr>
          <p:nvPr>
            <p:ph type="ftr" sz="quarter" idx="11"/>
          </p:nvPr>
        </p:nvSpPr>
        <p:spPr/>
        <p:txBody>
          <a:bodyPr/>
          <a:lstStyle/>
          <a:p>
            <a:endParaRPr lang="en-IN"/>
          </a:p>
        </p:txBody>
      </p:sp>
      <p:sp>
        <p:nvSpPr>
          <p:cNvPr id="4" name="Slide Number Placeholder 3">
            <a:extLst>
              <a:ext uri="{FF2B5EF4-FFF2-40B4-BE49-F238E27FC236}">
                <a16:creationId xmlns:a16="http://schemas.microsoft.com/office/drawing/2014/main" id="{C891ECEE-AC06-670A-BD5E-CDBB48D62C2B}"/>
              </a:ext>
            </a:extLst>
          </p:cNvPr>
          <p:cNvSpPr>
            <a:spLocks noGrp="1"/>
          </p:cNvSpPr>
          <p:nvPr>
            <p:ph type="sldNum" sz="quarter" idx="12"/>
          </p:nvPr>
        </p:nvSpPr>
        <p:spPr/>
        <p:txBody>
          <a:bodyPr/>
          <a:lstStyle/>
          <a:p>
            <a:fld id="{29FACB4C-C362-4046-86B4-4C56FF9F32A5}" type="slidenum">
              <a:rPr lang="en-IN" smtClean="0"/>
              <a:t>‹#›</a:t>
            </a:fld>
            <a:endParaRPr lang="en-IN"/>
          </a:p>
        </p:txBody>
      </p:sp>
    </p:spTree>
    <p:extLst>
      <p:ext uri="{BB962C8B-B14F-4D97-AF65-F5344CB8AC3E}">
        <p14:creationId xmlns:p14="http://schemas.microsoft.com/office/powerpoint/2010/main" val="498282453"/>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017A915-0726-F4A8-2544-B2B27C1876D5}"/>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Content Placeholder 2">
            <a:extLst>
              <a:ext uri="{FF2B5EF4-FFF2-40B4-BE49-F238E27FC236}">
                <a16:creationId xmlns:a16="http://schemas.microsoft.com/office/drawing/2014/main" id="{2E209E16-7186-4BAB-97A6-81F9D59D8AFC}"/>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Text Placeholder 3">
            <a:extLst>
              <a:ext uri="{FF2B5EF4-FFF2-40B4-BE49-F238E27FC236}">
                <a16:creationId xmlns:a16="http://schemas.microsoft.com/office/drawing/2014/main" id="{91665E96-2B01-12FC-2D5E-EBA6CB69FAD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6F0DA71F-C577-A2E3-FA50-8EB4B7D32072}"/>
              </a:ext>
            </a:extLst>
          </p:cNvPr>
          <p:cNvSpPr>
            <a:spLocks noGrp="1"/>
          </p:cNvSpPr>
          <p:nvPr>
            <p:ph type="dt" sz="half" idx="10"/>
          </p:nvPr>
        </p:nvSpPr>
        <p:spPr/>
        <p:txBody>
          <a:bodyPr/>
          <a:lstStyle/>
          <a:p>
            <a:fld id="{367FC9BC-46F2-44F0-AC89-8B399BC673DC}" type="datetime1">
              <a:rPr lang="en-IN" smtClean="0"/>
              <a:t>29-04-2026</a:t>
            </a:fld>
            <a:endParaRPr lang="en-IN"/>
          </a:p>
        </p:txBody>
      </p:sp>
      <p:sp>
        <p:nvSpPr>
          <p:cNvPr id="6" name="Footer Placeholder 5">
            <a:extLst>
              <a:ext uri="{FF2B5EF4-FFF2-40B4-BE49-F238E27FC236}">
                <a16:creationId xmlns:a16="http://schemas.microsoft.com/office/drawing/2014/main" id="{5C8E9C30-5AF2-46C6-13C2-FF40A54C739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BA3E559E-E09C-ECE9-FE0D-EE1019811CAF}"/>
              </a:ext>
            </a:extLst>
          </p:cNvPr>
          <p:cNvSpPr>
            <a:spLocks noGrp="1"/>
          </p:cNvSpPr>
          <p:nvPr>
            <p:ph type="sldNum" sz="quarter" idx="12"/>
          </p:nvPr>
        </p:nvSpPr>
        <p:spPr/>
        <p:txBody>
          <a:bodyPr/>
          <a:lstStyle/>
          <a:p>
            <a:fld id="{29FACB4C-C362-4046-86B4-4C56FF9F32A5}" type="slidenum">
              <a:rPr lang="en-IN" smtClean="0"/>
              <a:t>‹#›</a:t>
            </a:fld>
            <a:endParaRPr lang="en-IN"/>
          </a:p>
        </p:txBody>
      </p:sp>
    </p:spTree>
    <p:extLst>
      <p:ext uri="{BB962C8B-B14F-4D97-AF65-F5344CB8AC3E}">
        <p14:creationId xmlns:p14="http://schemas.microsoft.com/office/powerpoint/2010/main" val="40961368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790F03D-7F30-F551-3A63-90C724606111}"/>
              </a:ext>
            </a:extLst>
          </p:cNvPr>
          <p:cNvSpPr>
            <a:spLocks noGrp="1"/>
          </p:cNvSpPr>
          <p:nvPr>
            <p:ph type="title"/>
          </p:nvPr>
        </p:nvSpPr>
        <p:spPr>
          <a:xfrm>
            <a:off x="839788" y="457200"/>
            <a:ext cx="3932237" cy="1600200"/>
          </a:xfrm>
        </p:spPr>
        <p:txBody>
          <a:bodyPr anchor="b"/>
          <a:lstStyle>
            <a:lvl1pPr>
              <a:defRPr sz="3200"/>
            </a:lvl1pPr>
          </a:lstStyle>
          <a:p>
            <a:r>
              <a:rPr lang="en-US"/>
              <a:t>Click to edit Master title style</a:t>
            </a:r>
            <a:endParaRPr lang="en-IN"/>
          </a:p>
        </p:txBody>
      </p:sp>
      <p:sp>
        <p:nvSpPr>
          <p:cNvPr id="3" name="Picture Placeholder 2">
            <a:extLst>
              <a:ext uri="{FF2B5EF4-FFF2-40B4-BE49-F238E27FC236}">
                <a16:creationId xmlns:a16="http://schemas.microsoft.com/office/drawing/2014/main" id="{FAEF6152-BE6A-AADA-D3EE-A52EDBF593D7}"/>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IN"/>
          </a:p>
        </p:txBody>
      </p:sp>
      <p:sp>
        <p:nvSpPr>
          <p:cNvPr id="4" name="Text Placeholder 3">
            <a:extLst>
              <a:ext uri="{FF2B5EF4-FFF2-40B4-BE49-F238E27FC236}">
                <a16:creationId xmlns:a16="http://schemas.microsoft.com/office/drawing/2014/main" id="{D91C8FDD-68EF-DCBA-F8E6-64D502A1B353}"/>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en-US"/>
              <a:t>Click to edit Master text styles</a:t>
            </a:r>
          </a:p>
        </p:txBody>
      </p:sp>
      <p:sp>
        <p:nvSpPr>
          <p:cNvPr id="5" name="Date Placeholder 4">
            <a:extLst>
              <a:ext uri="{FF2B5EF4-FFF2-40B4-BE49-F238E27FC236}">
                <a16:creationId xmlns:a16="http://schemas.microsoft.com/office/drawing/2014/main" id="{8B5497E8-C12C-3168-F040-57F6BEA2FCE0}"/>
              </a:ext>
            </a:extLst>
          </p:cNvPr>
          <p:cNvSpPr>
            <a:spLocks noGrp="1"/>
          </p:cNvSpPr>
          <p:nvPr>
            <p:ph type="dt" sz="half" idx="10"/>
          </p:nvPr>
        </p:nvSpPr>
        <p:spPr/>
        <p:txBody>
          <a:bodyPr/>
          <a:lstStyle/>
          <a:p>
            <a:fld id="{CB81ABD3-3BA4-4CFA-B6B7-44E5A45431CF}" type="datetime1">
              <a:rPr lang="en-IN" smtClean="0"/>
              <a:t>29-04-2026</a:t>
            </a:fld>
            <a:endParaRPr lang="en-IN"/>
          </a:p>
        </p:txBody>
      </p:sp>
      <p:sp>
        <p:nvSpPr>
          <p:cNvPr id="6" name="Footer Placeholder 5">
            <a:extLst>
              <a:ext uri="{FF2B5EF4-FFF2-40B4-BE49-F238E27FC236}">
                <a16:creationId xmlns:a16="http://schemas.microsoft.com/office/drawing/2014/main" id="{CD95FF64-B3EF-04BB-BB1A-394F0FA20EE2}"/>
              </a:ext>
            </a:extLst>
          </p:cNvPr>
          <p:cNvSpPr>
            <a:spLocks noGrp="1"/>
          </p:cNvSpPr>
          <p:nvPr>
            <p:ph type="ftr" sz="quarter" idx="11"/>
          </p:nvPr>
        </p:nvSpPr>
        <p:spPr/>
        <p:txBody>
          <a:bodyPr/>
          <a:lstStyle/>
          <a:p>
            <a:endParaRPr lang="en-IN"/>
          </a:p>
        </p:txBody>
      </p:sp>
      <p:sp>
        <p:nvSpPr>
          <p:cNvPr id="7" name="Slide Number Placeholder 6">
            <a:extLst>
              <a:ext uri="{FF2B5EF4-FFF2-40B4-BE49-F238E27FC236}">
                <a16:creationId xmlns:a16="http://schemas.microsoft.com/office/drawing/2014/main" id="{391EF436-C595-67AD-983B-C711C57D234C}"/>
              </a:ext>
            </a:extLst>
          </p:cNvPr>
          <p:cNvSpPr>
            <a:spLocks noGrp="1"/>
          </p:cNvSpPr>
          <p:nvPr>
            <p:ph type="sldNum" sz="quarter" idx="12"/>
          </p:nvPr>
        </p:nvSpPr>
        <p:spPr/>
        <p:txBody>
          <a:bodyPr/>
          <a:lstStyle/>
          <a:p>
            <a:fld id="{29FACB4C-C362-4046-86B4-4C56FF9F32A5}" type="slidenum">
              <a:rPr lang="en-IN" smtClean="0"/>
              <a:t>‹#›</a:t>
            </a:fld>
            <a:endParaRPr lang="en-IN"/>
          </a:p>
        </p:txBody>
      </p:sp>
    </p:spTree>
    <p:extLst>
      <p:ext uri="{BB962C8B-B14F-4D97-AF65-F5344CB8AC3E}">
        <p14:creationId xmlns:p14="http://schemas.microsoft.com/office/powerpoint/2010/main" val="1586279017"/>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796ED06-1502-04DB-7B35-AC4F93249773}"/>
              </a:ext>
            </a:extLst>
          </p:cNvPr>
          <p:cNvSpPr>
            <a:spLocks noGrp="1"/>
          </p:cNvSpPr>
          <p:nvPr>
            <p:ph type="title"/>
          </p:nvPr>
        </p:nvSpPr>
        <p:spPr/>
        <p:txBody>
          <a:bodyPr/>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2B541806-8CA9-A09F-9B68-E2E2B78198AA}"/>
              </a:ext>
            </a:extLst>
          </p:cNvPr>
          <p:cNvSpPr>
            <a:spLocks noGrp="1"/>
          </p:cNvSpPr>
          <p:nvPr>
            <p:ph type="body" orient="vert" idx="1"/>
          </p:nvPr>
        </p:nvSpPr>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F6617344-37A4-4A1C-8DFB-A160464BD3AE}"/>
              </a:ext>
            </a:extLst>
          </p:cNvPr>
          <p:cNvSpPr>
            <a:spLocks noGrp="1"/>
          </p:cNvSpPr>
          <p:nvPr>
            <p:ph type="dt" sz="half" idx="10"/>
          </p:nvPr>
        </p:nvSpPr>
        <p:spPr/>
        <p:txBody>
          <a:bodyPr/>
          <a:lstStyle/>
          <a:p>
            <a:fld id="{40F28C60-0137-4A73-84EC-2A6687546187}" type="datetime1">
              <a:rPr lang="en-IN" smtClean="0"/>
              <a:t>29-04-2026</a:t>
            </a:fld>
            <a:endParaRPr lang="en-IN"/>
          </a:p>
        </p:txBody>
      </p:sp>
      <p:sp>
        <p:nvSpPr>
          <p:cNvPr id="5" name="Footer Placeholder 4">
            <a:extLst>
              <a:ext uri="{FF2B5EF4-FFF2-40B4-BE49-F238E27FC236}">
                <a16:creationId xmlns:a16="http://schemas.microsoft.com/office/drawing/2014/main" id="{E2B2CAFA-791B-FC31-EB1F-09100CE1AFF1}"/>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6F117279-A819-58DB-D935-9F0AF1D61E57}"/>
              </a:ext>
            </a:extLst>
          </p:cNvPr>
          <p:cNvSpPr>
            <a:spLocks noGrp="1"/>
          </p:cNvSpPr>
          <p:nvPr>
            <p:ph type="sldNum" sz="quarter" idx="12"/>
          </p:nvPr>
        </p:nvSpPr>
        <p:spPr/>
        <p:txBody>
          <a:bodyPr/>
          <a:lstStyle/>
          <a:p>
            <a:fld id="{29FACB4C-C362-4046-86B4-4C56FF9F32A5}" type="slidenum">
              <a:rPr lang="en-IN" smtClean="0"/>
              <a:t>‹#›</a:t>
            </a:fld>
            <a:endParaRPr lang="en-IN"/>
          </a:p>
        </p:txBody>
      </p:sp>
    </p:spTree>
    <p:extLst>
      <p:ext uri="{BB962C8B-B14F-4D97-AF65-F5344CB8AC3E}">
        <p14:creationId xmlns:p14="http://schemas.microsoft.com/office/powerpoint/2010/main" val="2170272875"/>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a:extLst>
              <a:ext uri="{FF2B5EF4-FFF2-40B4-BE49-F238E27FC236}">
                <a16:creationId xmlns:a16="http://schemas.microsoft.com/office/drawing/2014/main" id="{81621500-EBCB-793D-B1CB-5481769A201C}"/>
              </a:ext>
            </a:extLst>
          </p:cNvPr>
          <p:cNvSpPr>
            <a:spLocks noGrp="1"/>
          </p:cNvSpPr>
          <p:nvPr>
            <p:ph type="title" orient="vert"/>
          </p:nvPr>
        </p:nvSpPr>
        <p:spPr>
          <a:xfrm>
            <a:off x="8724900" y="365125"/>
            <a:ext cx="2628900" cy="5811838"/>
          </a:xfrm>
        </p:spPr>
        <p:txBody>
          <a:bodyPr vert="eaVert"/>
          <a:lstStyle/>
          <a:p>
            <a:r>
              <a:rPr lang="en-US"/>
              <a:t>Click to edit Master title style</a:t>
            </a:r>
            <a:endParaRPr lang="en-IN"/>
          </a:p>
        </p:txBody>
      </p:sp>
      <p:sp>
        <p:nvSpPr>
          <p:cNvPr id="3" name="Vertical Text Placeholder 2">
            <a:extLst>
              <a:ext uri="{FF2B5EF4-FFF2-40B4-BE49-F238E27FC236}">
                <a16:creationId xmlns:a16="http://schemas.microsoft.com/office/drawing/2014/main" id="{54773204-936A-9F36-6CA3-B4B9620D426A}"/>
              </a:ext>
            </a:extLst>
          </p:cNvPr>
          <p:cNvSpPr>
            <a:spLocks noGrp="1"/>
          </p:cNvSpPr>
          <p:nvPr>
            <p:ph type="body" orient="vert" idx="1"/>
          </p:nvPr>
        </p:nvSpPr>
        <p:spPr>
          <a:xfrm>
            <a:off x="838200" y="365125"/>
            <a:ext cx="7734300" cy="5811838"/>
          </a:xfrm>
        </p:spPr>
        <p:txBody>
          <a:bodyPr vert="eaVert"/>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4279C81B-4828-AA57-9388-3F677CD1EE3D}"/>
              </a:ext>
            </a:extLst>
          </p:cNvPr>
          <p:cNvSpPr>
            <a:spLocks noGrp="1"/>
          </p:cNvSpPr>
          <p:nvPr>
            <p:ph type="dt" sz="half" idx="10"/>
          </p:nvPr>
        </p:nvSpPr>
        <p:spPr/>
        <p:txBody>
          <a:bodyPr/>
          <a:lstStyle/>
          <a:p>
            <a:fld id="{1DC4AD6E-9154-47F1-B31D-AC3382AFC6DB}" type="datetime1">
              <a:rPr lang="en-IN" smtClean="0"/>
              <a:t>29-04-2026</a:t>
            </a:fld>
            <a:endParaRPr lang="en-IN"/>
          </a:p>
        </p:txBody>
      </p:sp>
      <p:sp>
        <p:nvSpPr>
          <p:cNvPr id="5" name="Footer Placeholder 4">
            <a:extLst>
              <a:ext uri="{FF2B5EF4-FFF2-40B4-BE49-F238E27FC236}">
                <a16:creationId xmlns:a16="http://schemas.microsoft.com/office/drawing/2014/main" id="{BB8B35B2-0903-AC1B-324B-673119733A53}"/>
              </a:ext>
            </a:extLst>
          </p:cNvPr>
          <p:cNvSpPr>
            <a:spLocks noGrp="1"/>
          </p:cNvSpPr>
          <p:nvPr>
            <p:ph type="ftr" sz="quarter" idx="11"/>
          </p:nvPr>
        </p:nvSpPr>
        <p:spPr/>
        <p:txBody>
          <a:bodyPr/>
          <a:lstStyle/>
          <a:p>
            <a:endParaRPr lang="en-IN"/>
          </a:p>
        </p:txBody>
      </p:sp>
      <p:sp>
        <p:nvSpPr>
          <p:cNvPr id="6" name="Slide Number Placeholder 5">
            <a:extLst>
              <a:ext uri="{FF2B5EF4-FFF2-40B4-BE49-F238E27FC236}">
                <a16:creationId xmlns:a16="http://schemas.microsoft.com/office/drawing/2014/main" id="{4689F2EF-848F-43AC-F7B5-A5A69FD5C8FD}"/>
              </a:ext>
            </a:extLst>
          </p:cNvPr>
          <p:cNvSpPr>
            <a:spLocks noGrp="1"/>
          </p:cNvSpPr>
          <p:nvPr>
            <p:ph type="sldNum" sz="quarter" idx="12"/>
          </p:nvPr>
        </p:nvSpPr>
        <p:spPr/>
        <p:txBody>
          <a:bodyPr/>
          <a:lstStyle/>
          <a:p>
            <a:fld id="{29FACB4C-C362-4046-86B4-4C56FF9F32A5}" type="slidenum">
              <a:rPr lang="en-IN" smtClean="0"/>
              <a:t>‹#›</a:t>
            </a:fld>
            <a:endParaRPr lang="en-IN"/>
          </a:p>
        </p:txBody>
      </p:sp>
    </p:spTree>
    <p:extLst>
      <p:ext uri="{BB962C8B-B14F-4D97-AF65-F5344CB8AC3E}">
        <p14:creationId xmlns:p14="http://schemas.microsoft.com/office/powerpoint/2010/main" val="1632241411"/>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a:extLst>
              <a:ext uri="{FF2B5EF4-FFF2-40B4-BE49-F238E27FC236}">
                <a16:creationId xmlns:a16="http://schemas.microsoft.com/office/drawing/2014/main" id="{28AFC302-0C11-2ABF-031F-4A40599378D6}"/>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en-US"/>
              <a:t>Click to edit Master title style</a:t>
            </a:r>
            <a:endParaRPr lang="en-IN"/>
          </a:p>
        </p:txBody>
      </p:sp>
      <p:sp>
        <p:nvSpPr>
          <p:cNvPr id="3" name="Text Placeholder 2">
            <a:extLst>
              <a:ext uri="{FF2B5EF4-FFF2-40B4-BE49-F238E27FC236}">
                <a16:creationId xmlns:a16="http://schemas.microsoft.com/office/drawing/2014/main" id="{33CD1C1A-86CC-E7AC-1382-EF27773F3036}"/>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en-US"/>
              <a:t>Click to edit Master text styles</a:t>
            </a:r>
          </a:p>
          <a:p>
            <a:pPr lvl="1"/>
            <a:r>
              <a:rPr lang="en-US"/>
              <a:t>Second level</a:t>
            </a:r>
          </a:p>
          <a:p>
            <a:pPr lvl="2"/>
            <a:r>
              <a:rPr lang="en-US"/>
              <a:t>Third level</a:t>
            </a:r>
          </a:p>
          <a:p>
            <a:pPr lvl="3"/>
            <a:r>
              <a:rPr lang="en-US"/>
              <a:t>Fourth level</a:t>
            </a:r>
          </a:p>
          <a:p>
            <a:pPr lvl="4"/>
            <a:r>
              <a:rPr lang="en-US"/>
              <a:t>Fifth level</a:t>
            </a:r>
            <a:endParaRPr lang="en-IN"/>
          </a:p>
        </p:txBody>
      </p:sp>
      <p:sp>
        <p:nvSpPr>
          <p:cNvPr id="4" name="Date Placeholder 3">
            <a:extLst>
              <a:ext uri="{FF2B5EF4-FFF2-40B4-BE49-F238E27FC236}">
                <a16:creationId xmlns:a16="http://schemas.microsoft.com/office/drawing/2014/main" id="{D6D640E2-CCD2-3574-9962-E8774FEE56F8}"/>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D51824B3-94EC-4CEA-8889-DFF294E417AF}" type="datetime1">
              <a:rPr lang="en-IN" smtClean="0"/>
              <a:t>29-04-2026</a:t>
            </a:fld>
            <a:endParaRPr lang="en-IN"/>
          </a:p>
        </p:txBody>
      </p:sp>
      <p:sp>
        <p:nvSpPr>
          <p:cNvPr id="5" name="Footer Placeholder 4">
            <a:extLst>
              <a:ext uri="{FF2B5EF4-FFF2-40B4-BE49-F238E27FC236}">
                <a16:creationId xmlns:a16="http://schemas.microsoft.com/office/drawing/2014/main" id="{F92D0D05-40A3-604E-6176-367F5E329CBB}"/>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IN"/>
          </a:p>
        </p:txBody>
      </p:sp>
      <p:sp>
        <p:nvSpPr>
          <p:cNvPr id="6" name="Slide Number Placeholder 5">
            <a:extLst>
              <a:ext uri="{FF2B5EF4-FFF2-40B4-BE49-F238E27FC236}">
                <a16:creationId xmlns:a16="http://schemas.microsoft.com/office/drawing/2014/main" id="{31F684DA-2AEF-51C0-217A-B3BEE8BC5A17}"/>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29FACB4C-C362-4046-86B4-4C56FF9F32A5}" type="slidenum">
              <a:rPr lang="en-IN" smtClean="0"/>
              <a:t>‹#›</a:t>
            </a:fld>
            <a:endParaRPr lang="en-IN"/>
          </a:p>
        </p:txBody>
      </p:sp>
    </p:spTree>
    <p:extLst>
      <p:ext uri="{BB962C8B-B14F-4D97-AF65-F5344CB8AC3E}">
        <p14:creationId xmlns:p14="http://schemas.microsoft.com/office/powerpoint/2010/main" val="312832643"/>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image" Target="../media/image1.jpeg"/><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0.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hyperlink" Target="http://(victim/" TargetMode="External"/><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2.pn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slideLayout" Target="../slideLayouts/slideLayout2.xml"/><Relationship Id="rId5" Type="http://schemas.openxmlformats.org/officeDocument/2006/relationships/image" Target="../media/image6.png"/><Relationship Id="rId4" Type="http://schemas.openxmlformats.org/officeDocument/2006/relationships/image" Target="../media/image5.png"/></Relationships>
</file>

<file path=ppt/slides/_rels/slide20.xml.rels><?xml version="1.0" encoding="UTF-8" standalone="yes"?>
<Relationships xmlns="http://schemas.openxmlformats.org/package/2006/relationships"><Relationship Id="rId3" Type="http://schemas.openxmlformats.org/officeDocument/2006/relationships/image" Target="../media/image8.png"/><Relationship Id="rId2" Type="http://schemas.openxmlformats.org/officeDocument/2006/relationships/image" Target="../media/image7.png"/><Relationship Id="rId1" Type="http://schemas.openxmlformats.org/officeDocument/2006/relationships/slideLayout" Target="../slideLayouts/slideLayout2.xml"/><Relationship Id="rId5" Type="http://schemas.openxmlformats.org/officeDocument/2006/relationships/image" Target="../media/image10.png"/><Relationship Id="rId4" Type="http://schemas.openxmlformats.org/officeDocument/2006/relationships/image" Target="../media/image9.png"/></Relationships>
</file>

<file path=ppt/slides/_rels/slide21.xml.rels><?xml version="1.0" encoding="UTF-8" standalone="yes"?>
<Relationships xmlns="http://schemas.openxmlformats.org/package/2006/relationships"><Relationship Id="rId3" Type="http://schemas.openxmlformats.org/officeDocument/2006/relationships/image" Target="../media/image12.png"/><Relationship Id="rId2" Type="http://schemas.openxmlformats.org/officeDocument/2006/relationships/image" Target="../media/image11.png"/><Relationship Id="rId1" Type="http://schemas.openxmlformats.org/officeDocument/2006/relationships/slideLayout" Target="../slideLayouts/slideLayout2.xml"/><Relationship Id="rId4" Type="http://schemas.openxmlformats.org/officeDocument/2006/relationships/image" Target="../media/image13.png"/></Relationships>
</file>

<file path=ppt/slides/_rels/slide22.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4" name="Title 3">
            <a:extLst>
              <a:ext uri="{FF2B5EF4-FFF2-40B4-BE49-F238E27FC236}">
                <a16:creationId xmlns:a16="http://schemas.microsoft.com/office/drawing/2014/main" id="{4AB8364E-3DDA-9FBA-7039-258978412D6F}"/>
              </a:ext>
            </a:extLst>
          </p:cNvPr>
          <p:cNvSpPr>
            <a:spLocks noGrp="1"/>
          </p:cNvSpPr>
          <p:nvPr>
            <p:ph type="title"/>
          </p:nvPr>
        </p:nvSpPr>
        <p:spPr>
          <a:xfrm>
            <a:off x="0" y="1"/>
            <a:ext cx="12191998" cy="6858000"/>
          </a:xfrm>
        </p:spPr>
        <p:txBody>
          <a:bodyPr>
            <a:normAutofit fontScale="90000"/>
          </a:bodyPr>
          <a:lstStyle/>
          <a:p>
            <a:pPr algn="ctr"/>
            <a:br>
              <a:rPr lang="en-IN" sz="3200"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br>
              <a:rPr lang="en-IN" sz="3200" dirty="0">
                <a:latin typeface="Times New Roman" panose="02020603050405020304" pitchFamily="18" charset="0"/>
                <a:cs typeface="Times New Roman" panose="02020603050405020304" pitchFamily="18" charset="0"/>
              </a:rPr>
            </a:br>
            <a:r>
              <a:rPr lang="en-IN" sz="3200" dirty="0">
                <a:latin typeface="Times New Roman" panose="02020603050405020304" pitchFamily="18" charset="0"/>
                <a:cs typeface="Times New Roman" panose="02020603050405020304" pitchFamily="18" charset="0"/>
              </a:rPr>
              <a:t>Dept. of Cyber Forensics &amp; Information Security</a:t>
            </a:r>
            <a:br>
              <a:rPr lang="en-IN" sz="3200" dirty="0">
                <a:latin typeface="Times New Roman" panose="02020603050405020304" pitchFamily="18" charset="0"/>
                <a:cs typeface="Times New Roman" panose="02020603050405020304" pitchFamily="18" charset="0"/>
              </a:rPr>
            </a:br>
            <a:br>
              <a:rPr lang="en-IN" sz="3200" u="sng" dirty="0">
                <a:solidFill>
                  <a:schemeClr val="accent1"/>
                </a:solidFill>
                <a:latin typeface="Times New Roman" panose="02020603050405020304" pitchFamily="18" charset="0"/>
                <a:cs typeface="Times New Roman" panose="02020603050405020304" pitchFamily="18" charset="0"/>
              </a:rPr>
            </a:br>
            <a:r>
              <a:rPr lang="en-IN" sz="3200" b="1" u="sng" dirty="0">
                <a:solidFill>
                  <a:schemeClr val="accent1"/>
                </a:solidFill>
                <a:latin typeface="Times New Roman" panose="02020603050405020304" pitchFamily="18" charset="0"/>
                <a:cs typeface="Times New Roman" panose="02020603050405020304" pitchFamily="18" charset="0"/>
              </a:rPr>
              <a:t>MINI</a:t>
            </a:r>
            <a:r>
              <a:rPr lang="en-IN" sz="3200" u="sng" dirty="0">
                <a:solidFill>
                  <a:schemeClr val="accent1"/>
                </a:solidFill>
                <a:latin typeface="Times New Roman" panose="02020603050405020304" pitchFamily="18" charset="0"/>
                <a:cs typeface="Times New Roman" panose="02020603050405020304" pitchFamily="18" charset="0"/>
              </a:rPr>
              <a:t> </a:t>
            </a:r>
            <a:r>
              <a:rPr lang="en-IN" sz="3200" b="1" u="sng" dirty="0">
                <a:solidFill>
                  <a:schemeClr val="accent1"/>
                </a:solidFill>
                <a:latin typeface="Times New Roman" panose="02020603050405020304" pitchFamily="18" charset="0"/>
                <a:cs typeface="Times New Roman" panose="02020603050405020304" pitchFamily="18" charset="0"/>
              </a:rPr>
              <a:t>PROJECT REVIEW</a:t>
            </a:r>
            <a:br>
              <a:rPr lang="en-IN" sz="3200" b="1" u="sng" dirty="0">
                <a:solidFill>
                  <a:schemeClr val="accent1"/>
                </a:solidFill>
                <a:latin typeface="Times New Roman" panose="02020603050405020304" pitchFamily="18" charset="0"/>
                <a:cs typeface="Times New Roman" panose="02020603050405020304" pitchFamily="18" charset="0"/>
              </a:rPr>
            </a:br>
            <a:br>
              <a:rPr lang="en-IN" sz="3200" b="1" u="sng" dirty="0">
                <a:solidFill>
                  <a:schemeClr val="accent1"/>
                </a:solidFill>
                <a:latin typeface="Times New Roman" panose="02020603050405020304" pitchFamily="18" charset="0"/>
                <a:cs typeface="Times New Roman" panose="02020603050405020304" pitchFamily="18" charset="0"/>
              </a:rPr>
            </a:br>
            <a:r>
              <a:rPr lang="en-IN" sz="3200" b="1" dirty="0">
                <a:solidFill>
                  <a:srgbClr val="FF0000"/>
                </a:solidFill>
                <a:latin typeface="Times New Roman" panose="02020603050405020304" pitchFamily="18" charset="0"/>
                <a:cs typeface="Times New Roman" panose="02020603050405020304" pitchFamily="18" charset="0"/>
              </a:rPr>
              <a:t>TITLE: </a:t>
            </a:r>
            <a:r>
              <a:rPr lang="en-US" sz="3200" dirty="0">
                <a:latin typeface="Times New Roman" panose="02020603050405020304" pitchFamily="18" charset="0"/>
                <a:cs typeface="Times New Roman" panose="02020603050405020304" pitchFamily="18" charset="0"/>
              </a:rPr>
              <a:t>An Experimental Analysis of DDoS Attack Detection and Response</a:t>
            </a:r>
            <a:br>
              <a:rPr lang="en-US" sz="3200" b="1" dirty="0">
                <a:solidFill>
                  <a:srgbClr val="92D050"/>
                </a:solidFill>
                <a:latin typeface="Times New Roman" panose="02020603050405020304" pitchFamily="18" charset="0"/>
                <a:cs typeface="Times New Roman" panose="02020603050405020304" pitchFamily="18" charset="0"/>
              </a:rPr>
            </a:br>
            <a:br>
              <a:rPr lang="en-US" sz="3200" b="1" dirty="0">
                <a:solidFill>
                  <a:srgbClr val="92D050"/>
                </a:solidFill>
                <a:latin typeface="Times New Roman" panose="02020603050405020304" pitchFamily="18" charset="0"/>
                <a:cs typeface="Times New Roman" panose="02020603050405020304" pitchFamily="18" charset="0"/>
              </a:rPr>
            </a:br>
            <a:r>
              <a:rPr lang="en-US" sz="3200" b="1" dirty="0">
                <a:solidFill>
                  <a:srgbClr val="002060"/>
                </a:solidFill>
                <a:latin typeface="Times New Roman" panose="02020603050405020304" pitchFamily="18" charset="0"/>
                <a:cs typeface="Times New Roman" panose="02020603050405020304" pitchFamily="18" charset="0"/>
              </a:rPr>
              <a:t>Supervisor: Dr. Gaurav Sharma</a:t>
            </a:r>
            <a:br>
              <a:rPr lang="en-US" sz="3200" b="1" dirty="0">
                <a:solidFill>
                  <a:srgbClr val="92D050"/>
                </a:solidFill>
                <a:latin typeface="Times New Roman" panose="02020603050405020304" pitchFamily="18" charset="0"/>
                <a:cs typeface="Times New Roman" panose="02020603050405020304" pitchFamily="18" charset="0"/>
              </a:rPr>
            </a:br>
            <a:br>
              <a:rPr lang="en-US" sz="3200" b="1" dirty="0">
                <a:solidFill>
                  <a:srgbClr val="92D050"/>
                </a:solidFill>
                <a:latin typeface="Times New Roman" panose="02020603050405020304" pitchFamily="18" charset="0"/>
                <a:cs typeface="Times New Roman" panose="02020603050405020304" pitchFamily="18" charset="0"/>
              </a:rPr>
            </a:br>
            <a:r>
              <a:rPr lang="en-US" sz="3200" b="1" dirty="0">
                <a:solidFill>
                  <a:schemeClr val="accent2">
                    <a:lumMod val="75000"/>
                  </a:schemeClr>
                </a:solidFill>
                <a:latin typeface="Times New Roman" panose="02020603050405020304" pitchFamily="18" charset="0"/>
                <a:cs typeface="Times New Roman" panose="02020603050405020304" pitchFamily="18" charset="0"/>
              </a:rPr>
              <a:t>Presented By: </a:t>
            </a:r>
            <a:r>
              <a:rPr lang="en-US" sz="3200" b="1" dirty="0" err="1">
                <a:solidFill>
                  <a:schemeClr val="accent2">
                    <a:lumMod val="75000"/>
                  </a:schemeClr>
                </a:solidFill>
                <a:latin typeface="Times New Roman" panose="02020603050405020304" pitchFamily="18" charset="0"/>
                <a:cs typeface="Times New Roman" panose="02020603050405020304" pitchFamily="18" charset="0"/>
              </a:rPr>
              <a:t>Tadikamalla</a:t>
            </a:r>
            <a:r>
              <a:rPr lang="en-US" sz="3200" b="1" dirty="0">
                <a:solidFill>
                  <a:schemeClr val="accent2">
                    <a:lumMod val="75000"/>
                  </a:schemeClr>
                </a:solidFill>
                <a:latin typeface="Times New Roman" panose="02020603050405020304" pitchFamily="18" charset="0"/>
                <a:cs typeface="Times New Roman" panose="02020603050405020304" pitchFamily="18" charset="0"/>
              </a:rPr>
              <a:t> Revanth Mahajan   (NDU202500358)</a:t>
            </a:r>
            <a:endParaRPr lang="en-IN" sz="3200" b="1" dirty="0">
              <a:solidFill>
                <a:schemeClr val="accent2">
                  <a:lumMod val="75000"/>
                </a:schemeClr>
              </a:solidFill>
              <a:latin typeface="Times New Roman" panose="02020603050405020304" pitchFamily="18" charset="0"/>
              <a:cs typeface="Times New Roman" panose="02020603050405020304" pitchFamily="18" charset="0"/>
            </a:endParaRPr>
          </a:p>
        </p:txBody>
      </p:sp>
      <p:pic>
        <p:nvPicPr>
          <p:cNvPr id="15" name="Content Placeholder 14">
            <a:extLst>
              <a:ext uri="{FF2B5EF4-FFF2-40B4-BE49-F238E27FC236}">
                <a16:creationId xmlns:a16="http://schemas.microsoft.com/office/drawing/2014/main" id="{02989825-D2B6-3F76-9191-268068DDB1E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0"/>
            <a:ext cx="12191998" cy="3223967"/>
          </a:xfrm>
          <a:prstGeom prst="rect">
            <a:avLst/>
          </a:prstGeom>
        </p:spPr>
      </p:pic>
      <p:sp>
        <p:nvSpPr>
          <p:cNvPr id="18" name="Slide Number Placeholder 17">
            <a:extLst>
              <a:ext uri="{FF2B5EF4-FFF2-40B4-BE49-F238E27FC236}">
                <a16:creationId xmlns:a16="http://schemas.microsoft.com/office/drawing/2014/main" id="{B5F9B88A-B547-C559-60E5-709F4534451B}"/>
              </a:ext>
            </a:extLst>
          </p:cNvPr>
          <p:cNvSpPr>
            <a:spLocks noGrp="1"/>
          </p:cNvSpPr>
          <p:nvPr>
            <p:ph type="sldNum" sz="quarter" idx="12"/>
          </p:nvPr>
        </p:nvSpPr>
        <p:spPr/>
        <p:txBody>
          <a:bodyPr/>
          <a:lstStyle/>
          <a:p>
            <a:fld id="{29FACB4C-C362-4046-86B4-4C56FF9F32A5}" type="slidenum">
              <a:rPr lang="en-IN" smtClean="0"/>
              <a:t>1</a:t>
            </a:fld>
            <a:endParaRPr lang="en-IN"/>
          </a:p>
        </p:txBody>
      </p:sp>
    </p:spTree>
    <p:extLst>
      <p:ext uri="{BB962C8B-B14F-4D97-AF65-F5344CB8AC3E}">
        <p14:creationId xmlns:p14="http://schemas.microsoft.com/office/powerpoint/2010/main" val="3019698416"/>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0CDD25A-9402-DAC2-69BC-0E2B850D8D39}"/>
              </a:ext>
            </a:extLst>
          </p:cNvPr>
          <p:cNvSpPr>
            <a:spLocks noGrp="1"/>
          </p:cNvSpPr>
          <p:nvPr>
            <p:ph type="title"/>
          </p:nvPr>
        </p:nvSpPr>
        <p:spPr>
          <a:xfrm>
            <a:off x="838200" y="0"/>
            <a:ext cx="10515600" cy="1363580"/>
          </a:xfrm>
        </p:spPr>
        <p:txBody>
          <a:bodyPr/>
          <a:lstStyle/>
          <a:p>
            <a:pPr algn="ctr"/>
            <a:r>
              <a:rPr lang="en-IN" dirty="0"/>
              <a:t>    </a:t>
            </a:r>
            <a:r>
              <a:rPr lang="en-IN" dirty="0">
                <a:latin typeface="Times New Roman" panose="02020603050405020304" pitchFamily="18" charset="0"/>
                <a:cs typeface="Times New Roman" panose="02020603050405020304" pitchFamily="18" charset="0"/>
              </a:rPr>
              <a:t>CONTENTS</a:t>
            </a:r>
          </a:p>
        </p:txBody>
      </p:sp>
      <p:sp>
        <p:nvSpPr>
          <p:cNvPr id="3" name="Content Placeholder 2">
            <a:extLst>
              <a:ext uri="{FF2B5EF4-FFF2-40B4-BE49-F238E27FC236}">
                <a16:creationId xmlns:a16="http://schemas.microsoft.com/office/drawing/2014/main" id="{2A3A7415-65D1-2C1C-F7D1-EE8DBB339706}"/>
              </a:ext>
            </a:extLst>
          </p:cNvPr>
          <p:cNvSpPr>
            <a:spLocks noGrp="1"/>
          </p:cNvSpPr>
          <p:nvPr>
            <p:ph idx="1"/>
          </p:nvPr>
        </p:nvSpPr>
        <p:spPr>
          <a:xfrm>
            <a:off x="838200" y="1363580"/>
            <a:ext cx="10515600" cy="4813383"/>
          </a:xfrm>
        </p:spPr>
        <p:txBody>
          <a:bodyPr>
            <a:normAutofit fontScale="40000" lnSpcReduction="20000"/>
          </a:bodyPr>
          <a:lstStyle/>
          <a:p>
            <a:r>
              <a:rPr lang="en-US" sz="5000" dirty="0">
                <a:latin typeface="Times New Roman" panose="02020603050405020304" pitchFamily="18" charset="0"/>
                <a:cs typeface="Times New Roman" panose="02020603050405020304" pitchFamily="18" charset="0"/>
              </a:rPr>
              <a:t>Abstract</a:t>
            </a:r>
          </a:p>
          <a:p>
            <a:r>
              <a:rPr lang="en-US" sz="5000" dirty="0">
                <a:latin typeface="Times New Roman" panose="02020603050405020304" pitchFamily="18" charset="0"/>
                <a:cs typeface="Times New Roman" panose="02020603050405020304" pitchFamily="18" charset="0"/>
              </a:rPr>
              <a:t>Introduction</a:t>
            </a:r>
          </a:p>
          <a:p>
            <a:r>
              <a:rPr lang="en-US" sz="5000" dirty="0">
                <a:latin typeface="Times New Roman" panose="02020603050405020304" pitchFamily="18" charset="0"/>
                <a:cs typeface="Times New Roman" panose="02020603050405020304" pitchFamily="18" charset="0"/>
              </a:rPr>
              <a:t>Literature Survey</a:t>
            </a:r>
          </a:p>
          <a:p>
            <a:r>
              <a:rPr lang="en-US" sz="5000" dirty="0">
                <a:latin typeface="Times New Roman" panose="02020603050405020304" pitchFamily="18" charset="0"/>
                <a:cs typeface="Times New Roman" panose="02020603050405020304" pitchFamily="18" charset="0"/>
              </a:rPr>
              <a:t>Methodology</a:t>
            </a:r>
          </a:p>
          <a:p>
            <a:r>
              <a:rPr lang="en-US" sz="5000" dirty="0">
                <a:latin typeface="Times New Roman" panose="02020603050405020304" pitchFamily="18" charset="0"/>
                <a:cs typeface="Times New Roman" panose="02020603050405020304" pitchFamily="18" charset="0"/>
              </a:rPr>
              <a:t>Objectives</a:t>
            </a:r>
          </a:p>
          <a:p>
            <a:r>
              <a:rPr lang="en-US" sz="5000" dirty="0">
                <a:latin typeface="Times New Roman" panose="02020603050405020304" pitchFamily="18" charset="0"/>
                <a:cs typeface="Times New Roman" panose="02020603050405020304" pitchFamily="18" charset="0"/>
              </a:rPr>
              <a:t>System Design</a:t>
            </a:r>
          </a:p>
          <a:p>
            <a:r>
              <a:rPr lang="en-US" sz="5000" dirty="0">
                <a:latin typeface="Times New Roman" panose="02020603050405020304" pitchFamily="18" charset="0"/>
                <a:cs typeface="Times New Roman" panose="02020603050405020304" pitchFamily="18" charset="0"/>
              </a:rPr>
              <a:t>Software Requirements</a:t>
            </a:r>
          </a:p>
          <a:p>
            <a:r>
              <a:rPr lang="en-US" sz="5000" dirty="0">
                <a:latin typeface="Times New Roman" panose="02020603050405020304" pitchFamily="18" charset="0"/>
                <a:cs typeface="Times New Roman" panose="02020603050405020304" pitchFamily="18" charset="0"/>
              </a:rPr>
              <a:t>Hardware Requirements</a:t>
            </a:r>
          </a:p>
          <a:p>
            <a:r>
              <a:rPr lang="en-US" sz="5000" dirty="0">
                <a:latin typeface="Times New Roman" panose="02020603050405020304" pitchFamily="18" charset="0"/>
                <a:cs typeface="Times New Roman" panose="02020603050405020304" pitchFamily="18" charset="0"/>
              </a:rPr>
              <a:t>Applications, Advantage and Disadvantage</a:t>
            </a:r>
          </a:p>
          <a:p>
            <a:r>
              <a:rPr lang="en-US" sz="5000" dirty="0">
                <a:latin typeface="Times New Roman" panose="02020603050405020304" pitchFamily="18" charset="0"/>
                <a:cs typeface="Times New Roman" panose="02020603050405020304" pitchFamily="18" charset="0"/>
              </a:rPr>
              <a:t>Results</a:t>
            </a:r>
          </a:p>
          <a:p>
            <a:r>
              <a:rPr lang="en-US" sz="5000" dirty="0">
                <a:latin typeface="Times New Roman" panose="02020603050405020304" pitchFamily="18" charset="0"/>
                <a:cs typeface="Times New Roman" panose="02020603050405020304" pitchFamily="18" charset="0"/>
              </a:rPr>
              <a:t>Conclusion</a:t>
            </a:r>
          </a:p>
          <a:p>
            <a:r>
              <a:rPr lang="en-US" sz="5000" dirty="0">
                <a:latin typeface="Times New Roman" panose="02020603050405020304" pitchFamily="18" charset="0"/>
                <a:cs typeface="Times New Roman" panose="02020603050405020304" pitchFamily="18" charset="0"/>
              </a:rPr>
              <a:t>Future Scope</a:t>
            </a:r>
          </a:p>
          <a:p>
            <a:r>
              <a:rPr lang="en-US" sz="5000" dirty="0">
                <a:latin typeface="Times New Roman" panose="02020603050405020304" pitchFamily="18" charset="0"/>
                <a:cs typeface="Times New Roman" panose="02020603050405020304" pitchFamily="18" charset="0"/>
              </a:rPr>
              <a:t>Reference</a:t>
            </a:r>
            <a:endParaRPr lang="en-IN" sz="5000" dirty="0">
              <a:latin typeface="Times New Roman" panose="02020603050405020304" pitchFamily="18" charset="0"/>
              <a:cs typeface="Times New Roman" panose="02020603050405020304" pitchFamily="18" charset="0"/>
            </a:endParaRPr>
          </a:p>
          <a:p>
            <a:endParaRPr lang="en-IN" dirty="0"/>
          </a:p>
        </p:txBody>
      </p:sp>
      <p:sp>
        <p:nvSpPr>
          <p:cNvPr id="6" name="Slide Number Placeholder 5">
            <a:extLst>
              <a:ext uri="{FF2B5EF4-FFF2-40B4-BE49-F238E27FC236}">
                <a16:creationId xmlns:a16="http://schemas.microsoft.com/office/drawing/2014/main" id="{A6CBD0FF-33EF-FAA7-6F43-3BCDAF6695AA}"/>
              </a:ext>
            </a:extLst>
          </p:cNvPr>
          <p:cNvSpPr>
            <a:spLocks noGrp="1"/>
          </p:cNvSpPr>
          <p:nvPr>
            <p:ph type="sldNum" sz="quarter" idx="12"/>
          </p:nvPr>
        </p:nvSpPr>
        <p:spPr/>
        <p:txBody>
          <a:bodyPr/>
          <a:lstStyle/>
          <a:p>
            <a:fld id="{29FACB4C-C362-4046-86B4-4C56FF9F32A5}" type="slidenum">
              <a:rPr lang="en-IN" smtClean="0"/>
              <a:t>2</a:t>
            </a:fld>
            <a:endParaRPr lang="en-IN"/>
          </a:p>
        </p:txBody>
      </p:sp>
    </p:spTree>
    <p:extLst>
      <p:ext uri="{BB962C8B-B14F-4D97-AF65-F5344CB8AC3E}">
        <p14:creationId xmlns:p14="http://schemas.microsoft.com/office/powerpoint/2010/main" val="3787403039"/>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2939433-C6CD-74A2-5BBC-CDF2797E080C}"/>
              </a:ext>
            </a:extLst>
          </p:cNvPr>
          <p:cNvSpPr>
            <a:spLocks noGrp="1"/>
          </p:cNvSpPr>
          <p:nvPr>
            <p:ph type="title"/>
          </p:nvPr>
        </p:nvSpPr>
        <p:spPr>
          <a:xfrm>
            <a:off x="0" y="1"/>
            <a:ext cx="11353800" cy="1026694"/>
          </a:xfrm>
        </p:spPr>
        <p:txBody>
          <a:bodyPr/>
          <a:lstStyle/>
          <a:p>
            <a:r>
              <a:rPr lang="en-IN" sz="2200" dirty="0">
                <a:latin typeface="Times New Roman" panose="02020603050405020304" pitchFamily="18" charset="0"/>
                <a:cs typeface="Times New Roman" panose="02020603050405020304" pitchFamily="18" charset="0"/>
              </a:rPr>
              <a:t>ABSTRACT</a:t>
            </a:r>
            <a:r>
              <a:rPr lang="en-IN"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a:t>
            </a:r>
          </a:p>
        </p:txBody>
      </p:sp>
      <p:sp>
        <p:nvSpPr>
          <p:cNvPr id="3" name="Content Placeholder 2">
            <a:extLst>
              <a:ext uri="{FF2B5EF4-FFF2-40B4-BE49-F238E27FC236}">
                <a16:creationId xmlns:a16="http://schemas.microsoft.com/office/drawing/2014/main" id="{07E5B363-2C25-B133-A3AE-761F0496CF36}"/>
              </a:ext>
            </a:extLst>
          </p:cNvPr>
          <p:cNvSpPr>
            <a:spLocks noGrp="1"/>
          </p:cNvSpPr>
          <p:nvPr>
            <p:ph idx="1"/>
          </p:nvPr>
        </p:nvSpPr>
        <p:spPr>
          <a:xfrm>
            <a:off x="0" y="1026696"/>
            <a:ext cx="12192000" cy="5831304"/>
          </a:xfrm>
        </p:spPr>
        <p:txBody>
          <a:bodyPr>
            <a:normAutofit/>
          </a:bodyPr>
          <a:lstStyle/>
          <a:p>
            <a:pPr algn="just"/>
            <a:r>
              <a:rPr lang="en-US" sz="2000" dirty="0">
                <a:latin typeface="Times New Roman" panose="02020603050405020304" pitchFamily="18" charset="0"/>
                <a:cs typeface="Times New Roman" panose="02020603050405020304" pitchFamily="18" charset="0"/>
              </a:rPr>
              <a:t>DDoS (Distributed Denial of Service) attacks are one of the biggest threats to online services today. These attacks flood a server with huge amounts of fake traffic from many sources, making the server crash or become too slow for real users. In this project, I built a lab environment using virtual machines to simulate, detect, and stop a DDoS attack. We used tools like </a:t>
            </a:r>
            <a:r>
              <a:rPr lang="en-US" sz="2000" dirty="0" err="1">
                <a:latin typeface="Times New Roman" panose="02020603050405020304" pitchFamily="18" charset="0"/>
                <a:cs typeface="Times New Roman" panose="02020603050405020304" pitchFamily="18" charset="0"/>
              </a:rPr>
              <a:t>DDoSify</a:t>
            </a:r>
            <a:r>
              <a:rPr lang="en-US" sz="2000" dirty="0">
                <a:latin typeface="Times New Roman" panose="02020603050405020304" pitchFamily="18" charset="0"/>
                <a:cs typeface="Times New Roman" panose="02020603050405020304" pitchFamily="18" charset="0"/>
              </a:rPr>
              <a:t> to launch the attack, Wireshark and </a:t>
            </a:r>
            <a:r>
              <a:rPr lang="en-US" sz="2000" dirty="0" err="1">
                <a:latin typeface="Times New Roman" panose="02020603050405020304" pitchFamily="18" charset="0"/>
                <a:cs typeface="Times New Roman" panose="02020603050405020304" pitchFamily="18" charset="0"/>
              </a:rPr>
              <a:t>tcpdump</a:t>
            </a:r>
            <a:r>
              <a:rPr lang="en-US" sz="2000" dirty="0">
                <a:latin typeface="Times New Roman" panose="02020603050405020304" pitchFamily="18" charset="0"/>
                <a:cs typeface="Times New Roman" panose="02020603050405020304" pitchFamily="18" charset="0"/>
              </a:rPr>
              <a:t> to capture traffic, Snort to detect the attack, and fail2ban to automatically block the attacking IPs. This project helps understand how real world DDoS attacks work and how to defend against them.</a:t>
            </a:r>
            <a:endParaRPr lang="en-IN" sz="20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C2F519FB-6EB5-CE60-7B7A-5F5EB5BB7B38}"/>
              </a:ext>
            </a:extLst>
          </p:cNvPr>
          <p:cNvSpPr>
            <a:spLocks noGrp="1"/>
          </p:cNvSpPr>
          <p:nvPr>
            <p:ph type="sldNum" sz="quarter" idx="12"/>
          </p:nvPr>
        </p:nvSpPr>
        <p:spPr/>
        <p:txBody>
          <a:bodyPr/>
          <a:lstStyle/>
          <a:p>
            <a:fld id="{29FACB4C-C362-4046-86B4-4C56FF9F32A5}" type="slidenum">
              <a:rPr lang="en-IN" smtClean="0"/>
              <a:t>3</a:t>
            </a:fld>
            <a:endParaRPr lang="en-IN"/>
          </a:p>
        </p:txBody>
      </p:sp>
    </p:spTree>
    <p:extLst>
      <p:ext uri="{BB962C8B-B14F-4D97-AF65-F5344CB8AC3E}">
        <p14:creationId xmlns:p14="http://schemas.microsoft.com/office/powerpoint/2010/main" val="2164428249"/>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BFD24E0-062D-5A23-6CFF-424817520396}"/>
              </a:ext>
            </a:extLst>
          </p:cNvPr>
          <p:cNvSpPr>
            <a:spLocks noGrp="1"/>
          </p:cNvSpPr>
          <p:nvPr>
            <p:ph type="title"/>
          </p:nvPr>
        </p:nvSpPr>
        <p:spPr>
          <a:xfrm>
            <a:off x="0" y="1"/>
            <a:ext cx="11353800" cy="1058778"/>
          </a:xfrm>
        </p:spPr>
        <p:txBody>
          <a:bodyPr/>
          <a:lstStyle/>
          <a:p>
            <a:r>
              <a:rPr lang="en-IN" sz="2200" dirty="0">
                <a:latin typeface="Times New Roman" panose="02020603050405020304" pitchFamily="18" charset="0"/>
                <a:cs typeface="Times New Roman" panose="02020603050405020304" pitchFamily="18" charset="0"/>
              </a:rPr>
              <a:t>INTRODUCTION</a:t>
            </a:r>
            <a:r>
              <a:rPr lang="en-IN" dirty="0">
                <a:latin typeface="Times New Roman" panose="02020603050405020304" pitchFamily="18" charset="0"/>
                <a:cs typeface="Times New Roman" panose="02020603050405020304" pitchFamily="18" charset="0"/>
              </a:rPr>
              <a:t> </a:t>
            </a:r>
            <a:r>
              <a:rPr lang="en-IN" sz="2200" dirty="0">
                <a:latin typeface="Times New Roman" panose="02020603050405020304" pitchFamily="18" charset="0"/>
                <a:cs typeface="Times New Roman" panose="02020603050405020304" pitchFamily="18" charset="0"/>
              </a:rPr>
              <a:t>:</a:t>
            </a:r>
          </a:p>
        </p:txBody>
      </p:sp>
      <p:sp>
        <p:nvSpPr>
          <p:cNvPr id="5" name="Rectangle 2">
            <a:extLst>
              <a:ext uri="{FF2B5EF4-FFF2-40B4-BE49-F238E27FC236}">
                <a16:creationId xmlns:a16="http://schemas.microsoft.com/office/drawing/2014/main" id="{699F29E2-931A-97A0-70D9-A438E06AC21D}"/>
              </a:ext>
            </a:extLst>
          </p:cNvPr>
          <p:cNvSpPr>
            <a:spLocks noGrp="1" noChangeArrowheads="1"/>
          </p:cNvSpPr>
          <p:nvPr>
            <p:ph idx="1"/>
          </p:nvPr>
        </p:nvSpPr>
        <p:spPr bwMode="auto">
          <a:xfrm>
            <a:off x="0" y="710518"/>
            <a:ext cx="121920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l"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Arial" panose="020B0604020202020204" pitchFamily="34"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internet is used by millions of people every day for banking, shopping, communication, and more.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Attackers try to bring down websites and servers using DDoS attacks by sending massive traffic from many computers at once.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When a server is flooded with fake requests, real users cannot access the service this causes financial loss and damage to reputation.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Organizations need proper tools and techniques to detect these attacks early and respond quickly.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focuses on setting up a controlled lab, simulating a real DDoS attack, capturing and analyzing the traffic, and applying mitigation techniques.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goal is to understand the full lifecycle of a DDoS attack from how it starts to how it is stopped. </a:t>
            </a:r>
          </a:p>
        </p:txBody>
      </p:sp>
      <p:sp>
        <p:nvSpPr>
          <p:cNvPr id="8" name="Slide Number Placeholder 7">
            <a:extLst>
              <a:ext uri="{FF2B5EF4-FFF2-40B4-BE49-F238E27FC236}">
                <a16:creationId xmlns:a16="http://schemas.microsoft.com/office/drawing/2014/main" id="{AD7ABFCD-4B5B-1953-9F4E-C047CD900EE4}"/>
              </a:ext>
            </a:extLst>
          </p:cNvPr>
          <p:cNvSpPr>
            <a:spLocks noGrp="1"/>
          </p:cNvSpPr>
          <p:nvPr>
            <p:ph type="sldNum" sz="quarter" idx="12"/>
          </p:nvPr>
        </p:nvSpPr>
        <p:spPr/>
        <p:txBody>
          <a:bodyPr/>
          <a:lstStyle/>
          <a:p>
            <a:fld id="{29FACB4C-C362-4046-86B4-4C56FF9F32A5}" type="slidenum">
              <a:rPr lang="en-IN" smtClean="0"/>
              <a:t>4</a:t>
            </a:fld>
            <a:endParaRPr lang="en-IN"/>
          </a:p>
        </p:txBody>
      </p:sp>
    </p:spTree>
    <p:extLst>
      <p:ext uri="{BB962C8B-B14F-4D97-AF65-F5344CB8AC3E}">
        <p14:creationId xmlns:p14="http://schemas.microsoft.com/office/powerpoint/2010/main" val="2480207167"/>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F1F64C46-79E7-5076-E4BC-43CC27853261}"/>
              </a:ext>
            </a:extLst>
          </p:cNvPr>
          <p:cNvSpPr>
            <a:spLocks noGrp="1"/>
          </p:cNvSpPr>
          <p:nvPr>
            <p:ph type="title"/>
          </p:nvPr>
        </p:nvSpPr>
        <p:spPr>
          <a:xfrm>
            <a:off x="0" y="1"/>
            <a:ext cx="11353800" cy="490193"/>
          </a:xfrm>
        </p:spPr>
        <p:txBody>
          <a:bodyPr>
            <a:normAutofit/>
          </a:bodyPr>
          <a:lstStyle/>
          <a:p>
            <a:r>
              <a:rPr lang="en-IN" sz="2200" dirty="0">
                <a:latin typeface="Times New Roman" panose="02020603050405020304" pitchFamily="18" charset="0"/>
                <a:cs typeface="Times New Roman" panose="02020603050405020304" pitchFamily="18" charset="0"/>
              </a:rPr>
              <a:t>LITERATURE SURVEY :</a:t>
            </a:r>
          </a:p>
        </p:txBody>
      </p:sp>
      <p:graphicFrame>
        <p:nvGraphicFramePr>
          <p:cNvPr id="4" name="Content Placeholder 3">
            <a:extLst>
              <a:ext uri="{FF2B5EF4-FFF2-40B4-BE49-F238E27FC236}">
                <a16:creationId xmlns:a16="http://schemas.microsoft.com/office/drawing/2014/main" id="{CE9A5170-B12D-6B54-FE48-1F990C188AAD}"/>
              </a:ext>
            </a:extLst>
          </p:cNvPr>
          <p:cNvGraphicFramePr>
            <a:graphicFrameLocks noGrp="1"/>
          </p:cNvGraphicFramePr>
          <p:nvPr>
            <p:ph idx="1"/>
            <p:extLst>
              <p:ext uri="{D42A27DB-BD31-4B8C-83A1-F6EECF244321}">
                <p14:modId xmlns:p14="http://schemas.microsoft.com/office/powerpoint/2010/main" val="2161309959"/>
              </p:ext>
            </p:extLst>
          </p:nvPr>
        </p:nvGraphicFramePr>
        <p:xfrm>
          <a:off x="0" y="386501"/>
          <a:ext cx="12192001" cy="6607255"/>
        </p:xfrm>
        <a:graphic>
          <a:graphicData uri="http://schemas.openxmlformats.org/drawingml/2006/table">
            <a:tbl>
              <a:tblPr>
                <a:tableStyleId>{284E427A-3D55-4303-BF80-6455036E1DE7}</a:tableStyleId>
              </a:tblPr>
              <a:tblGrid>
                <a:gridCol w="641684">
                  <a:extLst>
                    <a:ext uri="{9D8B030D-6E8A-4147-A177-3AD203B41FA5}">
                      <a16:colId xmlns:a16="http://schemas.microsoft.com/office/drawing/2014/main" val="2925701302"/>
                    </a:ext>
                  </a:extLst>
                </a:gridCol>
                <a:gridCol w="4235117">
                  <a:extLst>
                    <a:ext uri="{9D8B030D-6E8A-4147-A177-3AD203B41FA5}">
                      <a16:colId xmlns:a16="http://schemas.microsoft.com/office/drawing/2014/main" val="3991491297"/>
                    </a:ext>
                  </a:extLst>
                </a:gridCol>
                <a:gridCol w="2438400">
                  <a:extLst>
                    <a:ext uri="{9D8B030D-6E8A-4147-A177-3AD203B41FA5}">
                      <a16:colId xmlns:a16="http://schemas.microsoft.com/office/drawing/2014/main" val="1000171912"/>
                    </a:ext>
                  </a:extLst>
                </a:gridCol>
                <a:gridCol w="2438400">
                  <a:extLst>
                    <a:ext uri="{9D8B030D-6E8A-4147-A177-3AD203B41FA5}">
                      <a16:colId xmlns:a16="http://schemas.microsoft.com/office/drawing/2014/main" val="1512488323"/>
                    </a:ext>
                  </a:extLst>
                </a:gridCol>
                <a:gridCol w="2438400">
                  <a:extLst>
                    <a:ext uri="{9D8B030D-6E8A-4147-A177-3AD203B41FA5}">
                      <a16:colId xmlns:a16="http://schemas.microsoft.com/office/drawing/2014/main" val="1113433284"/>
                    </a:ext>
                  </a:extLst>
                </a:gridCol>
              </a:tblGrid>
              <a:tr h="524892">
                <a:tc>
                  <a:txBody>
                    <a:bodyPr/>
                    <a:lstStyle/>
                    <a:p>
                      <a:pPr algn="just">
                        <a:buNone/>
                      </a:pPr>
                      <a:r>
                        <a:rPr lang="en-IN" sz="1800" b="1">
                          <a:latin typeface="Times New Roman" panose="02020603050405020304" pitchFamily="18" charset="0"/>
                          <a:cs typeface="Times New Roman" panose="02020603050405020304" pitchFamily="18" charset="0"/>
                        </a:rPr>
                        <a:t>S.No</a:t>
                      </a:r>
                    </a:p>
                  </a:txBody>
                  <a:tcPr marL="44144" marR="44144" marT="22072" marB="22072" anchor="ctr"/>
                </a:tc>
                <a:tc>
                  <a:txBody>
                    <a:bodyPr/>
                    <a:lstStyle/>
                    <a:p>
                      <a:pPr algn="just">
                        <a:buNone/>
                      </a:pPr>
                      <a:r>
                        <a:rPr lang="en-IN" sz="1800" b="1" dirty="0">
                          <a:latin typeface="Times New Roman" panose="02020603050405020304" pitchFamily="18" charset="0"/>
                          <a:cs typeface="Times New Roman" panose="02020603050405020304" pitchFamily="18" charset="0"/>
                        </a:rPr>
                        <a:t>Title</a:t>
                      </a:r>
                    </a:p>
                  </a:txBody>
                  <a:tcPr marL="44144" marR="44144" marT="22072" marB="22072" anchor="ctr"/>
                </a:tc>
                <a:tc>
                  <a:txBody>
                    <a:bodyPr/>
                    <a:lstStyle/>
                    <a:p>
                      <a:pPr algn="just">
                        <a:buNone/>
                      </a:pPr>
                      <a:r>
                        <a:rPr lang="en-IN" sz="1800" b="1" dirty="0">
                          <a:latin typeface="Times New Roman" panose="02020603050405020304" pitchFamily="18" charset="0"/>
                          <a:cs typeface="Times New Roman" panose="02020603050405020304" pitchFamily="18" charset="0"/>
                        </a:rPr>
                        <a:t>Author / Year</a:t>
                      </a:r>
                    </a:p>
                  </a:txBody>
                  <a:tcPr marL="44144" marR="44144" marT="22072" marB="22072" anchor="ctr"/>
                </a:tc>
                <a:tc>
                  <a:txBody>
                    <a:bodyPr/>
                    <a:lstStyle/>
                    <a:p>
                      <a:pPr algn="just">
                        <a:buNone/>
                      </a:pPr>
                      <a:r>
                        <a:rPr lang="en-IN" sz="1800" b="1">
                          <a:latin typeface="Times New Roman" panose="02020603050405020304" pitchFamily="18" charset="0"/>
                          <a:cs typeface="Times New Roman" panose="02020603050405020304" pitchFamily="18" charset="0"/>
                        </a:rPr>
                        <a:t>Methodology Used</a:t>
                      </a:r>
                    </a:p>
                  </a:txBody>
                  <a:tcPr marL="44144" marR="44144" marT="22072" marB="22072" anchor="ctr"/>
                </a:tc>
                <a:tc>
                  <a:txBody>
                    <a:bodyPr/>
                    <a:lstStyle/>
                    <a:p>
                      <a:pPr algn="just">
                        <a:buNone/>
                      </a:pPr>
                      <a:r>
                        <a:rPr lang="en-IN" sz="1800" b="1" dirty="0">
                          <a:latin typeface="Times New Roman" panose="02020603050405020304" pitchFamily="18" charset="0"/>
                          <a:cs typeface="Times New Roman" panose="02020603050405020304" pitchFamily="18" charset="0"/>
                        </a:rPr>
                        <a:t>Drawbacks</a:t>
                      </a:r>
                    </a:p>
                  </a:txBody>
                  <a:tcPr marL="44144" marR="44144" marT="22072" marB="22072" anchor="ctr"/>
                </a:tc>
                <a:extLst>
                  <a:ext uri="{0D108BD9-81ED-4DB2-BD59-A6C34878D82A}">
                    <a16:rowId xmlns:a16="http://schemas.microsoft.com/office/drawing/2014/main" val="2133704944"/>
                  </a:ext>
                </a:extLst>
              </a:tr>
              <a:tr h="1158293">
                <a:tc>
                  <a:txBody>
                    <a:bodyPr/>
                    <a:lstStyle/>
                    <a:p>
                      <a:pPr algn="just">
                        <a:buNone/>
                      </a:pPr>
                      <a:r>
                        <a:rPr lang="en-IN" sz="1800" dirty="0">
                          <a:latin typeface="Times New Roman" panose="02020603050405020304" pitchFamily="18" charset="0"/>
                          <a:cs typeface="Times New Roman" panose="02020603050405020304" pitchFamily="18" charset="0"/>
                        </a:rPr>
                        <a:t>1.</a:t>
                      </a:r>
                    </a:p>
                  </a:txBody>
                  <a:tcPr marL="44144" marR="44144" marT="22072" marB="22072" anchor="ctr"/>
                </a:tc>
                <a:tc>
                  <a:txBody>
                    <a:bodyPr/>
                    <a:lstStyle/>
                    <a:p>
                      <a:pPr algn="just">
                        <a:buNone/>
                      </a:pPr>
                      <a:r>
                        <a:rPr lang="en-US" sz="1800" dirty="0">
                          <a:latin typeface="Times New Roman" panose="02020603050405020304" pitchFamily="18" charset="0"/>
                          <a:cs typeface="Times New Roman" panose="02020603050405020304" pitchFamily="18" charset="0"/>
                        </a:rPr>
                        <a:t>A Survey on DDoS Attack Detection and Prevention Methods</a:t>
                      </a:r>
                    </a:p>
                  </a:txBody>
                  <a:tcPr marL="44144" marR="44144" marT="22072" marB="22072" anchor="ctr"/>
                </a:tc>
                <a:tc>
                  <a:txBody>
                    <a:bodyPr/>
                    <a:lstStyle/>
                    <a:p>
                      <a:pPr algn="just">
                        <a:buNone/>
                      </a:pPr>
                      <a:r>
                        <a:rPr lang="en-IN" sz="1800" dirty="0">
                          <a:latin typeface="Times New Roman" panose="02020603050405020304" pitchFamily="18" charset="0"/>
                          <a:cs typeface="Times New Roman" panose="02020603050405020304" pitchFamily="18" charset="0"/>
                        </a:rPr>
                        <a:t>M. Bhuyan, D. Bhattacharyya, 2020</a:t>
                      </a:r>
                    </a:p>
                  </a:txBody>
                  <a:tcPr marL="44144" marR="44144" marT="22072" marB="22072" anchor="ctr"/>
                </a:tc>
                <a:tc>
                  <a:txBody>
                    <a:bodyPr/>
                    <a:lstStyle/>
                    <a:p>
                      <a:pPr algn="just">
                        <a:buNone/>
                      </a:pPr>
                      <a:r>
                        <a:rPr lang="en-US" sz="1800">
                          <a:latin typeface="Times New Roman" panose="02020603050405020304" pitchFamily="18" charset="0"/>
                          <a:cs typeface="Times New Roman" panose="02020603050405020304" pitchFamily="18" charset="0"/>
                        </a:rPr>
                        <a:t>Reviewed anomaly-based and signature-based detection across multiple IDS systems</a:t>
                      </a:r>
                    </a:p>
                  </a:txBody>
                  <a:tcPr marL="44144" marR="44144" marT="22072" marB="22072" anchor="ctr"/>
                </a:tc>
                <a:tc>
                  <a:txBody>
                    <a:bodyPr/>
                    <a:lstStyle/>
                    <a:p>
                      <a:pPr algn="just">
                        <a:buNone/>
                      </a:pPr>
                      <a:r>
                        <a:rPr lang="en-US" sz="1800" dirty="0">
                          <a:latin typeface="Times New Roman" panose="02020603050405020304" pitchFamily="18" charset="0"/>
                          <a:cs typeface="Times New Roman" panose="02020603050405020304" pitchFamily="18" charset="0"/>
                        </a:rPr>
                        <a:t>No single method covers all attack types; survey lacks practical implementation</a:t>
                      </a:r>
                    </a:p>
                  </a:txBody>
                  <a:tcPr marL="44144" marR="44144" marT="22072" marB="22072" anchor="ctr"/>
                </a:tc>
                <a:extLst>
                  <a:ext uri="{0D108BD9-81ED-4DB2-BD59-A6C34878D82A}">
                    <a16:rowId xmlns:a16="http://schemas.microsoft.com/office/drawing/2014/main" val="3969002255"/>
                  </a:ext>
                </a:extLst>
              </a:tr>
              <a:tr h="1132985">
                <a:tc>
                  <a:txBody>
                    <a:bodyPr/>
                    <a:lstStyle/>
                    <a:p>
                      <a:pPr algn="just">
                        <a:buNone/>
                      </a:pPr>
                      <a:r>
                        <a:rPr lang="en-IN" sz="1800" dirty="0">
                          <a:latin typeface="Times New Roman" panose="02020603050405020304" pitchFamily="18" charset="0"/>
                          <a:cs typeface="Times New Roman" panose="02020603050405020304" pitchFamily="18" charset="0"/>
                        </a:rPr>
                        <a:t>2.</a:t>
                      </a:r>
                    </a:p>
                  </a:txBody>
                  <a:tcPr marL="44144" marR="44144" marT="22072" marB="22072" anchor="ctr"/>
                </a:tc>
                <a:tc>
                  <a:txBody>
                    <a:bodyPr/>
                    <a:lstStyle/>
                    <a:p>
                      <a:pPr algn="just">
                        <a:buNone/>
                      </a:pPr>
                      <a:r>
                        <a:rPr lang="en-US" sz="1800" dirty="0">
                          <a:latin typeface="Times New Roman" panose="02020603050405020304" pitchFamily="18" charset="0"/>
                          <a:cs typeface="Times New Roman" panose="02020603050405020304" pitchFamily="18" charset="0"/>
                        </a:rPr>
                        <a:t>Intrusion Detection System Using Snort for DDoS Mitigation</a:t>
                      </a:r>
                    </a:p>
                  </a:txBody>
                  <a:tcPr marL="44144" marR="44144" marT="22072" marB="22072" anchor="ctr"/>
                </a:tc>
                <a:tc>
                  <a:txBody>
                    <a:bodyPr/>
                    <a:lstStyle/>
                    <a:p>
                      <a:pPr algn="just">
                        <a:buNone/>
                      </a:pPr>
                      <a:r>
                        <a:rPr lang="nn-NO" sz="1800" dirty="0">
                          <a:latin typeface="Times New Roman" panose="02020603050405020304" pitchFamily="18" charset="0"/>
                          <a:cs typeface="Times New Roman" panose="02020603050405020304" pitchFamily="18" charset="0"/>
                        </a:rPr>
                        <a:t>A. Ahmed &amp; F. Khan, 2020</a:t>
                      </a:r>
                    </a:p>
                  </a:txBody>
                  <a:tcPr marL="44144" marR="44144" marT="22072" marB="22072" anchor="ctr"/>
                </a:tc>
                <a:tc>
                  <a:txBody>
                    <a:bodyPr/>
                    <a:lstStyle/>
                    <a:p>
                      <a:pPr algn="just">
                        <a:buNone/>
                      </a:pPr>
                      <a:r>
                        <a:rPr lang="en-US" sz="1800" dirty="0">
                          <a:latin typeface="Times New Roman" panose="02020603050405020304" pitchFamily="18" charset="0"/>
                          <a:cs typeface="Times New Roman" panose="02020603050405020304" pitchFamily="18" charset="0"/>
                        </a:rPr>
                        <a:t>Deployed Snort IDS with custom rules to detect SYN flood and HTTP flood attacks</a:t>
                      </a:r>
                    </a:p>
                  </a:txBody>
                  <a:tcPr marL="44144" marR="44144" marT="22072" marB="22072" anchor="ctr"/>
                </a:tc>
                <a:tc>
                  <a:txBody>
                    <a:bodyPr/>
                    <a:lstStyle/>
                    <a:p>
                      <a:pPr algn="just">
                        <a:buNone/>
                      </a:pPr>
                      <a:r>
                        <a:rPr lang="en-US" sz="1800">
                          <a:latin typeface="Times New Roman" panose="02020603050405020304" pitchFamily="18" charset="0"/>
                          <a:cs typeface="Times New Roman" panose="02020603050405020304" pitchFamily="18" charset="0"/>
                        </a:rPr>
                        <a:t>Snort rules must be manually updated; cannot detect zero-day attacks</a:t>
                      </a:r>
                    </a:p>
                  </a:txBody>
                  <a:tcPr marL="44144" marR="44144" marT="22072" marB="22072" anchor="ctr"/>
                </a:tc>
                <a:extLst>
                  <a:ext uri="{0D108BD9-81ED-4DB2-BD59-A6C34878D82A}">
                    <a16:rowId xmlns:a16="http://schemas.microsoft.com/office/drawing/2014/main" val="2372042014"/>
                  </a:ext>
                </a:extLst>
              </a:tr>
              <a:tr h="1225478">
                <a:tc>
                  <a:txBody>
                    <a:bodyPr/>
                    <a:lstStyle/>
                    <a:p>
                      <a:pPr algn="just">
                        <a:buNone/>
                      </a:pPr>
                      <a:r>
                        <a:rPr lang="en-IN" sz="1800" dirty="0">
                          <a:latin typeface="Times New Roman" panose="02020603050405020304" pitchFamily="18" charset="0"/>
                          <a:cs typeface="Times New Roman" panose="02020603050405020304" pitchFamily="18" charset="0"/>
                        </a:rPr>
                        <a:t>3.</a:t>
                      </a:r>
                    </a:p>
                  </a:txBody>
                  <a:tcPr marL="44144" marR="44144" marT="22072" marB="22072" anchor="ctr"/>
                </a:tc>
                <a:tc>
                  <a:txBody>
                    <a:bodyPr/>
                    <a:lstStyle/>
                    <a:p>
                      <a:pPr algn="just">
                        <a:buNone/>
                      </a:pPr>
                      <a:r>
                        <a:rPr lang="en-US" sz="1800" dirty="0">
                          <a:latin typeface="Times New Roman" panose="02020603050405020304" pitchFamily="18" charset="0"/>
                          <a:cs typeface="Times New Roman" panose="02020603050405020304" pitchFamily="18" charset="0"/>
                        </a:rPr>
                        <a:t>Hybrid DDoS Defense: Combining IDS and Rate Limiting</a:t>
                      </a:r>
                    </a:p>
                  </a:txBody>
                  <a:tcPr marL="44144" marR="44144" marT="22072" marB="22072" anchor="ctr"/>
                </a:tc>
                <a:tc>
                  <a:txBody>
                    <a:bodyPr/>
                    <a:lstStyle/>
                    <a:p>
                      <a:pPr algn="just">
                        <a:buNone/>
                      </a:pPr>
                      <a:r>
                        <a:rPr lang="de-DE" sz="1800" dirty="0">
                          <a:latin typeface="Times New Roman" panose="02020603050405020304" pitchFamily="18" charset="0"/>
                          <a:cs typeface="Times New Roman" panose="02020603050405020304" pitchFamily="18" charset="0"/>
                        </a:rPr>
                        <a:t>J. Singh &amp; P. Verma, 2022</a:t>
                      </a:r>
                    </a:p>
                  </a:txBody>
                  <a:tcPr marL="44144" marR="44144" marT="22072" marB="22072" anchor="ctr"/>
                </a:tc>
                <a:tc>
                  <a:txBody>
                    <a:bodyPr/>
                    <a:lstStyle/>
                    <a:p>
                      <a:pPr algn="just">
                        <a:buNone/>
                      </a:pPr>
                      <a:r>
                        <a:rPr lang="en-US" sz="1800">
                          <a:latin typeface="Times New Roman" panose="02020603050405020304" pitchFamily="18" charset="0"/>
                          <a:cs typeface="Times New Roman" panose="02020603050405020304" pitchFamily="18" charset="0"/>
                        </a:rPr>
                        <a:t>Combined Snort IDS + iptables rate limiting to reduce DDoS impact on web servers</a:t>
                      </a:r>
                    </a:p>
                  </a:txBody>
                  <a:tcPr marL="44144" marR="44144" marT="22072" marB="22072" anchor="ctr"/>
                </a:tc>
                <a:tc>
                  <a:txBody>
                    <a:bodyPr/>
                    <a:lstStyle/>
                    <a:p>
                      <a:pPr algn="just">
                        <a:buNone/>
                      </a:pPr>
                      <a:r>
                        <a:rPr lang="en-IN" sz="1800" dirty="0">
                          <a:latin typeface="Times New Roman" panose="02020603050405020304" pitchFamily="18" charset="0"/>
                          <a:cs typeface="Times New Roman" panose="02020603050405020304" pitchFamily="18" charset="0"/>
                        </a:rPr>
                        <a:t>Complex configuration; performance degrades under large-scale attacks</a:t>
                      </a:r>
                    </a:p>
                  </a:txBody>
                  <a:tcPr marL="44144" marR="44144" marT="22072" marB="22072" anchor="ctr"/>
                </a:tc>
                <a:extLst>
                  <a:ext uri="{0D108BD9-81ED-4DB2-BD59-A6C34878D82A}">
                    <a16:rowId xmlns:a16="http://schemas.microsoft.com/office/drawing/2014/main" val="3621004231"/>
                  </a:ext>
                </a:extLst>
              </a:tr>
              <a:tr h="1132985">
                <a:tc>
                  <a:txBody>
                    <a:bodyPr/>
                    <a:lstStyle/>
                    <a:p>
                      <a:pPr algn="just">
                        <a:buNone/>
                      </a:pPr>
                      <a:r>
                        <a:rPr lang="en-IN" sz="1800" dirty="0">
                          <a:latin typeface="Times New Roman" panose="02020603050405020304" pitchFamily="18" charset="0"/>
                          <a:cs typeface="Times New Roman" panose="02020603050405020304" pitchFamily="18" charset="0"/>
                        </a:rPr>
                        <a:t>4.</a:t>
                      </a:r>
                    </a:p>
                  </a:txBody>
                  <a:tcPr marL="44144" marR="44144" marT="22072" marB="22072" anchor="ctr"/>
                </a:tc>
                <a:tc>
                  <a:txBody>
                    <a:bodyPr/>
                    <a:lstStyle/>
                    <a:p>
                      <a:pPr algn="just">
                        <a:buNone/>
                      </a:pPr>
                      <a:r>
                        <a:rPr lang="en-US" sz="1800" dirty="0">
                          <a:latin typeface="Times New Roman" panose="02020603050405020304" pitchFamily="18" charset="0"/>
                          <a:cs typeface="Times New Roman" panose="02020603050405020304" pitchFamily="18" charset="0"/>
                        </a:rPr>
                        <a:t>Botnet-Based DDoS Attack Simulation in Virtual Environments</a:t>
                      </a:r>
                    </a:p>
                  </a:txBody>
                  <a:tcPr marL="44144" marR="44144" marT="22072" marB="22072" anchor="ctr"/>
                </a:tc>
                <a:tc>
                  <a:txBody>
                    <a:bodyPr/>
                    <a:lstStyle/>
                    <a:p>
                      <a:pPr algn="just">
                        <a:buNone/>
                      </a:pPr>
                      <a:r>
                        <a:rPr lang="da-DK" sz="1800" dirty="0">
                          <a:latin typeface="Times New Roman" panose="02020603050405020304" pitchFamily="18" charset="0"/>
                          <a:cs typeface="Times New Roman" panose="02020603050405020304" pitchFamily="18" charset="0"/>
                        </a:rPr>
                        <a:t>K. Zhao et al., 2020</a:t>
                      </a:r>
                    </a:p>
                  </a:txBody>
                  <a:tcPr marL="44144" marR="44144" marT="22072" marB="22072" anchor="ctr"/>
                </a:tc>
                <a:tc>
                  <a:txBody>
                    <a:bodyPr/>
                    <a:lstStyle/>
                    <a:p>
                      <a:pPr algn="just">
                        <a:buNone/>
                      </a:pPr>
                      <a:r>
                        <a:rPr lang="en-US" sz="1800" dirty="0">
                          <a:latin typeface="Times New Roman" panose="02020603050405020304" pitchFamily="18" charset="0"/>
                          <a:cs typeface="Times New Roman" panose="02020603050405020304" pitchFamily="18" charset="0"/>
                        </a:rPr>
                        <a:t>Used GNS3 and virtual machines to simulate multi-source botnet DDoS attacks</a:t>
                      </a:r>
                    </a:p>
                  </a:txBody>
                  <a:tcPr marL="44144" marR="44144" marT="22072" marB="22072" anchor="ctr"/>
                </a:tc>
                <a:tc>
                  <a:txBody>
                    <a:bodyPr/>
                    <a:lstStyle/>
                    <a:p>
                      <a:pPr algn="just">
                        <a:buNone/>
                      </a:pPr>
                      <a:r>
                        <a:rPr lang="en-US" sz="1800" dirty="0">
                          <a:latin typeface="Times New Roman" panose="02020603050405020304" pitchFamily="18" charset="0"/>
                          <a:cs typeface="Times New Roman" panose="02020603050405020304" pitchFamily="18" charset="0"/>
                        </a:rPr>
                        <a:t>Simulation does not fully replicate real-world botnet behavior and scale</a:t>
                      </a:r>
                    </a:p>
                  </a:txBody>
                  <a:tcPr marL="44144" marR="44144" marT="22072" marB="22072" anchor="ctr"/>
                </a:tc>
                <a:extLst>
                  <a:ext uri="{0D108BD9-81ED-4DB2-BD59-A6C34878D82A}">
                    <a16:rowId xmlns:a16="http://schemas.microsoft.com/office/drawing/2014/main" val="2932626068"/>
                  </a:ext>
                </a:extLst>
              </a:tr>
              <a:tr h="1405276">
                <a:tc>
                  <a:txBody>
                    <a:bodyPr/>
                    <a:lstStyle/>
                    <a:p>
                      <a:pPr algn="just">
                        <a:buNone/>
                      </a:pPr>
                      <a:r>
                        <a:rPr lang="en-IN" sz="1800" dirty="0">
                          <a:latin typeface="Times New Roman" panose="02020603050405020304" pitchFamily="18" charset="0"/>
                          <a:cs typeface="Times New Roman" panose="02020603050405020304" pitchFamily="18" charset="0"/>
                        </a:rPr>
                        <a:t>5.</a:t>
                      </a:r>
                    </a:p>
                  </a:txBody>
                  <a:tcPr marL="44144" marR="44144" marT="22072" marB="22072" anchor="ctr"/>
                </a:tc>
                <a:tc>
                  <a:txBody>
                    <a:bodyPr/>
                    <a:lstStyle/>
                    <a:p>
                      <a:pPr algn="just">
                        <a:buNone/>
                      </a:pPr>
                      <a:r>
                        <a:rPr lang="en-US" sz="1800" dirty="0">
                          <a:latin typeface="Times New Roman" panose="02020603050405020304" pitchFamily="18" charset="0"/>
                          <a:cs typeface="Times New Roman" panose="02020603050405020304" pitchFamily="18" charset="0"/>
                        </a:rPr>
                        <a:t>Investigating DDoS Attack Mitigation Strategies and Simulation Tools Using GNS3</a:t>
                      </a:r>
                    </a:p>
                  </a:txBody>
                  <a:tcPr marL="44144" marR="44144" marT="22072" marB="22072" anchor="ctr"/>
                </a:tc>
                <a:tc>
                  <a:txBody>
                    <a:bodyPr/>
                    <a:lstStyle/>
                    <a:p>
                      <a:pPr algn="just">
                        <a:buNone/>
                      </a:pPr>
                      <a:r>
                        <a:rPr lang="en-IN" sz="1800" dirty="0">
                          <a:latin typeface="Times New Roman" panose="02020603050405020304" pitchFamily="18" charset="0"/>
                          <a:cs typeface="Times New Roman" panose="02020603050405020304" pitchFamily="18" charset="0"/>
                        </a:rPr>
                        <a:t>Abdifatah Farah Samatar</a:t>
                      </a:r>
                      <a:endParaRPr lang="da-DK" sz="1800" dirty="0">
                        <a:latin typeface="Times New Roman" panose="02020603050405020304" pitchFamily="18" charset="0"/>
                        <a:cs typeface="Times New Roman" panose="02020603050405020304" pitchFamily="18" charset="0"/>
                      </a:endParaRPr>
                    </a:p>
                  </a:txBody>
                  <a:tcPr marL="44144" marR="44144" marT="22072" marB="22072" anchor="ctr"/>
                </a:tc>
                <a:tc>
                  <a:txBody>
                    <a:bodyPr/>
                    <a:lstStyle/>
                    <a:p>
                      <a:pPr algn="just">
                        <a:buNone/>
                      </a:pPr>
                      <a:r>
                        <a:rPr lang="en-US" sz="1800" dirty="0">
                          <a:latin typeface="Times New Roman" panose="02020603050405020304" pitchFamily="18" charset="0"/>
                          <a:cs typeface="Times New Roman" panose="02020603050405020304" pitchFamily="18" charset="0"/>
                        </a:rPr>
                        <a:t>Used GNS3-based virtual network to simulate DDoS attacks and evaluate mitigation techniques</a:t>
                      </a:r>
                      <a:r>
                        <a:rPr lang="en-US" sz="1800" dirty="0"/>
                        <a:t>.</a:t>
                      </a:r>
                      <a:endParaRPr lang="en-US" sz="1800" dirty="0">
                        <a:latin typeface="Times New Roman" panose="02020603050405020304" pitchFamily="18" charset="0"/>
                        <a:cs typeface="Times New Roman" panose="02020603050405020304" pitchFamily="18" charset="0"/>
                      </a:endParaRPr>
                    </a:p>
                  </a:txBody>
                  <a:tcPr marL="44144" marR="44144" marT="22072" marB="22072" anchor="ctr"/>
                </a:tc>
                <a:tc>
                  <a:txBody>
                    <a:bodyPr/>
                    <a:lstStyle/>
                    <a:p>
                      <a:pPr algn="just">
                        <a:buNone/>
                      </a:pPr>
                      <a:r>
                        <a:rPr lang="en-US" sz="1800" dirty="0">
                          <a:latin typeface="Times New Roman" panose="02020603050405020304" pitchFamily="18" charset="0"/>
                          <a:cs typeface="Times New Roman" panose="02020603050405020304" pitchFamily="18" charset="0"/>
                        </a:rPr>
                        <a:t>Limited scalability and realism compared to real-world large-scale botnet DDoS attacks.</a:t>
                      </a:r>
                    </a:p>
                  </a:txBody>
                  <a:tcPr marL="44144" marR="44144" marT="22072" marB="22072" anchor="ctr"/>
                </a:tc>
                <a:extLst>
                  <a:ext uri="{0D108BD9-81ED-4DB2-BD59-A6C34878D82A}">
                    <a16:rowId xmlns:a16="http://schemas.microsoft.com/office/drawing/2014/main" val="3993238363"/>
                  </a:ext>
                </a:extLst>
              </a:tr>
            </a:tbl>
          </a:graphicData>
        </a:graphic>
      </p:graphicFrame>
      <p:sp>
        <p:nvSpPr>
          <p:cNvPr id="9" name="Slide Number Placeholder 8">
            <a:extLst>
              <a:ext uri="{FF2B5EF4-FFF2-40B4-BE49-F238E27FC236}">
                <a16:creationId xmlns:a16="http://schemas.microsoft.com/office/drawing/2014/main" id="{F352F7D6-A3EF-1778-A6C1-E0C5A12029EE}"/>
              </a:ext>
            </a:extLst>
          </p:cNvPr>
          <p:cNvSpPr>
            <a:spLocks noGrp="1"/>
          </p:cNvSpPr>
          <p:nvPr>
            <p:ph type="sldNum" sz="quarter" idx="12"/>
          </p:nvPr>
        </p:nvSpPr>
        <p:spPr/>
        <p:txBody>
          <a:bodyPr/>
          <a:lstStyle/>
          <a:p>
            <a:fld id="{29FACB4C-C362-4046-86B4-4C56FF9F32A5}" type="slidenum">
              <a:rPr lang="en-IN" smtClean="0"/>
              <a:t>5</a:t>
            </a:fld>
            <a:endParaRPr lang="en-IN"/>
          </a:p>
        </p:txBody>
      </p:sp>
    </p:spTree>
    <p:extLst>
      <p:ext uri="{BB962C8B-B14F-4D97-AF65-F5344CB8AC3E}">
        <p14:creationId xmlns:p14="http://schemas.microsoft.com/office/powerpoint/2010/main" val="2615555879"/>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D88BE58-631B-F521-B67E-1416E1C4E040}"/>
              </a:ext>
            </a:extLst>
          </p:cNvPr>
          <p:cNvSpPr>
            <a:spLocks noGrp="1"/>
          </p:cNvSpPr>
          <p:nvPr>
            <p:ph type="title"/>
          </p:nvPr>
        </p:nvSpPr>
        <p:spPr>
          <a:xfrm>
            <a:off x="0" y="1"/>
            <a:ext cx="11353800" cy="882315"/>
          </a:xfrm>
        </p:spPr>
        <p:txBody>
          <a:bodyPr>
            <a:normAutofit/>
          </a:bodyPr>
          <a:lstStyle/>
          <a:p>
            <a:r>
              <a:rPr lang="en-IN" sz="2200" dirty="0">
                <a:latin typeface="Times New Roman" panose="02020603050405020304" pitchFamily="18" charset="0"/>
                <a:cs typeface="Times New Roman" panose="02020603050405020304" pitchFamily="18" charset="0"/>
              </a:rPr>
              <a:t>OBJECTIVES OF PROPOSED MODEL :</a:t>
            </a:r>
          </a:p>
        </p:txBody>
      </p:sp>
      <p:sp>
        <p:nvSpPr>
          <p:cNvPr id="3" name="Content Placeholder 2">
            <a:extLst>
              <a:ext uri="{FF2B5EF4-FFF2-40B4-BE49-F238E27FC236}">
                <a16:creationId xmlns:a16="http://schemas.microsoft.com/office/drawing/2014/main" id="{E6C4529E-ABA7-874C-D50A-4BFF51848707}"/>
              </a:ext>
            </a:extLst>
          </p:cNvPr>
          <p:cNvSpPr>
            <a:spLocks noGrp="1"/>
          </p:cNvSpPr>
          <p:nvPr>
            <p:ph idx="1"/>
          </p:nvPr>
        </p:nvSpPr>
        <p:spPr>
          <a:xfrm>
            <a:off x="0" y="737937"/>
            <a:ext cx="12192000" cy="6120062"/>
          </a:xfrm>
        </p:spPr>
        <p:txBody>
          <a:bodyPr>
            <a:normAutofit/>
          </a:bodyPr>
          <a:lstStyle/>
          <a:p>
            <a:pPr algn="just"/>
            <a:r>
              <a:rPr lang="en-US" sz="2000" dirty="0">
                <a:latin typeface="Times New Roman" panose="02020603050405020304" pitchFamily="18" charset="0"/>
                <a:cs typeface="Times New Roman" panose="02020603050405020304" pitchFamily="18" charset="0"/>
              </a:rPr>
              <a:t>To understand how a DDoS attack works in a real network environment.</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To simulate a DDoS attack safely inside a virtual lab without affecting real systems.</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To capture and analyze malicious network traffic using Wireshark and </a:t>
            </a:r>
            <a:r>
              <a:rPr lang="en-US" sz="2000" dirty="0" err="1">
                <a:latin typeface="Times New Roman" panose="02020603050405020304" pitchFamily="18" charset="0"/>
                <a:cs typeface="Times New Roman" panose="02020603050405020304" pitchFamily="18" charset="0"/>
              </a:rPr>
              <a:t>tcpdump</a:t>
            </a:r>
            <a:r>
              <a:rPr lang="en-US" sz="2000" dirty="0">
                <a:latin typeface="Times New Roman" panose="02020603050405020304" pitchFamily="18" charset="0"/>
                <a:cs typeface="Times New Roman" panose="02020603050405020304" pitchFamily="18" charset="0"/>
              </a:rPr>
              <a:t>.</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To configure Snort as an Intrusion Detection System to identify DDoS patterns.</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To implement fail2ban for automatic IP banning as a mitigation technique.</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dirty="0">
                <a:latin typeface="Times New Roman" panose="02020603050405020304" pitchFamily="18" charset="0"/>
                <a:cs typeface="Times New Roman" panose="02020603050405020304" pitchFamily="18" charset="0"/>
              </a:rPr>
              <a:t>To study the effect of the attack on server performance (before and after mitigation).</a:t>
            </a:r>
          </a:p>
          <a:p>
            <a:pPr marL="0" indent="0" algn="just">
              <a:buNone/>
            </a:pPr>
            <a:endParaRPr lang="en-US" sz="2000" dirty="0">
              <a:latin typeface="Times New Roman" panose="02020603050405020304" pitchFamily="18" charset="0"/>
              <a:cs typeface="Times New Roman" panose="02020603050405020304" pitchFamily="18" charset="0"/>
            </a:endParaRP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4102FE10-C77B-171F-B86B-5B914A06415F}"/>
              </a:ext>
            </a:extLst>
          </p:cNvPr>
          <p:cNvSpPr>
            <a:spLocks noGrp="1"/>
          </p:cNvSpPr>
          <p:nvPr>
            <p:ph type="sldNum" sz="quarter" idx="12"/>
          </p:nvPr>
        </p:nvSpPr>
        <p:spPr/>
        <p:txBody>
          <a:bodyPr/>
          <a:lstStyle/>
          <a:p>
            <a:fld id="{29FACB4C-C362-4046-86B4-4C56FF9F32A5}" type="slidenum">
              <a:rPr lang="en-IN" smtClean="0"/>
              <a:t>6</a:t>
            </a:fld>
            <a:endParaRPr lang="en-IN"/>
          </a:p>
        </p:txBody>
      </p:sp>
    </p:spTree>
    <p:extLst>
      <p:ext uri="{BB962C8B-B14F-4D97-AF65-F5344CB8AC3E}">
        <p14:creationId xmlns:p14="http://schemas.microsoft.com/office/powerpoint/2010/main" val="3352120518"/>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3BAA38AD-28FB-205E-AF02-78B23B96F6F3}"/>
              </a:ext>
            </a:extLst>
          </p:cNvPr>
          <p:cNvSpPr>
            <a:spLocks noGrp="1"/>
          </p:cNvSpPr>
          <p:nvPr>
            <p:ph type="title"/>
          </p:nvPr>
        </p:nvSpPr>
        <p:spPr>
          <a:xfrm>
            <a:off x="0" y="1"/>
            <a:ext cx="11353800" cy="850231"/>
          </a:xfrm>
        </p:spPr>
        <p:txBody>
          <a:bodyPr>
            <a:normAutofit/>
          </a:bodyPr>
          <a:lstStyle/>
          <a:p>
            <a:r>
              <a:rPr lang="en-IN" sz="2200" dirty="0">
                <a:latin typeface="Times New Roman" panose="02020603050405020304" pitchFamily="18" charset="0"/>
                <a:cs typeface="Times New Roman" panose="02020603050405020304" pitchFamily="18" charset="0"/>
              </a:rPr>
              <a:t>METHODOLOGY :</a:t>
            </a:r>
          </a:p>
        </p:txBody>
      </p:sp>
      <p:sp>
        <p:nvSpPr>
          <p:cNvPr id="3" name="Content Placeholder 2">
            <a:extLst>
              <a:ext uri="{FF2B5EF4-FFF2-40B4-BE49-F238E27FC236}">
                <a16:creationId xmlns:a16="http://schemas.microsoft.com/office/drawing/2014/main" id="{F1EE4940-A68F-5629-0E0F-820747B0410A}"/>
              </a:ext>
            </a:extLst>
          </p:cNvPr>
          <p:cNvSpPr>
            <a:spLocks noGrp="1"/>
          </p:cNvSpPr>
          <p:nvPr>
            <p:ph idx="1"/>
          </p:nvPr>
        </p:nvSpPr>
        <p:spPr>
          <a:xfrm>
            <a:off x="0" y="737937"/>
            <a:ext cx="12192000" cy="6120062"/>
          </a:xfrm>
        </p:spPr>
        <p:txBody>
          <a:bodyPr>
            <a:normAutofit lnSpcReduction="10000"/>
          </a:bodyPr>
          <a:lstStyle/>
          <a:p>
            <a:pPr marL="0" indent="0" algn="just">
              <a:buNone/>
            </a:pPr>
            <a:r>
              <a:rPr lang="en-IN" sz="2000" dirty="0">
                <a:latin typeface="Times New Roman" panose="02020603050405020304" pitchFamily="18" charset="0"/>
                <a:cs typeface="Times New Roman" panose="02020603050405020304" pitchFamily="18" charset="0"/>
              </a:rPr>
              <a:t>Existing Solution : </a:t>
            </a:r>
          </a:p>
          <a:p>
            <a:pPr algn="just"/>
            <a:r>
              <a:rPr lang="en-US" sz="2000" b="1" dirty="0">
                <a:latin typeface="Times New Roman" panose="02020603050405020304" pitchFamily="18" charset="0"/>
                <a:cs typeface="Times New Roman" panose="02020603050405020304" pitchFamily="18" charset="0"/>
              </a:rPr>
              <a:t>1. Signature-Based Detection (Snort with default rules)</a:t>
            </a:r>
            <a:r>
              <a:rPr lang="en-US" sz="2000" dirty="0">
                <a:latin typeface="Times New Roman" panose="02020603050405020304" pitchFamily="18" charset="0"/>
                <a:cs typeface="Times New Roman" panose="02020603050405020304" pitchFamily="18" charset="0"/>
              </a:rPr>
              <a:t> Matches traffic against a fixed database of known attack signatures. Only works on attacks it already knows completely blind to new or modified DDoS patterns. Rules must be updated manually by the administrator.</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2. Anomaly-Based Threshold Detection</a:t>
            </a:r>
            <a:r>
              <a:rPr lang="en-US" sz="2000" dirty="0">
                <a:latin typeface="Times New Roman" panose="02020603050405020304" pitchFamily="18" charset="0"/>
                <a:cs typeface="Times New Roman" panose="02020603050405020304" pitchFamily="18" charset="0"/>
              </a:rPr>
              <a:t> Sets a fixed number (e.g., max 100 requests per second per IP). Raises alert when crossed. The problem is that a real product launch or flash sale can also cross this threshold, causing false alarms. Tuning the threshold is difficult and varies by use case.</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3. Manual IP Blocking via iptables</a:t>
            </a:r>
            <a:r>
              <a:rPr lang="en-US" sz="2000" dirty="0">
                <a:latin typeface="Times New Roman" panose="02020603050405020304" pitchFamily="18" charset="0"/>
                <a:cs typeface="Times New Roman" panose="02020603050405020304" pitchFamily="18" charset="0"/>
              </a:rPr>
              <a:t> Admin reads logs manually, identifies attacker IPs, and writes firewall rules. Very slow by the time the admin acts, the server has already been down for several minutes. Completely fails against distributed attacks from thousands of different IPs.</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4. Passive Traffic Logging Only (</a:t>
            </a:r>
            <a:r>
              <a:rPr lang="en-US" sz="2000" b="1" dirty="0" err="1">
                <a:latin typeface="Times New Roman" panose="02020603050405020304" pitchFamily="18" charset="0"/>
                <a:cs typeface="Times New Roman" panose="02020603050405020304" pitchFamily="18" charset="0"/>
              </a:rPr>
              <a:t>tcpdump</a:t>
            </a:r>
            <a:r>
              <a:rPr lang="en-US" sz="2000" b="1" dirty="0">
                <a:latin typeface="Times New Roman" panose="02020603050405020304" pitchFamily="18" charset="0"/>
                <a:cs typeface="Times New Roman" panose="02020603050405020304" pitchFamily="18" charset="0"/>
              </a:rPr>
              <a:t> alone)</a:t>
            </a:r>
            <a:r>
              <a:rPr lang="en-US" sz="2000" dirty="0">
                <a:latin typeface="Times New Roman" panose="02020603050405020304" pitchFamily="18" charset="0"/>
                <a:cs typeface="Times New Roman" panose="02020603050405020304" pitchFamily="18" charset="0"/>
              </a:rPr>
              <a:t> Records all packets into a file. Useful for forensics after the attack, but provides zero protection during the attack. There is no alerting, no detection, and no automated response.</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5. Standalone IDS (No Response Integration)</a:t>
            </a:r>
            <a:r>
              <a:rPr lang="en-US" sz="2000" dirty="0">
                <a:latin typeface="Times New Roman" panose="02020603050405020304" pitchFamily="18" charset="0"/>
                <a:cs typeface="Times New Roman" panose="02020603050405020304" pitchFamily="18" charset="0"/>
              </a:rPr>
              <a:t> Tools like Snort in detection-only mode can identify the attack but cannot block anything. An alert is only useful if someone is watching the console. At night or on weekends, attacks go unblocked.</a:t>
            </a: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12375F80-130D-AE0E-2B88-851B87522F7D}"/>
              </a:ext>
            </a:extLst>
          </p:cNvPr>
          <p:cNvSpPr>
            <a:spLocks noGrp="1"/>
          </p:cNvSpPr>
          <p:nvPr>
            <p:ph type="sldNum" sz="quarter" idx="12"/>
          </p:nvPr>
        </p:nvSpPr>
        <p:spPr/>
        <p:txBody>
          <a:bodyPr/>
          <a:lstStyle/>
          <a:p>
            <a:fld id="{29FACB4C-C362-4046-86B4-4C56FF9F32A5}" type="slidenum">
              <a:rPr lang="en-IN" smtClean="0"/>
              <a:t>7</a:t>
            </a:fld>
            <a:endParaRPr lang="en-IN"/>
          </a:p>
        </p:txBody>
      </p:sp>
    </p:spTree>
    <p:extLst>
      <p:ext uri="{BB962C8B-B14F-4D97-AF65-F5344CB8AC3E}">
        <p14:creationId xmlns:p14="http://schemas.microsoft.com/office/powerpoint/2010/main" val="573681930"/>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B71BF48-6A26-27A7-D5F8-4B7B82C418DE}"/>
              </a:ext>
            </a:extLst>
          </p:cNvPr>
          <p:cNvSpPr>
            <a:spLocks noGrp="1"/>
          </p:cNvSpPr>
          <p:nvPr>
            <p:ph type="title"/>
          </p:nvPr>
        </p:nvSpPr>
        <p:spPr>
          <a:xfrm>
            <a:off x="0" y="1"/>
            <a:ext cx="11353800" cy="818146"/>
          </a:xfrm>
        </p:spPr>
        <p:txBody>
          <a:bodyPr>
            <a:normAutofit/>
          </a:bodyPr>
          <a:lstStyle/>
          <a:p>
            <a:r>
              <a:rPr lang="en-IN" sz="2200" dirty="0">
                <a:latin typeface="Times New Roman" panose="02020603050405020304" pitchFamily="18" charset="0"/>
                <a:cs typeface="Times New Roman" panose="02020603050405020304" pitchFamily="18" charset="0"/>
              </a:rPr>
              <a:t>METHODOLOGY :</a:t>
            </a:r>
          </a:p>
        </p:txBody>
      </p:sp>
      <p:sp>
        <p:nvSpPr>
          <p:cNvPr id="3" name="Content Placeholder 2">
            <a:extLst>
              <a:ext uri="{FF2B5EF4-FFF2-40B4-BE49-F238E27FC236}">
                <a16:creationId xmlns:a16="http://schemas.microsoft.com/office/drawing/2014/main" id="{D6ABF1C8-69FA-0343-339B-341A70A77768}"/>
              </a:ext>
            </a:extLst>
          </p:cNvPr>
          <p:cNvSpPr>
            <a:spLocks noGrp="1"/>
          </p:cNvSpPr>
          <p:nvPr>
            <p:ph idx="1"/>
          </p:nvPr>
        </p:nvSpPr>
        <p:spPr>
          <a:xfrm>
            <a:off x="0" y="689811"/>
            <a:ext cx="12192000" cy="6168188"/>
          </a:xfrm>
        </p:spPr>
        <p:txBody>
          <a:bodyPr>
            <a:normAutofit fontScale="62500" lnSpcReduction="20000"/>
          </a:bodyPr>
          <a:lstStyle/>
          <a:p>
            <a:pPr marL="0" indent="0" algn="just">
              <a:buNone/>
            </a:pPr>
            <a:r>
              <a:rPr lang="en-IN" dirty="0">
                <a:latin typeface="Times New Roman" panose="02020603050405020304" pitchFamily="18" charset="0"/>
                <a:cs typeface="Times New Roman" panose="02020603050405020304" pitchFamily="18" charset="0"/>
              </a:rPr>
              <a:t>Proposed Solution :</a:t>
            </a:r>
          </a:p>
          <a:p>
            <a:pPr algn="just"/>
            <a:r>
              <a:rPr lang="en-US" dirty="0">
                <a:latin typeface="Times New Roman" panose="02020603050405020304" pitchFamily="18" charset="0"/>
                <a:cs typeface="Times New Roman" panose="02020603050405020304" pitchFamily="18" charset="0"/>
              </a:rPr>
              <a:t>proposed model integrates simulation, capture, real-time detection and automated response into one end-to-end pipeline using open-source tools running on virtual machines.</a:t>
            </a:r>
          </a:p>
          <a:p>
            <a:pPr algn="just"/>
            <a:r>
              <a:rPr lang="en-US" b="1" dirty="0">
                <a:latin typeface="Times New Roman" panose="02020603050405020304" pitchFamily="18" charset="0"/>
                <a:cs typeface="Times New Roman" panose="02020603050405020304" pitchFamily="18" charset="0"/>
              </a:rPr>
              <a:t>Stage 1 Attack Simulation</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DDoSify</a:t>
            </a:r>
            <a:r>
              <a:rPr lang="en-US" dirty="0">
                <a:latin typeface="Times New Roman" panose="02020603050405020304" pitchFamily="18" charset="0"/>
                <a:cs typeface="Times New Roman" panose="02020603050405020304" pitchFamily="18" charset="0"/>
              </a:rPr>
              <a:t> is used on the attacker VM (Kali Linux) to launch a controlled HTTP flood around 2000 requests with 200 concurrent connections against the victim machine (Ubuntu Server running Apache). This simulates a real-world application-layer DDoS attack in a safe environment.</a:t>
            </a:r>
          </a:p>
          <a:p>
            <a:pPr algn="just"/>
            <a:r>
              <a:rPr lang="en-US" dirty="0" err="1">
                <a:latin typeface="Times New Roman" panose="02020603050405020304" pitchFamily="18" charset="0"/>
                <a:cs typeface="Times New Roman" panose="02020603050405020304" pitchFamily="18" charset="0"/>
              </a:rPr>
              <a:t>sudo</a:t>
            </a:r>
            <a:r>
              <a:rPr lang="en-US" dirty="0">
                <a:latin typeface="Times New Roman" panose="02020603050405020304" pitchFamily="18" charset="0"/>
                <a:cs typeface="Times New Roman" panose="02020603050405020304" pitchFamily="18" charset="0"/>
              </a:rPr>
              <a:t> apt-get update</a:t>
            </a:r>
          </a:p>
          <a:p>
            <a:pPr algn="just"/>
            <a:r>
              <a:rPr lang="en-US" dirty="0" err="1">
                <a:latin typeface="Times New Roman" panose="02020603050405020304" pitchFamily="18" charset="0"/>
                <a:cs typeface="Times New Roman" panose="02020603050405020304" pitchFamily="18" charset="0"/>
              </a:rPr>
              <a:t>sudo</a:t>
            </a:r>
            <a:r>
              <a:rPr lang="en-US" dirty="0">
                <a:latin typeface="Times New Roman" panose="02020603050405020304" pitchFamily="18" charset="0"/>
                <a:cs typeface="Times New Roman" panose="02020603050405020304" pitchFamily="18" charset="0"/>
              </a:rPr>
              <a:t> apt-get install </a:t>
            </a:r>
            <a:r>
              <a:rPr lang="en-US" dirty="0" err="1">
                <a:latin typeface="Times New Roman" panose="02020603050405020304" pitchFamily="18" charset="0"/>
                <a:cs typeface="Times New Roman" panose="02020603050405020304" pitchFamily="18" charset="0"/>
              </a:rPr>
              <a:t>ddosify</a:t>
            </a:r>
            <a:r>
              <a:rPr lang="en-US" dirty="0">
                <a:latin typeface="Times New Roman" panose="02020603050405020304" pitchFamily="18" charset="0"/>
                <a:cs typeface="Times New Roman" panose="02020603050405020304" pitchFamily="18" charset="0"/>
              </a:rPr>
              <a:t> (for installation)</a:t>
            </a:r>
          </a:p>
          <a:p>
            <a:pPr algn="just"/>
            <a:r>
              <a:rPr lang="fr-FR" dirty="0">
                <a:latin typeface="Times New Roman" panose="02020603050405020304" pitchFamily="18" charset="0"/>
                <a:cs typeface="Times New Roman" panose="02020603050405020304" pitchFamily="18" charset="0"/>
              </a:rPr>
              <a:t>./</a:t>
            </a:r>
            <a:r>
              <a:rPr lang="fr-FR" dirty="0" err="1">
                <a:latin typeface="Times New Roman" panose="02020603050405020304" pitchFamily="18" charset="0"/>
                <a:cs typeface="Times New Roman" panose="02020603050405020304" pitchFamily="18" charset="0"/>
              </a:rPr>
              <a:t>ddosify</a:t>
            </a:r>
            <a:r>
              <a:rPr lang="fr-FR" dirty="0">
                <a:latin typeface="Times New Roman" panose="02020603050405020304" pitchFamily="18" charset="0"/>
                <a:cs typeface="Times New Roman" panose="02020603050405020304" pitchFamily="18" charset="0"/>
              </a:rPr>
              <a:t> -t http://&lt;Victim-IP&gt; -n 2000 -c 200 (Attack command)</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Stage 2 — Traffic Capture</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tcpdump</a:t>
            </a:r>
            <a:r>
              <a:rPr lang="en-US" dirty="0">
                <a:latin typeface="Times New Roman" panose="02020603050405020304" pitchFamily="18" charset="0"/>
                <a:cs typeface="Times New Roman" panose="02020603050405020304" pitchFamily="18" charset="0"/>
              </a:rPr>
              <a:t> runs passively on the monitoring VM and captures all packets flowing through the virtual network into a </a:t>
            </a:r>
            <a:r>
              <a:rPr lang="en-US" dirty="0" err="1">
                <a:latin typeface="Times New Roman" panose="02020603050405020304" pitchFamily="18" charset="0"/>
                <a:cs typeface="Times New Roman" panose="02020603050405020304" pitchFamily="18" charset="0"/>
              </a:rPr>
              <a:t>pcap</a:t>
            </a:r>
            <a:r>
              <a:rPr lang="en-US" dirty="0">
                <a:latin typeface="Times New Roman" panose="02020603050405020304" pitchFamily="18" charset="0"/>
                <a:cs typeface="Times New Roman" panose="02020603050405020304" pitchFamily="18" charset="0"/>
              </a:rPr>
              <a:t> file. This provides raw evidence and supports post-attack forensic analysis without impacting the victim machine.</a:t>
            </a:r>
          </a:p>
          <a:p>
            <a:pPr algn="just"/>
            <a:r>
              <a:rPr lang="en-US" dirty="0" err="1">
                <a:latin typeface="Times New Roman" panose="02020603050405020304" pitchFamily="18" charset="0"/>
                <a:cs typeface="Times New Roman" panose="02020603050405020304" pitchFamily="18" charset="0"/>
              </a:rPr>
              <a:t>sudo</a:t>
            </a:r>
            <a:r>
              <a:rPr lang="en-US" dirty="0">
                <a:latin typeface="Times New Roman" panose="02020603050405020304" pitchFamily="18" charset="0"/>
                <a:cs typeface="Times New Roman" panose="02020603050405020304" pitchFamily="18" charset="0"/>
              </a:rPr>
              <a:t> apt-get update</a:t>
            </a:r>
          </a:p>
          <a:p>
            <a:pPr algn="just"/>
            <a:r>
              <a:rPr lang="en-US" dirty="0" err="1">
                <a:latin typeface="Times New Roman" panose="02020603050405020304" pitchFamily="18" charset="0"/>
                <a:cs typeface="Times New Roman" panose="02020603050405020304" pitchFamily="18" charset="0"/>
              </a:rPr>
              <a:t>sudo</a:t>
            </a:r>
            <a:r>
              <a:rPr lang="en-US" dirty="0">
                <a:latin typeface="Times New Roman" panose="02020603050405020304" pitchFamily="18" charset="0"/>
                <a:cs typeface="Times New Roman" panose="02020603050405020304" pitchFamily="18" charset="0"/>
              </a:rPr>
              <a:t> apt-get install </a:t>
            </a:r>
            <a:r>
              <a:rPr lang="en-US" dirty="0" err="1">
                <a:latin typeface="Times New Roman" panose="02020603050405020304" pitchFamily="18" charset="0"/>
                <a:cs typeface="Times New Roman" panose="02020603050405020304" pitchFamily="18" charset="0"/>
              </a:rPr>
              <a:t>wireshark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tcpdump</a:t>
            </a:r>
            <a:r>
              <a:rPr lang="en-US" dirty="0">
                <a:latin typeface="Times New Roman" panose="02020603050405020304" pitchFamily="18" charset="0"/>
                <a:cs typeface="Times New Roman" panose="02020603050405020304" pitchFamily="18" charset="0"/>
              </a:rPr>
              <a:t> (for installation)</a:t>
            </a:r>
          </a:p>
          <a:p>
            <a:pPr algn="just"/>
            <a:r>
              <a:rPr lang="en-US" dirty="0" err="1">
                <a:latin typeface="Times New Roman" panose="02020603050405020304" pitchFamily="18" charset="0"/>
                <a:cs typeface="Times New Roman" panose="02020603050405020304" pitchFamily="18" charset="0"/>
              </a:rPr>
              <a:t>sudo</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tcpdump</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i</a:t>
            </a:r>
            <a:r>
              <a:rPr lang="en-US" dirty="0">
                <a:latin typeface="Times New Roman" panose="02020603050405020304" pitchFamily="18" charset="0"/>
                <a:cs typeface="Times New Roman" panose="02020603050405020304" pitchFamily="18" charset="0"/>
              </a:rPr>
              <a:t> eth0 -w </a:t>
            </a:r>
            <a:r>
              <a:rPr lang="en-US" dirty="0" err="1">
                <a:latin typeface="Times New Roman" panose="02020603050405020304" pitchFamily="18" charset="0"/>
                <a:cs typeface="Times New Roman" panose="02020603050405020304" pitchFamily="18" charset="0"/>
              </a:rPr>
              <a:t>ddos-attack.pcap</a:t>
            </a:r>
            <a:r>
              <a:rPr lang="en-US" dirty="0">
                <a:latin typeface="Times New Roman" panose="02020603050405020304" pitchFamily="18" charset="0"/>
                <a:cs typeface="Times New Roman" panose="02020603050405020304" pitchFamily="18" charset="0"/>
              </a:rPr>
              <a:t> (capture live packets from network)</a:t>
            </a:r>
          </a:p>
          <a:p>
            <a:pPr marL="0" indent="0" algn="just">
              <a:buNone/>
            </a:pPr>
            <a:endParaRPr lang="en-US" dirty="0">
              <a:latin typeface="Times New Roman" panose="02020603050405020304" pitchFamily="18" charset="0"/>
              <a:cs typeface="Times New Roman" panose="02020603050405020304" pitchFamily="18" charset="0"/>
            </a:endParaRPr>
          </a:p>
          <a:p>
            <a:pPr algn="just"/>
            <a:r>
              <a:rPr lang="en-US" b="1" dirty="0">
                <a:latin typeface="Times New Roman" panose="02020603050405020304" pitchFamily="18" charset="0"/>
                <a:cs typeface="Times New Roman" panose="02020603050405020304" pitchFamily="18" charset="0"/>
              </a:rPr>
              <a:t>Stage 3 — Traffic Analysis</a:t>
            </a:r>
            <a:r>
              <a:rPr lang="en-US" dirty="0">
                <a:latin typeface="Times New Roman" panose="02020603050405020304" pitchFamily="18" charset="0"/>
                <a:cs typeface="Times New Roman" panose="02020603050405020304" pitchFamily="18" charset="0"/>
              </a:rPr>
              <a:t> Wireshark is used to open the </a:t>
            </a:r>
            <a:r>
              <a:rPr lang="en-US" dirty="0" err="1">
                <a:latin typeface="Times New Roman" panose="02020603050405020304" pitchFamily="18" charset="0"/>
                <a:cs typeface="Times New Roman" panose="02020603050405020304" pitchFamily="18" charset="0"/>
              </a:rPr>
              <a:t>pcap</a:t>
            </a:r>
            <a:r>
              <a:rPr lang="en-US" dirty="0">
                <a:latin typeface="Times New Roman" panose="02020603050405020304" pitchFamily="18" charset="0"/>
                <a:cs typeface="Times New Roman" panose="02020603050405020304" pitchFamily="18" charset="0"/>
              </a:rPr>
              <a:t> file and visually analyze traffic. The IP addresses generating the most connections are identified using Wireshark's Statistics Conversations view. This confirms which sources are responsible for the flood.</a:t>
            </a:r>
          </a:p>
          <a:p>
            <a:pPr algn="just"/>
            <a:r>
              <a:rPr lang="en-US" dirty="0" err="1">
                <a:latin typeface="Times New Roman" panose="02020603050405020304" pitchFamily="18" charset="0"/>
                <a:cs typeface="Times New Roman" panose="02020603050405020304" pitchFamily="18" charset="0"/>
              </a:rPr>
              <a:t>wireshark</a:t>
            </a:r>
            <a:r>
              <a:rPr lang="en-US" dirty="0">
                <a:latin typeface="Times New Roman" panose="02020603050405020304" pitchFamily="18" charset="0"/>
                <a:cs typeface="Times New Roman" panose="02020603050405020304" pitchFamily="18" charset="0"/>
              </a:rPr>
              <a:t> </a:t>
            </a:r>
            <a:r>
              <a:rPr lang="en-US" dirty="0" err="1">
                <a:latin typeface="Times New Roman" panose="02020603050405020304" pitchFamily="18" charset="0"/>
                <a:cs typeface="Times New Roman" panose="02020603050405020304" pitchFamily="18" charset="0"/>
              </a:rPr>
              <a:t>ddos-attack.pcap</a:t>
            </a:r>
            <a:r>
              <a:rPr lang="en-US" dirty="0">
                <a:latin typeface="Times New Roman" panose="02020603050405020304" pitchFamily="18" charset="0"/>
                <a:cs typeface="Times New Roman" panose="02020603050405020304" pitchFamily="18" charset="0"/>
              </a:rPr>
              <a:t> (Analyze Traffic)</a:t>
            </a:r>
          </a:p>
        </p:txBody>
      </p:sp>
      <p:sp>
        <p:nvSpPr>
          <p:cNvPr id="6" name="Slide Number Placeholder 5">
            <a:extLst>
              <a:ext uri="{FF2B5EF4-FFF2-40B4-BE49-F238E27FC236}">
                <a16:creationId xmlns:a16="http://schemas.microsoft.com/office/drawing/2014/main" id="{6B9CEB22-0E66-CF0A-2D85-C7B1FB6E4C27}"/>
              </a:ext>
            </a:extLst>
          </p:cNvPr>
          <p:cNvSpPr>
            <a:spLocks noGrp="1"/>
          </p:cNvSpPr>
          <p:nvPr>
            <p:ph type="sldNum" sz="quarter" idx="12"/>
          </p:nvPr>
        </p:nvSpPr>
        <p:spPr/>
        <p:txBody>
          <a:bodyPr/>
          <a:lstStyle/>
          <a:p>
            <a:fld id="{29FACB4C-C362-4046-86B4-4C56FF9F32A5}" type="slidenum">
              <a:rPr lang="en-IN" smtClean="0"/>
              <a:t>8</a:t>
            </a:fld>
            <a:endParaRPr lang="en-IN"/>
          </a:p>
        </p:txBody>
      </p:sp>
    </p:spTree>
    <p:extLst>
      <p:ext uri="{BB962C8B-B14F-4D97-AF65-F5344CB8AC3E}">
        <p14:creationId xmlns:p14="http://schemas.microsoft.com/office/powerpoint/2010/main" val="106210827"/>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338F5C0-A898-4F3B-6A5F-C6ADF7D9EA93}"/>
              </a:ext>
            </a:extLst>
          </p:cNvPr>
          <p:cNvSpPr>
            <a:spLocks noGrp="1"/>
          </p:cNvSpPr>
          <p:nvPr>
            <p:ph type="title"/>
          </p:nvPr>
        </p:nvSpPr>
        <p:spPr>
          <a:xfrm>
            <a:off x="0" y="1"/>
            <a:ext cx="12192000" cy="471339"/>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2B32BC09-0CAF-1E9F-AFB7-2540B3812BC1}"/>
              </a:ext>
            </a:extLst>
          </p:cNvPr>
          <p:cNvSpPr>
            <a:spLocks noGrp="1"/>
          </p:cNvSpPr>
          <p:nvPr>
            <p:ph idx="1"/>
          </p:nvPr>
        </p:nvSpPr>
        <p:spPr>
          <a:xfrm>
            <a:off x="-1" y="471340"/>
            <a:ext cx="12191999" cy="6386659"/>
          </a:xfrm>
        </p:spPr>
        <p:txBody>
          <a:bodyPr>
            <a:normAutofit/>
          </a:bodyPr>
          <a:lstStyle/>
          <a:p>
            <a:pPr algn="just"/>
            <a:r>
              <a:rPr lang="en-US" sz="2000" b="1" dirty="0">
                <a:latin typeface="Times New Roman" panose="02020603050405020304" pitchFamily="18" charset="0"/>
                <a:cs typeface="Times New Roman" panose="02020603050405020304" pitchFamily="18" charset="0"/>
              </a:rPr>
              <a:t>Stage 4 — Real-Time Detection</a:t>
            </a:r>
            <a:r>
              <a:rPr lang="en-US" sz="2000" dirty="0">
                <a:latin typeface="Times New Roman" panose="02020603050405020304" pitchFamily="18" charset="0"/>
                <a:cs typeface="Times New Roman" panose="02020603050405020304" pitchFamily="18" charset="0"/>
              </a:rPr>
              <a:t> Snort is configured with DDoS-specific detection rules and runs in IDS mode on the monitoring machine. It reads live traffic off the network interface and generates console alerts as soon as it detects patterns matching the configured rules  providing real-time visibility.</a:t>
            </a:r>
          </a:p>
          <a:p>
            <a:pPr algn="just"/>
            <a:r>
              <a:rPr lang="en-US" sz="2000" dirty="0" err="1">
                <a:latin typeface="Times New Roman" panose="02020603050405020304" pitchFamily="18" charset="0"/>
                <a:cs typeface="Times New Roman" panose="02020603050405020304" pitchFamily="18" charset="0"/>
              </a:rPr>
              <a:t>sudo</a:t>
            </a:r>
            <a:r>
              <a:rPr lang="en-US" sz="2000" dirty="0">
                <a:latin typeface="Times New Roman" panose="02020603050405020304" pitchFamily="18" charset="0"/>
                <a:cs typeface="Times New Roman" panose="02020603050405020304" pitchFamily="18" charset="0"/>
              </a:rPr>
              <a:t> apt-get update</a:t>
            </a:r>
          </a:p>
          <a:p>
            <a:pPr algn="just"/>
            <a:r>
              <a:rPr lang="en-US" sz="2000" dirty="0" err="1">
                <a:latin typeface="Times New Roman" panose="02020603050405020304" pitchFamily="18" charset="0"/>
                <a:cs typeface="Times New Roman" panose="02020603050405020304" pitchFamily="18" charset="0"/>
              </a:rPr>
              <a:t>sudo</a:t>
            </a:r>
            <a:r>
              <a:rPr lang="en-US" sz="2000" dirty="0">
                <a:latin typeface="Times New Roman" panose="02020603050405020304" pitchFamily="18" charset="0"/>
                <a:cs typeface="Times New Roman" panose="02020603050405020304" pitchFamily="18" charset="0"/>
              </a:rPr>
              <a:t> apt-get install snort (Install snort)</a:t>
            </a:r>
          </a:p>
          <a:p>
            <a:pPr algn="just"/>
            <a:r>
              <a:rPr lang="es-ES" sz="2000" dirty="0">
                <a:latin typeface="Times New Roman" panose="02020603050405020304" pitchFamily="18" charset="0"/>
                <a:cs typeface="Times New Roman" panose="02020603050405020304" pitchFamily="18" charset="0"/>
              </a:rPr>
              <a:t>sudo nano /</a:t>
            </a:r>
            <a:r>
              <a:rPr lang="es-ES" sz="2000" dirty="0" err="1">
                <a:latin typeface="Times New Roman" panose="02020603050405020304" pitchFamily="18" charset="0"/>
                <a:cs typeface="Times New Roman" panose="02020603050405020304" pitchFamily="18" charset="0"/>
              </a:rPr>
              <a:t>etc</a:t>
            </a:r>
            <a:r>
              <a:rPr lang="es-ES" sz="2000" dirty="0">
                <a:latin typeface="Times New Roman" panose="02020603050405020304" pitchFamily="18" charset="0"/>
                <a:cs typeface="Times New Roman" panose="02020603050405020304" pitchFamily="18" charset="0"/>
              </a:rPr>
              <a:t>/</a:t>
            </a:r>
            <a:r>
              <a:rPr lang="es-ES" sz="2000" dirty="0" err="1">
                <a:latin typeface="Times New Roman" panose="02020603050405020304" pitchFamily="18" charset="0"/>
                <a:cs typeface="Times New Roman" panose="02020603050405020304" pitchFamily="18" charset="0"/>
              </a:rPr>
              <a:t>snort</a:t>
            </a:r>
            <a:r>
              <a:rPr lang="es-ES" sz="2000" dirty="0">
                <a:latin typeface="Times New Roman" panose="02020603050405020304" pitchFamily="18" charset="0"/>
                <a:cs typeface="Times New Roman" panose="02020603050405020304" pitchFamily="18" charset="0"/>
              </a:rPr>
              <a:t>/</a:t>
            </a:r>
            <a:r>
              <a:rPr lang="es-ES" sz="2000" dirty="0" err="1">
                <a:latin typeface="Times New Roman" panose="02020603050405020304" pitchFamily="18" charset="0"/>
                <a:cs typeface="Times New Roman" panose="02020603050405020304" pitchFamily="18" charset="0"/>
              </a:rPr>
              <a:t>snort.conf</a:t>
            </a:r>
            <a:r>
              <a:rPr lang="es-ES" sz="2000" dirty="0">
                <a:latin typeface="Times New Roman" panose="02020603050405020304" pitchFamily="18" charset="0"/>
                <a:cs typeface="Times New Roman" panose="02020603050405020304" pitchFamily="18" charset="0"/>
              </a:rPr>
              <a:t> (</a:t>
            </a:r>
            <a:r>
              <a:rPr lang="es-ES" sz="2000" dirty="0" err="1">
                <a:latin typeface="Times New Roman" panose="02020603050405020304" pitchFamily="18" charset="0"/>
                <a:cs typeface="Times New Roman" panose="02020603050405020304" pitchFamily="18" charset="0"/>
              </a:rPr>
              <a:t>configuration</a:t>
            </a:r>
            <a:r>
              <a:rPr lang="es-ES" sz="2000" dirty="0">
                <a:latin typeface="Times New Roman" panose="02020603050405020304" pitchFamily="18" charset="0"/>
                <a:cs typeface="Times New Roman" panose="02020603050405020304" pitchFamily="18" charset="0"/>
              </a:rPr>
              <a:t> </a:t>
            </a:r>
            <a:r>
              <a:rPr lang="es-ES" sz="2000" dirty="0" err="1">
                <a:latin typeface="Times New Roman" panose="02020603050405020304" pitchFamily="18" charset="0"/>
                <a:cs typeface="Times New Roman" panose="02020603050405020304" pitchFamily="18" charset="0"/>
              </a:rPr>
              <a:t>of</a:t>
            </a:r>
            <a:r>
              <a:rPr lang="es-ES" sz="2000" dirty="0">
                <a:latin typeface="Times New Roman" panose="02020603050405020304" pitchFamily="18" charset="0"/>
                <a:cs typeface="Times New Roman" panose="02020603050405020304" pitchFamily="18" charset="0"/>
              </a:rPr>
              <a:t> </a:t>
            </a:r>
            <a:r>
              <a:rPr lang="es-ES" sz="2000" dirty="0" err="1">
                <a:latin typeface="Times New Roman" panose="02020603050405020304" pitchFamily="18" charset="0"/>
                <a:cs typeface="Times New Roman" panose="02020603050405020304" pitchFamily="18" charset="0"/>
              </a:rPr>
              <a:t>snort</a:t>
            </a:r>
            <a:r>
              <a:rPr lang="es-ES" sz="2000" dirty="0">
                <a:latin typeface="Times New Roman" panose="02020603050405020304" pitchFamily="18" charset="0"/>
                <a:cs typeface="Times New Roman" panose="02020603050405020304" pitchFamily="18" charset="0"/>
              </a:rPr>
              <a:t>)</a:t>
            </a:r>
          </a:p>
          <a:p>
            <a:pPr algn="just"/>
            <a:r>
              <a:rPr lang="en-US" sz="2000" dirty="0">
                <a:latin typeface="Times New Roman" panose="02020603050405020304" pitchFamily="18" charset="0"/>
                <a:cs typeface="Times New Roman" panose="02020603050405020304" pitchFamily="18" charset="0"/>
              </a:rPr>
              <a:t>alert </a:t>
            </a:r>
            <a:r>
              <a:rPr lang="en-US" sz="2000" dirty="0" err="1">
                <a:latin typeface="Times New Roman" panose="02020603050405020304" pitchFamily="18" charset="0"/>
                <a:cs typeface="Times New Roman" panose="02020603050405020304" pitchFamily="18" charset="0"/>
              </a:rPr>
              <a:t>tcp</a:t>
            </a:r>
            <a:r>
              <a:rPr lang="en-US" sz="2000" dirty="0">
                <a:latin typeface="Times New Roman" panose="02020603050405020304" pitchFamily="18" charset="0"/>
                <a:cs typeface="Times New Roman" panose="02020603050405020304" pitchFamily="18" charset="0"/>
              </a:rPr>
              <a:t> any </a:t>
            </a:r>
            <a:r>
              <a:rPr lang="en-US" sz="2000" dirty="0" err="1">
                <a:latin typeface="Times New Roman" panose="02020603050405020304" pitchFamily="18" charset="0"/>
                <a:cs typeface="Times New Roman" panose="02020603050405020304" pitchFamily="18" charset="0"/>
              </a:rPr>
              <a:t>any</a:t>
            </a:r>
            <a:r>
              <a:rPr lang="en-US" sz="2000" dirty="0">
                <a:latin typeface="Times New Roman" panose="02020603050405020304" pitchFamily="18" charset="0"/>
                <a:cs typeface="Times New Roman" panose="02020603050405020304" pitchFamily="18" charset="0"/>
              </a:rPr>
              <a:t> -&gt; &lt;Victim-IP&gt; 80 (</a:t>
            </a:r>
            <a:r>
              <a:rPr lang="en-US" sz="2000" dirty="0" err="1">
                <a:latin typeface="Times New Roman" panose="02020603050405020304" pitchFamily="18" charset="0"/>
                <a:cs typeface="Times New Roman" panose="02020603050405020304" pitchFamily="18" charset="0"/>
              </a:rPr>
              <a:t>msg:"DDoS</a:t>
            </a:r>
            <a:r>
              <a:rPr lang="en-US" sz="2000" dirty="0">
                <a:latin typeface="Times New Roman" panose="02020603050405020304" pitchFamily="18" charset="0"/>
                <a:cs typeface="Times New Roman" panose="02020603050405020304" pitchFamily="18" charset="0"/>
              </a:rPr>
              <a:t> HTTP Flood Detected"; </a:t>
            </a:r>
            <a:r>
              <a:rPr lang="en-US" sz="2000" dirty="0" err="1">
                <a:latin typeface="Times New Roman" panose="02020603050405020304" pitchFamily="18" charset="0"/>
                <a:cs typeface="Times New Roman" panose="02020603050405020304" pitchFamily="18" charset="0"/>
              </a:rPr>
              <a:t>flow:to_server</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threshold:type</a:t>
            </a:r>
            <a:r>
              <a:rPr lang="en-US" sz="2000" dirty="0">
                <a:latin typeface="Times New Roman" panose="02020603050405020304" pitchFamily="18" charset="0"/>
                <a:cs typeface="Times New Roman" panose="02020603050405020304" pitchFamily="18" charset="0"/>
              </a:rPr>
              <a:t> both, track </a:t>
            </a:r>
            <a:r>
              <a:rPr lang="en-US" sz="2000" dirty="0" err="1">
                <a:latin typeface="Times New Roman" panose="02020603050405020304" pitchFamily="18" charset="0"/>
                <a:cs typeface="Times New Roman" panose="02020603050405020304" pitchFamily="18" charset="0"/>
              </a:rPr>
              <a:t>by_src</a:t>
            </a:r>
            <a:r>
              <a:rPr lang="en-US" sz="2000" dirty="0">
                <a:latin typeface="Times New Roman" panose="02020603050405020304" pitchFamily="18" charset="0"/>
                <a:cs typeface="Times New Roman" panose="02020603050405020304" pitchFamily="18" charset="0"/>
              </a:rPr>
              <a:t>, count 100, seconds 10; sid:1000001; rev:1;) (writing snort rules)</a:t>
            </a:r>
          </a:p>
          <a:p>
            <a:pPr algn="just"/>
            <a:r>
              <a:rPr lang="en-US" sz="2000" dirty="0" err="1">
                <a:latin typeface="Times New Roman" panose="02020603050405020304" pitchFamily="18" charset="0"/>
                <a:cs typeface="Times New Roman" panose="02020603050405020304" pitchFamily="18" charset="0"/>
              </a:rPr>
              <a:t>sudo</a:t>
            </a:r>
            <a:r>
              <a:rPr lang="en-US" sz="2000" dirty="0">
                <a:latin typeface="Times New Roman" panose="02020603050405020304" pitchFamily="18" charset="0"/>
                <a:cs typeface="Times New Roman" panose="02020603050405020304" pitchFamily="18" charset="0"/>
              </a:rPr>
              <a:t> snort -A console -q -c /</a:t>
            </a:r>
            <a:r>
              <a:rPr lang="en-US" sz="2000" dirty="0" err="1">
                <a:latin typeface="Times New Roman" panose="02020603050405020304" pitchFamily="18" charset="0"/>
                <a:cs typeface="Times New Roman" panose="02020603050405020304" pitchFamily="18" charset="0"/>
              </a:rPr>
              <a:t>etc</a:t>
            </a:r>
            <a:r>
              <a:rPr lang="en-US" sz="2000" dirty="0">
                <a:latin typeface="Times New Roman" panose="02020603050405020304" pitchFamily="18" charset="0"/>
                <a:cs typeface="Times New Roman" panose="02020603050405020304" pitchFamily="18" charset="0"/>
              </a:rPr>
              <a:t>/snort/</a:t>
            </a:r>
            <a:r>
              <a:rPr lang="en-US" sz="2000" dirty="0" err="1">
                <a:latin typeface="Times New Roman" panose="02020603050405020304" pitchFamily="18" charset="0"/>
                <a:cs typeface="Times New Roman" panose="02020603050405020304" pitchFamily="18" charset="0"/>
              </a:rPr>
              <a:t>snort.conf</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i</a:t>
            </a:r>
            <a:r>
              <a:rPr lang="en-US" sz="2000" dirty="0">
                <a:latin typeface="Times New Roman" panose="02020603050405020304" pitchFamily="18" charset="0"/>
                <a:cs typeface="Times New Roman" panose="02020603050405020304" pitchFamily="18" charset="0"/>
              </a:rPr>
              <a:t> eth0 (run snort)</a:t>
            </a:r>
          </a:p>
          <a:p>
            <a:pPr marL="0" indent="0" algn="just">
              <a:buNone/>
            </a:pPr>
            <a:endParaRPr lang="en-US" sz="2000" dirty="0">
              <a:latin typeface="Times New Roman" panose="02020603050405020304" pitchFamily="18" charset="0"/>
              <a:cs typeface="Times New Roman" panose="02020603050405020304" pitchFamily="18" charset="0"/>
            </a:endParaRPr>
          </a:p>
          <a:p>
            <a:pPr algn="just"/>
            <a:r>
              <a:rPr lang="en-US" sz="2000" b="1" dirty="0">
                <a:latin typeface="Times New Roman" panose="02020603050405020304" pitchFamily="18" charset="0"/>
                <a:cs typeface="Times New Roman" panose="02020603050405020304" pitchFamily="18" charset="0"/>
              </a:rPr>
              <a:t>Stage 5 — Automated Mitigation</a:t>
            </a:r>
            <a:r>
              <a:rPr lang="en-US" sz="2000" dirty="0">
                <a:latin typeface="Times New Roman" panose="02020603050405020304" pitchFamily="18" charset="0"/>
                <a:cs typeface="Times New Roman" panose="02020603050405020304" pitchFamily="18" charset="0"/>
              </a:rPr>
              <a:t> fail2ban is installed on the victim machine and configured to monitor Apache's access log. When any single IP exceeds 300 requests in a 300-second window, fail2ban automatically creates an iptables rule to ban that IP for 1 hour without any admin involvement.</a:t>
            </a:r>
          </a:p>
          <a:p>
            <a:endParaRPr lang="en-IN" sz="2000" dirty="0"/>
          </a:p>
        </p:txBody>
      </p:sp>
      <p:sp>
        <p:nvSpPr>
          <p:cNvPr id="6" name="Slide Number Placeholder 5">
            <a:extLst>
              <a:ext uri="{FF2B5EF4-FFF2-40B4-BE49-F238E27FC236}">
                <a16:creationId xmlns:a16="http://schemas.microsoft.com/office/drawing/2014/main" id="{B724E576-CDB8-284C-1E26-E5D5C8036B46}"/>
              </a:ext>
            </a:extLst>
          </p:cNvPr>
          <p:cNvSpPr>
            <a:spLocks noGrp="1"/>
          </p:cNvSpPr>
          <p:nvPr>
            <p:ph type="sldNum" sz="quarter" idx="12"/>
          </p:nvPr>
        </p:nvSpPr>
        <p:spPr/>
        <p:txBody>
          <a:bodyPr/>
          <a:lstStyle/>
          <a:p>
            <a:fld id="{29FACB4C-C362-4046-86B4-4C56FF9F32A5}" type="slidenum">
              <a:rPr lang="en-IN" smtClean="0"/>
              <a:t>9</a:t>
            </a:fld>
            <a:endParaRPr lang="en-IN"/>
          </a:p>
        </p:txBody>
      </p:sp>
    </p:spTree>
    <p:extLst>
      <p:ext uri="{BB962C8B-B14F-4D97-AF65-F5344CB8AC3E}">
        <p14:creationId xmlns:p14="http://schemas.microsoft.com/office/powerpoint/2010/main" val="4139855797"/>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0312580C-306B-A51A-FE3B-D26DC835DD66}"/>
              </a:ext>
            </a:extLst>
          </p:cNvPr>
          <p:cNvSpPr>
            <a:spLocks noGrp="1"/>
          </p:cNvSpPr>
          <p:nvPr>
            <p:ph type="title"/>
          </p:nvPr>
        </p:nvSpPr>
        <p:spPr>
          <a:xfrm>
            <a:off x="0" y="2"/>
            <a:ext cx="12192000" cy="103694"/>
          </a:xfrm>
        </p:spPr>
        <p:txBody>
          <a:bodyPr>
            <a:normAutofit fontScale="90000"/>
          </a:bodyPr>
          <a:lstStyle/>
          <a:p>
            <a:endParaRPr lang="en-IN" dirty="0"/>
          </a:p>
        </p:txBody>
      </p:sp>
      <p:sp>
        <p:nvSpPr>
          <p:cNvPr id="3" name="Content Placeholder 2">
            <a:extLst>
              <a:ext uri="{FF2B5EF4-FFF2-40B4-BE49-F238E27FC236}">
                <a16:creationId xmlns:a16="http://schemas.microsoft.com/office/drawing/2014/main" id="{50B11915-45B4-1623-9146-23B39F611608}"/>
              </a:ext>
            </a:extLst>
          </p:cNvPr>
          <p:cNvSpPr>
            <a:spLocks noGrp="1"/>
          </p:cNvSpPr>
          <p:nvPr>
            <p:ph idx="1"/>
          </p:nvPr>
        </p:nvSpPr>
        <p:spPr>
          <a:xfrm>
            <a:off x="0" y="329938"/>
            <a:ext cx="12192000" cy="6528061"/>
          </a:xfrm>
        </p:spPr>
        <p:txBody>
          <a:bodyPr>
            <a:noAutofit/>
          </a:bodyPr>
          <a:lstStyle/>
          <a:p>
            <a:pPr marL="0" indent="0">
              <a:buNone/>
            </a:pPr>
            <a:r>
              <a:rPr lang="en-US" sz="2000" dirty="0" err="1">
                <a:latin typeface="Times New Roman" panose="02020603050405020304" pitchFamily="18" charset="0"/>
                <a:cs typeface="Times New Roman" panose="02020603050405020304" pitchFamily="18" charset="0"/>
              </a:rPr>
              <a:t>sudo</a:t>
            </a:r>
            <a:r>
              <a:rPr lang="en-US" sz="2000" dirty="0">
                <a:latin typeface="Times New Roman" panose="02020603050405020304" pitchFamily="18" charset="0"/>
                <a:cs typeface="Times New Roman" panose="02020603050405020304" pitchFamily="18" charset="0"/>
              </a:rPr>
              <a:t> apt-get update</a:t>
            </a:r>
          </a:p>
          <a:p>
            <a:pPr marL="0" indent="0">
              <a:buNone/>
            </a:pPr>
            <a:r>
              <a:rPr lang="en-US" sz="2000" dirty="0" err="1">
                <a:latin typeface="Times New Roman" panose="02020603050405020304" pitchFamily="18" charset="0"/>
                <a:cs typeface="Times New Roman" panose="02020603050405020304" pitchFamily="18" charset="0"/>
              </a:rPr>
              <a:t>sudo</a:t>
            </a:r>
            <a:r>
              <a:rPr lang="en-US" sz="2000" dirty="0">
                <a:latin typeface="Times New Roman" panose="02020603050405020304" pitchFamily="18" charset="0"/>
                <a:cs typeface="Times New Roman" panose="02020603050405020304" pitchFamily="18" charset="0"/>
              </a:rPr>
              <a:t> apt-get install fail2ban - (install fail2ban)</a:t>
            </a:r>
          </a:p>
          <a:p>
            <a:pPr marL="0" indent="0">
              <a:buNone/>
            </a:pPr>
            <a:r>
              <a:rPr lang="es-ES" sz="2000" dirty="0">
                <a:latin typeface="Times New Roman" panose="02020603050405020304" pitchFamily="18" charset="0"/>
                <a:cs typeface="Times New Roman" panose="02020603050405020304" pitchFamily="18" charset="0"/>
              </a:rPr>
              <a:t>sudo nano /</a:t>
            </a:r>
            <a:r>
              <a:rPr lang="es-ES" sz="2000" dirty="0" err="1">
                <a:latin typeface="Times New Roman" panose="02020603050405020304" pitchFamily="18" charset="0"/>
                <a:cs typeface="Times New Roman" panose="02020603050405020304" pitchFamily="18" charset="0"/>
              </a:rPr>
              <a:t>etc</a:t>
            </a:r>
            <a:r>
              <a:rPr lang="es-ES" sz="2000" dirty="0">
                <a:latin typeface="Times New Roman" panose="02020603050405020304" pitchFamily="18" charset="0"/>
                <a:cs typeface="Times New Roman" panose="02020603050405020304" pitchFamily="18" charset="0"/>
              </a:rPr>
              <a:t>/fail2ban/</a:t>
            </a:r>
            <a:r>
              <a:rPr lang="es-ES" sz="2000" dirty="0" err="1">
                <a:latin typeface="Times New Roman" panose="02020603050405020304" pitchFamily="18" charset="0"/>
                <a:cs typeface="Times New Roman" panose="02020603050405020304" pitchFamily="18" charset="0"/>
              </a:rPr>
              <a:t>jail.local</a:t>
            </a:r>
            <a:endParaRPr lang="es-E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[http-get-dos]</a:t>
            </a:r>
          </a:p>
          <a:p>
            <a:pPr marL="0" indent="0">
              <a:buNone/>
            </a:pPr>
            <a:r>
              <a:rPr lang="en-US" sz="2000" dirty="0">
                <a:latin typeface="Times New Roman" panose="02020603050405020304" pitchFamily="18" charset="0"/>
                <a:cs typeface="Times New Roman" panose="02020603050405020304" pitchFamily="18" charset="0"/>
              </a:rPr>
              <a:t>enabled = true</a:t>
            </a:r>
          </a:p>
          <a:p>
            <a:pPr marL="0" indent="0">
              <a:buNone/>
            </a:pPr>
            <a:r>
              <a:rPr lang="en-US" sz="2000" dirty="0">
                <a:latin typeface="Times New Roman" panose="02020603050405020304" pitchFamily="18" charset="0"/>
                <a:cs typeface="Times New Roman" panose="02020603050405020304" pitchFamily="18" charset="0"/>
              </a:rPr>
              <a:t>port = </a:t>
            </a:r>
            <a:r>
              <a:rPr lang="en-US" sz="2000" dirty="0" err="1">
                <a:latin typeface="Times New Roman" panose="02020603050405020304" pitchFamily="18" charset="0"/>
                <a:cs typeface="Times New Roman" panose="02020603050405020304" pitchFamily="18" charset="0"/>
              </a:rPr>
              <a:t>http,https</a:t>
            </a:r>
            <a:endParaRPr lang="en-US" sz="2000" dirty="0">
              <a:latin typeface="Times New Roman" panose="02020603050405020304" pitchFamily="18" charset="0"/>
              <a:cs typeface="Times New Roman" panose="02020603050405020304" pitchFamily="18" charset="0"/>
            </a:endParaRPr>
          </a:p>
          <a:p>
            <a:pPr marL="0" indent="0">
              <a:buNone/>
            </a:pPr>
            <a:r>
              <a:rPr lang="en-US" sz="2000" dirty="0">
                <a:latin typeface="Times New Roman" panose="02020603050405020304" pitchFamily="18" charset="0"/>
                <a:cs typeface="Times New Roman" panose="02020603050405020304" pitchFamily="18" charset="0"/>
              </a:rPr>
              <a:t>filter = http-get-dos</a:t>
            </a:r>
          </a:p>
          <a:p>
            <a:pPr marL="0" indent="0">
              <a:buNone/>
            </a:pPr>
            <a:r>
              <a:rPr lang="en-US" sz="2000" dirty="0" err="1">
                <a:latin typeface="Times New Roman" panose="02020603050405020304" pitchFamily="18" charset="0"/>
                <a:cs typeface="Times New Roman" panose="02020603050405020304" pitchFamily="18" charset="0"/>
              </a:rPr>
              <a:t>logpath</a:t>
            </a:r>
            <a:r>
              <a:rPr lang="en-US" sz="2000" dirty="0">
                <a:latin typeface="Times New Roman" panose="02020603050405020304" pitchFamily="18" charset="0"/>
                <a:cs typeface="Times New Roman" panose="02020603050405020304" pitchFamily="18" charset="0"/>
              </a:rPr>
              <a:t> = /var/log/apache2/access.log</a:t>
            </a:r>
          </a:p>
          <a:p>
            <a:pPr marL="0" indent="0">
              <a:buNone/>
            </a:pPr>
            <a:r>
              <a:rPr lang="en-US" sz="2000" dirty="0" err="1">
                <a:latin typeface="Times New Roman" panose="02020603050405020304" pitchFamily="18" charset="0"/>
                <a:cs typeface="Times New Roman" panose="02020603050405020304" pitchFamily="18" charset="0"/>
              </a:rPr>
              <a:t>maxretry</a:t>
            </a:r>
            <a:r>
              <a:rPr lang="en-US" sz="2000" dirty="0">
                <a:latin typeface="Times New Roman" panose="02020603050405020304" pitchFamily="18" charset="0"/>
                <a:cs typeface="Times New Roman" panose="02020603050405020304" pitchFamily="18" charset="0"/>
              </a:rPr>
              <a:t> = 300</a:t>
            </a:r>
          </a:p>
          <a:p>
            <a:pPr marL="0" indent="0">
              <a:buNone/>
            </a:pPr>
            <a:r>
              <a:rPr lang="en-US" sz="2000" dirty="0" err="1">
                <a:latin typeface="Times New Roman" panose="02020603050405020304" pitchFamily="18" charset="0"/>
                <a:cs typeface="Times New Roman" panose="02020603050405020304" pitchFamily="18" charset="0"/>
              </a:rPr>
              <a:t>findtime</a:t>
            </a:r>
            <a:r>
              <a:rPr lang="en-US" sz="2000" dirty="0">
                <a:latin typeface="Times New Roman" panose="02020603050405020304" pitchFamily="18" charset="0"/>
                <a:cs typeface="Times New Roman" panose="02020603050405020304" pitchFamily="18" charset="0"/>
              </a:rPr>
              <a:t> = 300</a:t>
            </a:r>
          </a:p>
          <a:p>
            <a:pPr marL="0" indent="0">
              <a:buNone/>
            </a:pPr>
            <a:r>
              <a:rPr lang="en-US" sz="2000" dirty="0" err="1">
                <a:latin typeface="Times New Roman" panose="02020603050405020304" pitchFamily="18" charset="0"/>
                <a:cs typeface="Times New Roman" panose="02020603050405020304" pitchFamily="18" charset="0"/>
              </a:rPr>
              <a:t>bantime</a:t>
            </a:r>
            <a:r>
              <a:rPr lang="en-US" sz="2000" dirty="0">
                <a:latin typeface="Times New Roman" panose="02020603050405020304" pitchFamily="18" charset="0"/>
                <a:cs typeface="Times New Roman" panose="02020603050405020304" pitchFamily="18" charset="0"/>
              </a:rPr>
              <a:t> = 3600 – (configuration)</a:t>
            </a:r>
          </a:p>
          <a:p>
            <a:pPr marL="0" indent="0">
              <a:buNone/>
            </a:pPr>
            <a:r>
              <a:rPr lang="en-US" sz="2000" dirty="0" err="1">
                <a:latin typeface="Times New Roman" panose="02020603050405020304" pitchFamily="18" charset="0"/>
                <a:cs typeface="Times New Roman" panose="02020603050405020304" pitchFamily="18" charset="0"/>
              </a:rPr>
              <a:t>sudo</a:t>
            </a:r>
            <a:r>
              <a:rPr lang="en-US" sz="2000" dirty="0">
                <a:latin typeface="Times New Roman" panose="02020603050405020304" pitchFamily="18" charset="0"/>
                <a:cs typeface="Times New Roman" panose="02020603050405020304" pitchFamily="18" charset="0"/>
              </a:rPr>
              <a:t> </a:t>
            </a:r>
            <a:r>
              <a:rPr lang="en-US" sz="2000" dirty="0" err="1">
                <a:latin typeface="Times New Roman" panose="02020603050405020304" pitchFamily="18" charset="0"/>
                <a:cs typeface="Times New Roman" panose="02020603050405020304" pitchFamily="18" charset="0"/>
              </a:rPr>
              <a:t>systemctl</a:t>
            </a:r>
            <a:r>
              <a:rPr lang="en-US" sz="2000" dirty="0">
                <a:latin typeface="Times New Roman" panose="02020603050405020304" pitchFamily="18" charset="0"/>
                <a:cs typeface="Times New Roman" panose="02020603050405020304" pitchFamily="18" charset="0"/>
              </a:rPr>
              <a:t> restart fail2ban – (restart service)       detects excessive requests from single IP, blocks using IP tables, bans for 1hour, provides automatic mitigation</a:t>
            </a:r>
          </a:p>
          <a:p>
            <a:pPr marL="0" indent="0">
              <a:buNone/>
            </a:pPr>
            <a:r>
              <a:rPr lang="en-US" sz="2000" dirty="0">
                <a:latin typeface="Times New Roman" panose="02020603050405020304" pitchFamily="18" charset="0"/>
                <a:cs typeface="Times New Roman" panose="02020603050405020304" pitchFamily="18" charset="0"/>
              </a:rPr>
              <a:t>  </a:t>
            </a:r>
            <a:endParaRPr lang="en-US" sz="2000" b="1" dirty="0">
              <a:latin typeface="Times New Roman" panose="02020603050405020304" pitchFamily="18" charset="0"/>
              <a:cs typeface="Times New Roman" panose="02020603050405020304" pitchFamily="18" charset="0"/>
            </a:endParaRPr>
          </a:p>
          <a:p>
            <a:r>
              <a:rPr lang="en-US" sz="2000" b="1" dirty="0">
                <a:latin typeface="Times New Roman" panose="02020603050405020304" pitchFamily="18" charset="0"/>
                <a:cs typeface="Times New Roman" panose="02020603050405020304" pitchFamily="18" charset="0"/>
              </a:rPr>
              <a:t>Why this model improves on existing approaches:</a:t>
            </a:r>
            <a:r>
              <a:rPr lang="en-US" sz="2000" dirty="0">
                <a:latin typeface="Times New Roman" panose="02020603050405020304" pitchFamily="18" charset="0"/>
                <a:cs typeface="Times New Roman" panose="02020603050405020304" pitchFamily="18" charset="0"/>
              </a:rPr>
              <a:t> Combines both detection (Snort) and automated response (fail2ban) in one pipeline. Eliminates manual IP blocking delays. Provides forensic evidence (Wireshark and </a:t>
            </a:r>
            <a:r>
              <a:rPr lang="en-US" sz="2000" dirty="0" err="1">
                <a:latin typeface="Times New Roman" panose="02020603050405020304" pitchFamily="18" charset="0"/>
                <a:cs typeface="Times New Roman" panose="02020603050405020304" pitchFamily="18" charset="0"/>
              </a:rPr>
              <a:t>tcpdump</a:t>
            </a:r>
            <a:r>
              <a:rPr lang="en-US" sz="2000" dirty="0">
                <a:latin typeface="Times New Roman" panose="02020603050405020304" pitchFamily="18" charset="0"/>
                <a:cs typeface="Times New Roman" panose="02020603050405020304" pitchFamily="18" charset="0"/>
              </a:rPr>
              <a:t>) even after the attack ends. </a:t>
            </a:r>
          </a:p>
          <a:p>
            <a:endParaRPr lang="en-IN" sz="2000" dirty="0"/>
          </a:p>
        </p:txBody>
      </p:sp>
      <p:sp>
        <p:nvSpPr>
          <p:cNvPr id="6" name="Slide Number Placeholder 5">
            <a:extLst>
              <a:ext uri="{FF2B5EF4-FFF2-40B4-BE49-F238E27FC236}">
                <a16:creationId xmlns:a16="http://schemas.microsoft.com/office/drawing/2014/main" id="{17DF7089-63BF-583A-D478-890AA5E9F9D3}"/>
              </a:ext>
            </a:extLst>
          </p:cNvPr>
          <p:cNvSpPr>
            <a:spLocks noGrp="1"/>
          </p:cNvSpPr>
          <p:nvPr>
            <p:ph type="sldNum" sz="quarter" idx="12"/>
          </p:nvPr>
        </p:nvSpPr>
        <p:spPr/>
        <p:txBody>
          <a:bodyPr/>
          <a:lstStyle/>
          <a:p>
            <a:fld id="{29FACB4C-C362-4046-86B4-4C56FF9F32A5}" type="slidenum">
              <a:rPr lang="en-IN" smtClean="0"/>
              <a:t>10</a:t>
            </a:fld>
            <a:endParaRPr lang="en-IN"/>
          </a:p>
        </p:txBody>
      </p:sp>
    </p:spTree>
    <p:extLst>
      <p:ext uri="{BB962C8B-B14F-4D97-AF65-F5344CB8AC3E}">
        <p14:creationId xmlns:p14="http://schemas.microsoft.com/office/powerpoint/2010/main" val="2269158152"/>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154D89F5-6BBB-C9BD-5D59-EC7075AF6943}"/>
              </a:ext>
            </a:extLst>
          </p:cNvPr>
          <p:cNvSpPr>
            <a:spLocks noGrp="1"/>
          </p:cNvSpPr>
          <p:nvPr>
            <p:ph type="title"/>
          </p:nvPr>
        </p:nvSpPr>
        <p:spPr>
          <a:xfrm>
            <a:off x="0" y="1"/>
            <a:ext cx="11353800" cy="681036"/>
          </a:xfrm>
        </p:spPr>
        <p:txBody>
          <a:bodyPr>
            <a:normAutofit/>
          </a:bodyPr>
          <a:lstStyle/>
          <a:p>
            <a:r>
              <a:rPr lang="en-IN" sz="2200" dirty="0">
                <a:latin typeface="Times New Roman" panose="02020603050405020304" pitchFamily="18" charset="0"/>
                <a:cs typeface="Times New Roman" panose="02020603050405020304" pitchFamily="18" charset="0"/>
              </a:rPr>
              <a:t>DDOSIFY SIMULATION PARAMETERS :</a:t>
            </a:r>
          </a:p>
        </p:txBody>
      </p:sp>
      <p:graphicFrame>
        <p:nvGraphicFramePr>
          <p:cNvPr id="4" name="Content Placeholder 3">
            <a:extLst>
              <a:ext uri="{FF2B5EF4-FFF2-40B4-BE49-F238E27FC236}">
                <a16:creationId xmlns:a16="http://schemas.microsoft.com/office/drawing/2014/main" id="{7F32105E-9A56-E972-D8D6-559B44DAA95D}"/>
              </a:ext>
            </a:extLst>
          </p:cNvPr>
          <p:cNvGraphicFramePr>
            <a:graphicFrameLocks noGrp="1"/>
          </p:cNvGraphicFramePr>
          <p:nvPr>
            <p:ph idx="1"/>
            <p:extLst>
              <p:ext uri="{D42A27DB-BD31-4B8C-83A1-F6EECF244321}">
                <p14:modId xmlns:p14="http://schemas.microsoft.com/office/powerpoint/2010/main" val="390266715"/>
              </p:ext>
            </p:extLst>
          </p:nvPr>
        </p:nvGraphicFramePr>
        <p:xfrm>
          <a:off x="0" y="681037"/>
          <a:ext cx="12192000" cy="6176968"/>
        </p:xfrm>
        <a:graphic>
          <a:graphicData uri="http://schemas.openxmlformats.org/drawingml/2006/table">
            <a:tbl>
              <a:tblPr>
                <a:tableStyleId>{775DCB02-9BB8-47FD-8907-85C794F793BA}</a:tableStyleId>
              </a:tblPr>
              <a:tblGrid>
                <a:gridCol w="6096000">
                  <a:extLst>
                    <a:ext uri="{9D8B030D-6E8A-4147-A177-3AD203B41FA5}">
                      <a16:colId xmlns:a16="http://schemas.microsoft.com/office/drawing/2014/main" val="1579769127"/>
                    </a:ext>
                  </a:extLst>
                </a:gridCol>
                <a:gridCol w="6096000">
                  <a:extLst>
                    <a:ext uri="{9D8B030D-6E8A-4147-A177-3AD203B41FA5}">
                      <a16:colId xmlns:a16="http://schemas.microsoft.com/office/drawing/2014/main" val="3452838574"/>
                    </a:ext>
                  </a:extLst>
                </a:gridCol>
              </a:tblGrid>
              <a:tr h="441212">
                <a:tc>
                  <a:txBody>
                    <a:bodyPr/>
                    <a:lstStyle/>
                    <a:p>
                      <a:pPr algn="just">
                        <a:buNone/>
                      </a:pPr>
                      <a:r>
                        <a:rPr lang="en-IN" sz="2000" b="1">
                          <a:latin typeface="Times New Roman" panose="02020603050405020304" pitchFamily="18" charset="0"/>
                          <a:cs typeface="Times New Roman" panose="02020603050405020304" pitchFamily="18" charset="0"/>
                        </a:rPr>
                        <a:t>Attack Parameters</a:t>
                      </a:r>
                      <a:endParaRPr lang="en-IN" sz="2000">
                        <a:latin typeface="Times New Roman" panose="02020603050405020304" pitchFamily="18" charset="0"/>
                        <a:cs typeface="Times New Roman" panose="02020603050405020304" pitchFamily="18" charset="0"/>
                      </a:endParaRPr>
                    </a:p>
                  </a:txBody>
                  <a:tcPr marL="77702" marR="77702" marT="38851" marB="38851" anchor="ctr"/>
                </a:tc>
                <a:tc>
                  <a:txBody>
                    <a:bodyPr/>
                    <a:lstStyle/>
                    <a:p>
                      <a:pPr algn="just">
                        <a:buNone/>
                      </a:pPr>
                      <a:r>
                        <a:rPr lang="en-IN" sz="2000" b="1">
                          <a:latin typeface="Times New Roman" panose="02020603050405020304" pitchFamily="18" charset="0"/>
                          <a:cs typeface="Times New Roman" panose="02020603050405020304" pitchFamily="18" charset="0"/>
                        </a:rPr>
                        <a:t>Definition</a:t>
                      </a:r>
                      <a:endParaRPr lang="en-IN" sz="2000">
                        <a:latin typeface="Times New Roman" panose="02020603050405020304" pitchFamily="18" charset="0"/>
                        <a:cs typeface="Times New Roman" panose="02020603050405020304" pitchFamily="18" charset="0"/>
                      </a:endParaRPr>
                    </a:p>
                  </a:txBody>
                  <a:tcPr marL="77702" marR="77702" marT="38851" marB="38851" anchor="ctr"/>
                </a:tc>
                <a:extLst>
                  <a:ext uri="{0D108BD9-81ED-4DB2-BD59-A6C34878D82A}">
                    <a16:rowId xmlns:a16="http://schemas.microsoft.com/office/drawing/2014/main" val="3845285870"/>
                  </a:ext>
                </a:extLst>
              </a:tr>
              <a:tr h="441212">
                <a:tc>
                  <a:txBody>
                    <a:bodyPr/>
                    <a:lstStyle/>
                    <a:p>
                      <a:pPr algn="just">
                        <a:buNone/>
                      </a:pPr>
                      <a:r>
                        <a:rPr lang="en-IN" sz="2000" dirty="0">
                          <a:latin typeface="Times New Roman" panose="02020603050405020304" pitchFamily="18" charset="0"/>
                          <a:cs typeface="Times New Roman" panose="02020603050405020304" pitchFamily="18" charset="0"/>
                        </a:rPr>
                        <a:t>Target URL / IP</a:t>
                      </a:r>
                    </a:p>
                  </a:txBody>
                  <a:tcPr marL="77702" marR="77702" marT="38851" marB="38851" anchor="ctr"/>
                </a:tc>
                <a:tc>
                  <a:txBody>
                    <a:bodyPr/>
                    <a:lstStyle/>
                    <a:p>
                      <a:pPr algn="just">
                        <a:buNone/>
                      </a:pPr>
                      <a:r>
                        <a:rPr lang="en-IN" sz="2000" dirty="0">
                          <a:latin typeface="Times New Roman" panose="02020603050405020304" pitchFamily="18" charset="0"/>
                          <a:cs typeface="Times New Roman" panose="02020603050405020304" pitchFamily="18" charset="0"/>
                          <a:hlinkClick r:id="rId2"/>
                        </a:rPr>
                        <a:t>http:// (</a:t>
                      </a:r>
                      <a:r>
                        <a:rPr lang="en-IN" sz="2000" dirty="0" err="1">
                          <a:latin typeface="Times New Roman" panose="02020603050405020304" pitchFamily="18" charset="0"/>
                          <a:cs typeface="Times New Roman" panose="02020603050405020304" pitchFamily="18" charset="0"/>
                          <a:hlinkClick r:id="rId2"/>
                        </a:rPr>
                        <a:t>victim</a:t>
                      </a:r>
                      <a:r>
                        <a:rPr lang="en-IN" sz="2000" dirty="0" err="1">
                          <a:latin typeface="Times New Roman" panose="02020603050405020304" pitchFamily="18" charset="0"/>
                          <a:cs typeface="Times New Roman" panose="02020603050405020304" pitchFamily="18" charset="0"/>
                        </a:rPr>
                        <a:t>ip</a:t>
                      </a:r>
                      <a:r>
                        <a:rPr lang="en-IN" sz="2000" dirty="0">
                          <a:latin typeface="Times New Roman" panose="02020603050405020304" pitchFamily="18" charset="0"/>
                          <a:cs typeface="Times New Roman" panose="02020603050405020304" pitchFamily="18" charset="0"/>
                        </a:rPr>
                        <a:t>)</a:t>
                      </a:r>
                    </a:p>
                  </a:txBody>
                  <a:tcPr marL="77702" marR="77702" marT="38851" marB="38851" anchor="ctr"/>
                </a:tc>
                <a:extLst>
                  <a:ext uri="{0D108BD9-81ED-4DB2-BD59-A6C34878D82A}">
                    <a16:rowId xmlns:a16="http://schemas.microsoft.com/office/drawing/2014/main" val="2684637001"/>
                  </a:ext>
                </a:extLst>
              </a:tr>
              <a:tr h="441212">
                <a:tc>
                  <a:txBody>
                    <a:bodyPr/>
                    <a:lstStyle/>
                    <a:p>
                      <a:pPr algn="just">
                        <a:buNone/>
                      </a:pPr>
                      <a:r>
                        <a:rPr lang="en-IN" sz="2000" dirty="0">
                          <a:latin typeface="Times New Roman" panose="02020603050405020304" pitchFamily="18" charset="0"/>
                          <a:cs typeface="Times New Roman" panose="02020603050405020304" pitchFamily="18" charset="0"/>
                        </a:rPr>
                        <a:t>Attack Type</a:t>
                      </a:r>
                    </a:p>
                  </a:txBody>
                  <a:tcPr marL="77702" marR="77702" marT="38851" marB="38851" anchor="ctr"/>
                </a:tc>
                <a:tc>
                  <a:txBody>
                    <a:bodyPr/>
                    <a:lstStyle/>
                    <a:p>
                      <a:pPr algn="just">
                        <a:buNone/>
                      </a:pPr>
                      <a:r>
                        <a:rPr lang="en-IN" sz="2000">
                          <a:latin typeface="Times New Roman" panose="02020603050405020304" pitchFamily="18" charset="0"/>
                          <a:cs typeface="Times New Roman" panose="02020603050405020304" pitchFamily="18" charset="0"/>
                        </a:rPr>
                        <a:t>HTTP Flood (Layer 7)</a:t>
                      </a:r>
                    </a:p>
                  </a:txBody>
                  <a:tcPr marL="77702" marR="77702" marT="38851" marB="38851" anchor="ctr"/>
                </a:tc>
                <a:extLst>
                  <a:ext uri="{0D108BD9-81ED-4DB2-BD59-A6C34878D82A}">
                    <a16:rowId xmlns:a16="http://schemas.microsoft.com/office/drawing/2014/main" val="3074909107"/>
                  </a:ext>
                </a:extLst>
              </a:tr>
              <a:tr h="441212">
                <a:tc>
                  <a:txBody>
                    <a:bodyPr/>
                    <a:lstStyle/>
                    <a:p>
                      <a:pPr algn="just">
                        <a:buNone/>
                      </a:pPr>
                      <a:r>
                        <a:rPr lang="en-IN" sz="2000" dirty="0">
                          <a:latin typeface="Times New Roman" panose="02020603050405020304" pitchFamily="18" charset="0"/>
                          <a:cs typeface="Times New Roman" panose="02020603050405020304" pitchFamily="18" charset="0"/>
                        </a:rPr>
                        <a:t>Number of Requests (-n)</a:t>
                      </a:r>
                    </a:p>
                  </a:txBody>
                  <a:tcPr marL="77702" marR="77702" marT="38851" marB="38851" anchor="ctr"/>
                </a:tc>
                <a:tc>
                  <a:txBody>
                    <a:bodyPr/>
                    <a:lstStyle/>
                    <a:p>
                      <a:pPr algn="just">
                        <a:buNone/>
                      </a:pPr>
                      <a:r>
                        <a:rPr lang="en-IN" sz="2000" dirty="0">
                          <a:latin typeface="Times New Roman" panose="02020603050405020304" pitchFamily="18" charset="0"/>
                          <a:cs typeface="Times New Roman" panose="02020603050405020304" pitchFamily="18" charset="0"/>
                        </a:rPr>
                        <a:t>2000</a:t>
                      </a:r>
                    </a:p>
                  </a:txBody>
                  <a:tcPr marL="77702" marR="77702" marT="38851" marB="38851" anchor="ctr"/>
                </a:tc>
                <a:extLst>
                  <a:ext uri="{0D108BD9-81ED-4DB2-BD59-A6C34878D82A}">
                    <a16:rowId xmlns:a16="http://schemas.microsoft.com/office/drawing/2014/main" val="28017568"/>
                  </a:ext>
                </a:extLst>
              </a:tr>
              <a:tr h="441212">
                <a:tc>
                  <a:txBody>
                    <a:bodyPr/>
                    <a:lstStyle/>
                    <a:p>
                      <a:pPr algn="just">
                        <a:buNone/>
                      </a:pPr>
                      <a:r>
                        <a:rPr lang="en-IN" sz="2000">
                          <a:latin typeface="Times New Roman" panose="02020603050405020304" pitchFamily="18" charset="0"/>
                          <a:cs typeface="Times New Roman" panose="02020603050405020304" pitchFamily="18" charset="0"/>
                        </a:rPr>
                        <a:t>Concurrency Level (-c)</a:t>
                      </a:r>
                    </a:p>
                  </a:txBody>
                  <a:tcPr marL="77702" marR="77702" marT="38851" marB="38851" anchor="ctr"/>
                </a:tc>
                <a:tc>
                  <a:txBody>
                    <a:bodyPr/>
                    <a:lstStyle/>
                    <a:p>
                      <a:pPr algn="just">
                        <a:buNone/>
                      </a:pPr>
                      <a:r>
                        <a:rPr lang="en-IN" sz="2000" dirty="0">
                          <a:latin typeface="Times New Roman" panose="02020603050405020304" pitchFamily="18" charset="0"/>
                          <a:cs typeface="Times New Roman" panose="02020603050405020304" pitchFamily="18" charset="0"/>
                        </a:rPr>
                        <a:t>200</a:t>
                      </a:r>
                    </a:p>
                  </a:txBody>
                  <a:tcPr marL="77702" marR="77702" marT="38851" marB="38851" anchor="ctr"/>
                </a:tc>
                <a:extLst>
                  <a:ext uri="{0D108BD9-81ED-4DB2-BD59-A6C34878D82A}">
                    <a16:rowId xmlns:a16="http://schemas.microsoft.com/office/drawing/2014/main" val="694729581"/>
                  </a:ext>
                </a:extLst>
              </a:tr>
              <a:tr h="441212">
                <a:tc>
                  <a:txBody>
                    <a:bodyPr/>
                    <a:lstStyle/>
                    <a:p>
                      <a:pPr algn="just">
                        <a:buNone/>
                      </a:pPr>
                      <a:r>
                        <a:rPr lang="en-IN" sz="2000" dirty="0">
                          <a:latin typeface="Times New Roman" panose="02020603050405020304" pitchFamily="18" charset="0"/>
                          <a:cs typeface="Times New Roman" panose="02020603050405020304" pitchFamily="18" charset="0"/>
                        </a:rPr>
                        <a:t>Number of Trials</a:t>
                      </a:r>
                    </a:p>
                  </a:txBody>
                  <a:tcPr marL="77702" marR="77702" marT="38851" marB="38851" anchor="ctr"/>
                </a:tc>
                <a:tc>
                  <a:txBody>
                    <a:bodyPr/>
                    <a:lstStyle/>
                    <a:p>
                      <a:pPr algn="just">
                        <a:buNone/>
                      </a:pPr>
                      <a:r>
                        <a:rPr lang="en-IN" sz="2000" dirty="0">
                          <a:latin typeface="Times New Roman" panose="02020603050405020304" pitchFamily="18" charset="0"/>
                          <a:cs typeface="Times New Roman" panose="02020603050405020304" pitchFamily="18" charset="0"/>
                        </a:rPr>
                        <a:t>10–120</a:t>
                      </a:r>
                    </a:p>
                  </a:txBody>
                  <a:tcPr marL="77702" marR="77702" marT="38851" marB="38851" anchor="ctr"/>
                </a:tc>
                <a:extLst>
                  <a:ext uri="{0D108BD9-81ED-4DB2-BD59-A6C34878D82A}">
                    <a16:rowId xmlns:a16="http://schemas.microsoft.com/office/drawing/2014/main" val="2679390709"/>
                  </a:ext>
                </a:extLst>
              </a:tr>
              <a:tr h="441212">
                <a:tc>
                  <a:txBody>
                    <a:bodyPr/>
                    <a:lstStyle/>
                    <a:p>
                      <a:pPr algn="just">
                        <a:buNone/>
                      </a:pPr>
                      <a:r>
                        <a:rPr lang="en-IN" sz="2000">
                          <a:latin typeface="Times New Roman" panose="02020603050405020304" pitchFamily="18" charset="0"/>
                          <a:cs typeface="Times New Roman" panose="02020603050405020304" pitchFamily="18" charset="0"/>
                        </a:rPr>
                        <a:t>Protocol</a:t>
                      </a:r>
                    </a:p>
                  </a:txBody>
                  <a:tcPr marL="77702" marR="77702" marT="38851" marB="38851" anchor="ctr"/>
                </a:tc>
                <a:tc>
                  <a:txBody>
                    <a:bodyPr/>
                    <a:lstStyle/>
                    <a:p>
                      <a:pPr algn="just">
                        <a:buNone/>
                      </a:pPr>
                      <a:r>
                        <a:rPr lang="en-IN" sz="2000" dirty="0">
                          <a:latin typeface="Times New Roman" panose="02020603050405020304" pitchFamily="18" charset="0"/>
                          <a:cs typeface="Times New Roman" panose="02020603050405020304" pitchFamily="18" charset="0"/>
                        </a:rPr>
                        <a:t>HTTP / TCP/ DNS</a:t>
                      </a:r>
                    </a:p>
                  </a:txBody>
                  <a:tcPr marL="77702" marR="77702" marT="38851" marB="38851" anchor="ctr"/>
                </a:tc>
                <a:extLst>
                  <a:ext uri="{0D108BD9-81ED-4DB2-BD59-A6C34878D82A}">
                    <a16:rowId xmlns:a16="http://schemas.microsoft.com/office/drawing/2014/main" val="1542793351"/>
                  </a:ext>
                </a:extLst>
              </a:tr>
              <a:tr h="441212">
                <a:tc>
                  <a:txBody>
                    <a:bodyPr/>
                    <a:lstStyle/>
                    <a:p>
                      <a:pPr algn="just">
                        <a:buNone/>
                      </a:pPr>
                      <a:r>
                        <a:rPr lang="en-IN" sz="2000">
                          <a:latin typeface="Times New Roman" panose="02020603050405020304" pitchFamily="18" charset="0"/>
                          <a:cs typeface="Times New Roman" panose="02020603050405020304" pitchFamily="18" charset="0"/>
                        </a:rPr>
                        <a:t>Request Method</a:t>
                      </a:r>
                    </a:p>
                  </a:txBody>
                  <a:tcPr marL="77702" marR="77702" marT="38851" marB="38851" anchor="ctr"/>
                </a:tc>
                <a:tc>
                  <a:txBody>
                    <a:bodyPr/>
                    <a:lstStyle/>
                    <a:p>
                      <a:pPr algn="just">
                        <a:buNone/>
                      </a:pPr>
                      <a:r>
                        <a:rPr lang="en-IN" sz="2000">
                          <a:latin typeface="Times New Roman" panose="02020603050405020304" pitchFamily="18" charset="0"/>
                          <a:cs typeface="Times New Roman" panose="02020603050405020304" pitchFamily="18" charset="0"/>
                        </a:rPr>
                        <a:t>GET / POST</a:t>
                      </a:r>
                    </a:p>
                  </a:txBody>
                  <a:tcPr marL="77702" marR="77702" marT="38851" marB="38851" anchor="ctr"/>
                </a:tc>
                <a:extLst>
                  <a:ext uri="{0D108BD9-81ED-4DB2-BD59-A6C34878D82A}">
                    <a16:rowId xmlns:a16="http://schemas.microsoft.com/office/drawing/2014/main" val="160148922"/>
                  </a:ext>
                </a:extLst>
              </a:tr>
              <a:tr h="441212">
                <a:tc>
                  <a:txBody>
                    <a:bodyPr/>
                    <a:lstStyle/>
                    <a:p>
                      <a:pPr algn="just">
                        <a:buNone/>
                      </a:pPr>
                      <a:r>
                        <a:rPr lang="en-IN" sz="2000" dirty="0">
                          <a:latin typeface="Times New Roman" panose="02020603050405020304" pitchFamily="18" charset="0"/>
                          <a:cs typeface="Times New Roman" panose="02020603050405020304" pitchFamily="18" charset="0"/>
                        </a:rPr>
                        <a:t>Attack Strategy</a:t>
                      </a:r>
                    </a:p>
                  </a:txBody>
                  <a:tcPr marL="77702" marR="77702" marT="38851" marB="38851" anchor="ctr"/>
                </a:tc>
                <a:tc>
                  <a:txBody>
                    <a:bodyPr/>
                    <a:lstStyle/>
                    <a:p>
                      <a:pPr algn="just">
                        <a:buNone/>
                      </a:pPr>
                      <a:r>
                        <a:rPr lang="en-IN" sz="2000">
                          <a:latin typeface="Times New Roman" panose="02020603050405020304" pitchFamily="18" charset="0"/>
                          <a:cs typeface="Times New Roman" panose="02020603050405020304" pitchFamily="18" charset="0"/>
                        </a:rPr>
                        <a:t>Low rate / Burst / Random</a:t>
                      </a:r>
                    </a:p>
                  </a:txBody>
                  <a:tcPr marL="77702" marR="77702" marT="38851" marB="38851" anchor="ctr"/>
                </a:tc>
                <a:extLst>
                  <a:ext uri="{0D108BD9-81ED-4DB2-BD59-A6C34878D82A}">
                    <a16:rowId xmlns:a16="http://schemas.microsoft.com/office/drawing/2014/main" val="2236999073"/>
                  </a:ext>
                </a:extLst>
              </a:tr>
              <a:tr h="441212">
                <a:tc>
                  <a:txBody>
                    <a:bodyPr/>
                    <a:lstStyle/>
                    <a:p>
                      <a:pPr algn="just">
                        <a:buNone/>
                      </a:pPr>
                      <a:r>
                        <a:rPr lang="en-IN" sz="2000" dirty="0">
                          <a:latin typeface="Times New Roman" panose="02020603050405020304" pitchFamily="18" charset="0"/>
                          <a:cs typeface="Times New Roman" panose="02020603050405020304" pitchFamily="18" charset="0"/>
                        </a:rPr>
                        <a:t>Rate Limiting</a:t>
                      </a:r>
                    </a:p>
                  </a:txBody>
                  <a:tcPr marL="77702" marR="77702" marT="38851" marB="38851" anchor="ctr"/>
                </a:tc>
                <a:tc>
                  <a:txBody>
                    <a:bodyPr/>
                    <a:lstStyle/>
                    <a:p>
                      <a:pPr algn="just">
                        <a:buNone/>
                      </a:pPr>
                      <a:r>
                        <a:rPr lang="en-IN" sz="2000">
                          <a:latin typeface="Times New Roman" panose="02020603050405020304" pitchFamily="18" charset="0"/>
                          <a:cs typeface="Times New Roman" panose="02020603050405020304" pitchFamily="18" charset="0"/>
                        </a:rPr>
                        <a:t>Requests per second control</a:t>
                      </a:r>
                    </a:p>
                  </a:txBody>
                  <a:tcPr marL="77702" marR="77702" marT="38851" marB="38851" anchor="ctr"/>
                </a:tc>
                <a:extLst>
                  <a:ext uri="{0D108BD9-81ED-4DB2-BD59-A6C34878D82A}">
                    <a16:rowId xmlns:a16="http://schemas.microsoft.com/office/drawing/2014/main" val="1199295865"/>
                  </a:ext>
                </a:extLst>
              </a:tr>
              <a:tr h="441212">
                <a:tc>
                  <a:txBody>
                    <a:bodyPr/>
                    <a:lstStyle/>
                    <a:p>
                      <a:pPr algn="just">
                        <a:buNone/>
                      </a:pPr>
                      <a:r>
                        <a:rPr lang="en-IN" sz="2000">
                          <a:latin typeface="Times New Roman" panose="02020603050405020304" pitchFamily="18" charset="0"/>
                          <a:cs typeface="Times New Roman" panose="02020603050405020304" pitchFamily="18" charset="0"/>
                        </a:rPr>
                        <a:t>Source (Attacker)</a:t>
                      </a:r>
                    </a:p>
                  </a:txBody>
                  <a:tcPr marL="77702" marR="77702" marT="38851" marB="38851" anchor="ctr"/>
                </a:tc>
                <a:tc>
                  <a:txBody>
                    <a:bodyPr/>
                    <a:lstStyle/>
                    <a:p>
                      <a:pPr algn="just">
                        <a:buNone/>
                      </a:pPr>
                      <a:r>
                        <a:rPr lang="en-IN" sz="2000" dirty="0">
                          <a:latin typeface="Times New Roman" panose="02020603050405020304" pitchFamily="18" charset="0"/>
                          <a:cs typeface="Times New Roman" panose="02020603050405020304" pitchFamily="18" charset="0"/>
                        </a:rPr>
                        <a:t>Kali Linux </a:t>
                      </a:r>
                    </a:p>
                  </a:txBody>
                  <a:tcPr marL="77702" marR="77702" marT="38851" marB="38851" anchor="ctr"/>
                </a:tc>
                <a:extLst>
                  <a:ext uri="{0D108BD9-81ED-4DB2-BD59-A6C34878D82A}">
                    <a16:rowId xmlns:a16="http://schemas.microsoft.com/office/drawing/2014/main" val="4176095225"/>
                  </a:ext>
                </a:extLst>
              </a:tr>
              <a:tr h="441212">
                <a:tc>
                  <a:txBody>
                    <a:bodyPr/>
                    <a:lstStyle/>
                    <a:p>
                      <a:pPr algn="just">
                        <a:buNone/>
                      </a:pPr>
                      <a:r>
                        <a:rPr lang="en-IN" sz="2000">
                          <a:latin typeface="Times New Roman" panose="02020603050405020304" pitchFamily="18" charset="0"/>
                          <a:cs typeface="Times New Roman" panose="02020603050405020304" pitchFamily="18" charset="0"/>
                        </a:rPr>
                        <a:t>Target System</a:t>
                      </a:r>
                    </a:p>
                  </a:txBody>
                  <a:tcPr marL="77702" marR="77702" marT="38851" marB="38851" anchor="ctr"/>
                </a:tc>
                <a:tc>
                  <a:txBody>
                    <a:bodyPr/>
                    <a:lstStyle/>
                    <a:p>
                      <a:pPr algn="just">
                        <a:buNone/>
                      </a:pPr>
                      <a:r>
                        <a:rPr lang="en-IN" sz="2000">
                          <a:latin typeface="Times New Roman" panose="02020603050405020304" pitchFamily="18" charset="0"/>
                          <a:cs typeface="Times New Roman" panose="02020603050405020304" pitchFamily="18" charset="0"/>
                        </a:rPr>
                        <a:t>Ubuntu Server</a:t>
                      </a:r>
                    </a:p>
                  </a:txBody>
                  <a:tcPr marL="77702" marR="77702" marT="38851" marB="38851" anchor="ctr"/>
                </a:tc>
                <a:extLst>
                  <a:ext uri="{0D108BD9-81ED-4DB2-BD59-A6C34878D82A}">
                    <a16:rowId xmlns:a16="http://schemas.microsoft.com/office/drawing/2014/main" val="3400234937"/>
                  </a:ext>
                </a:extLst>
              </a:tr>
              <a:tr h="441212">
                <a:tc>
                  <a:txBody>
                    <a:bodyPr/>
                    <a:lstStyle/>
                    <a:p>
                      <a:pPr algn="just">
                        <a:buNone/>
                      </a:pPr>
                      <a:r>
                        <a:rPr lang="en-IN" sz="2000">
                          <a:latin typeface="Times New Roman" panose="02020603050405020304" pitchFamily="18" charset="0"/>
                          <a:cs typeface="Times New Roman" panose="02020603050405020304" pitchFamily="18" charset="0"/>
                        </a:rPr>
                        <a:t>Monitoring Tools</a:t>
                      </a:r>
                    </a:p>
                  </a:txBody>
                  <a:tcPr marL="77702" marR="77702" marT="38851" marB="38851" anchor="ctr"/>
                </a:tc>
                <a:tc>
                  <a:txBody>
                    <a:bodyPr/>
                    <a:lstStyle/>
                    <a:p>
                      <a:pPr algn="just">
                        <a:buNone/>
                      </a:pPr>
                      <a:r>
                        <a:rPr lang="en-IN" sz="2000">
                          <a:latin typeface="Times New Roman" panose="02020603050405020304" pitchFamily="18" charset="0"/>
                          <a:cs typeface="Times New Roman" panose="02020603050405020304" pitchFamily="18" charset="0"/>
                        </a:rPr>
                        <a:t>Wireshark / Tcpdump / Snort</a:t>
                      </a:r>
                    </a:p>
                  </a:txBody>
                  <a:tcPr marL="77702" marR="77702" marT="38851" marB="38851" anchor="ctr"/>
                </a:tc>
                <a:extLst>
                  <a:ext uri="{0D108BD9-81ED-4DB2-BD59-A6C34878D82A}">
                    <a16:rowId xmlns:a16="http://schemas.microsoft.com/office/drawing/2014/main" val="3103174208"/>
                  </a:ext>
                </a:extLst>
              </a:tr>
              <a:tr h="441212">
                <a:tc>
                  <a:txBody>
                    <a:bodyPr/>
                    <a:lstStyle/>
                    <a:p>
                      <a:pPr algn="just">
                        <a:buNone/>
                      </a:pPr>
                      <a:r>
                        <a:rPr lang="en-IN" sz="2000">
                          <a:latin typeface="Times New Roman" panose="02020603050405020304" pitchFamily="18" charset="0"/>
                          <a:cs typeface="Times New Roman" panose="02020603050405020304" pitchFamily="18" charset="0"/>
                        </a:rPr>
                        <a:t>Metrics Observed</a:t>
                      </a:r>
                    </a:p>
                  </a:txBody>
                  <a:tcPr marL="77702" marR="77702" marT="38851" marB="38851" anchor="ctr"/>
                </a:tc>
                <a:tc>
                  <a:txBody>
                    <a:bodyPr/>
                    <a:lstStyle/>
                    <a:p>
                      <a:pPr algn="just">
                        <a:buNone/>
                      </a:pPr>
                      <a:r>
                        <a:rPr lang="en-US" sz="2000" dirty="0">
                          <a:latin typeface="Times New Roman" panose="02020603050405020304" pitchFamily="18" charset="0"/>
                          <a:cs typeface="Times New Roman" panose="02020603050405020304" pitchFamily="18" charset="0"/>
                        </a:rPr>
                        <a:t>Response Time, Throughput, Packet Loss</a:t>
                      </a:r>
                    </a:p>
                  </a:txBody>
                  <a:tcPr marL="77702" marR="77702" marT="38851" marB="38851" anchor="ctr"/>
                </a:tc>
                <a:extLst>
                  <a:ext uri="{0D108BD9-81ED-4DB2-BD59-A6C34878D82A}">
                    <a16:rowId xmlns:a16="http://schemas.microsoft.com/office/drawing/2014/main" val="70482810"/>
                  </a:ext>
                </a:extLst>
              </a:tr>
            </a:tbl>
          </a:graphicData>
        </a:graphic>
      </p:graphicFrame>
      <p:sp>
        <p:nvSpPr>
          <p:cNvPr id="7" name="Slide Number Placeholder 6">
            <a:extLst>
              <a:ext uri="{FF2B5EF4-FFF2-40B4-BE49-F238E27FC236}">
                <a16:creationId xmlns:a16="http://schemas.microsoft.com/office/drawing/2014/main" id="{8A9A1E6C-FD32-5876-A1D0-B3A0BE5AF47A}"/>
              </a:ext>
            </a:extLst>
          </p:cNvPr>
          <p:cNvSpPr>
            <a:spLocks noGrp="1"/>
          </p:cNvSpPr>
          <p:nvPr>
            <p:ph type="sldNum" sz="quarter" idx="12"/>
          </p:nvPr>
        </p:nvSpPr>
        <p:spPr/>
        <p:txBody>
          <a:bodyPr/>
          <a:lstStyle/>
          <a:p>
            <a:fld id="{29FACB4C-C362-4046-86B4-4C56FF9F32A5}" type="slidenum">
              <a:rPr lang="en-IN" smtClean="0"/>
              <a:t>11</a:t>
            </a:fld>
            <a:endParaRPr lang="en-IN"/>
          </a:p>
        </p:txBody>
      </p:sp>
    </p:spTree>
    <p:extLst>
      <p:ext uri="{BB962C8B-B14F-4D97-AF65-F5344CB8AC3E}">
        <p14:creationId xmlns:p14="http://schemas.microsoft.com/office/powerpoint/2010/main" val="16346773"/>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DA7CA6C-82EF-3B34-DB73-131CCB49E113}"/>
              </a:ext>
            </a:extLst>
          </p:cNvPr>
          <p:cNvSpPr>
            <a:spLocks noGrp="1"/>
          </p:cNvSpPr>
          <p:nvPr>
            <p:ph type="title"/>
          </p:nvPr>
        </p:nvSpPr>
        <p:spPr>
          <a:xfrm>
            <a:off x="0" y="1"/>
            <a:ext cx="11353800" cy="584461"/>
          </a:xfrm>
        </p:spPr>
        <p:txBody>
          <a:bodyPr>
            <a:normAutofit/>
          </a:bodyPr>
          <a:lstStyle/>
          <a:p>
            <a:r>
              <a:rPr lang="en-IN" sz="2200" dirty="0">
                <a:latin typeface="Times New Roman" panose="02020603050405020304" pitchFamily="18" charset="0"/>
                <a:cs typeface="Times New Roman" panose="02020603050405020304" pitchFamily="18" charset="0"/>
              </a:rPr>
              <a:t>DATA SET COMPARASION :</a:t>
            </a:r>
          </a:p>
        </p:txBody>
      </p:sp>
      <p:sp>
        <p:nvSpPr>
          <p:cNvPr id="3" name="Content Placeholder 2">
            <a:extLst>
              <a:ext uri="{FF2B5EF4-FFF2-40B4-BE49-F238E27FC236}">
                <a16:creationId xmlns:a16="http://schemas.microsoft.com/office/drawing/2014/main" id="{8FCC8344-65F0-8E84-BBBE-A077DA22A358}"/>
              </a:ext>
            </a:extLst>
          </p:cNvPr>
          <p:cNvSpPr>
            <a:spLocks noGrp="1"/>
          </p:cNvSpPr>
          <p:nvPr>
            <p:ph idx="1"/>
          </p:nvPr>
        </p:nvSpPr>
        <p:spPr>
          <a:xfrm>
            <a:off x="0" y="584462"/>
            <a:ext cx="12192000" cy="6273537"/>
          </a:xfrm>
        </p:spPr>
        <p:txBody>
          <a:bodyPr/>
          <a:lstStyle/>
          <a:p>
            <a:pPr lvl="0"/>
            <a:r>
              <a:rPr lang="en-IN" sz="2000" dirty="0">
                <a:latin typeface="Times New Roman" panose="02020603050405020304" pitchFamily="18" charset="0"/>
                <a:cs typeface="Times New Roman" panose="02020603050405020304" pitchFamily="18" charset="0"/>
              </a:rPr>
              <a:t>Comparison of the Canadian Institute for Cybersecurity (CIC) SYN Flood Attack 2017 CSV (syn.csv) with </a:t>
            </a:r>
            <a:r>
              <a:rPr lang="en-IN" sz="2000" dirty="0" err="1">
                <a:latin typeface="Times New Roman" panose="02020603050405020304" pitchFamily="18" charset="0"/>
                <a:cs typeface="Times New Roman" panose="02020603050405020304" pitchFamily="18" charset="0"/>
              </a:rPr>
              <a:t>p.cap</a:t>
            </a:r>
            <a:r>
              <a:rPr lang="en-IN" sz="2000" dirty="0">
                <a:latin typeface="Times New Roman" panose="02020603050405020304" pitchFamily="18" charset="0"/>
                <a:cs typeface="Times New Roman" panose="02020603050405020304" pitchFamily="18" charset="0"/>
              </a:rPr>
              <a:t> file generation in monitoring </a:t>
            </a:r>
            <a:r>
              <a:rPr lang="en-IN" sz="2000" dirty="0" err="1">
                <a:latin typeface="Times New Roman" panose="02020603050405020304" pitchFamily="18" charset="0"/>
                <a:cs typeface="Times New Roman" panose="02020603050405020304" pitchFamily="18" charset="0"/>
              </a:rPr>
              <a:t>vm</a:t>
            </a:r>
            <a:r>
              <a:rPr lang="en-IN" sz="2000" dirty="0">
                <a:latin typeface="Times New Roman" panose="02020603050405020304" pitchFamily="18" charset="0"/>
                <a:cs typeface="Times New Roman" panose="02020603050405020304" pitchFamily="18" charset="0"/>
              </a:rPr>
              <a:t> machine using wire shark enables us to know the scientific validation with real attack and simulator generator attack.</a:t>
            </a:r>
          </a:p>
          <a:p>
            <a:pPr marL="0" indent="0">
              <a:buNone/>
            </a:pPr>
            <a:endParaRPr lang="en-IN" dirty="0"/>
          </a:p>
        </p:txBody>
      </p:sp>
      <p:graphicFrame>
        <p:nvGraphicFramePr>
          <p:cNvPr id="4" name="Table 3">
            <a:extLst>
              <a:ext uri="{FF2B5EF4-FFF2-40B4-BE49-F238E27FC236}">
                <a16:creationId xmlns:a16="http://schemas.microsoft.com/office/drawing/2014/main" id="{0C59AA8A-0A19-DF8F-F017-FCF88F0DE40F}"/>
              </a:ext>
            </a:extLst>
          </p:cNvPr>
          <p:cNvGraphicFramePr>
            <a:graphicFrameLocks noGrp="1"/>
          </p:cNvGraphicFramePr>
          <p:nvPr>
            <p:extLst>
              <p:ext uri="{D42A27DB-BD31-4B8C-83A1-F6EECF244321}">
                <p14:modId xmlns:p14="http://schemas.microsoft.com/office/powerpoint/2010/main" val="470875199"/>
              </p:ext>
            </p:extLst>
          </p:nvPr>
        </p:nvGraphicFramePr>
        <p:xfrm>
          <a:off x="0" y="1649691"/>
          <a:ext cx="12192000" cy="5258644"/>
        </p:xfrm>
        <a:graphic>
          <a:graphicData uri="http://schemas.openxmlformats.org/drawingml/2006/table">
            <a:tbl>
              <a:tblPr>
                <a:tableStyleId>{775DCB02-9BB8-47FD-8907-85C794F793BA}</a:tableStyleId>
              </a:tblPr>
              <a:tblGrid>
                <a:gridCol w="4064000">
                  <a:extLst>
                    <a:ext uri="{9D8B030D-6E8A-4147-A177-3AD203B41FA5}">
                      <a16:colId xmlns:a16="http://schemas.microsoft.com/office/drawing/2014/main" val="1155176083"/>
                    </a:ext>
                  </a:extLst>
                </a:gridCol>
                <a:gridCol w="4064000">
                  <a:extLst>
                    <a:ext uri="{9D8B030D-6E8A-4147-A177-3AD203B41FA5}">
                      <a16:colId xmlns:a16="http://schemas.microsoft.com/office/drawing/2014/main" val="1784529270"/>
                    </a:ext>
                  </a:extLst>
                </a:gridCol>
                <a:gridCol w="4064000">
                  <a:extLst>
                    <a:ext uri="{9D8B030D-6E8A-4147-A177-3AD203B41FA5}">
                      <a16:colId xmlns:a16="http://schemas.microsoft.com/office/drawing/2014/main" val="3190414532"/>
                    </a:ext>
                  </a:extLst>
                </a:gridCol>
              </a:tblGrid>
              <a:tr h="639514">
                <a:tc>
                  <a:txBody>
                    <a:bodyPr/>
                    <a:lstStyle/>
                    <a:p>
                      <a:pPr>
                        <a:buNone/>
                      </a:pPr>
                      <a:r>
                        <a:rPr lang="en-IN" sz="2000" b="1">
                          <a:latin typeface="Times New Roman" panose="02020603050405020304" pitchFamily="18" charset="0"/>
                          <a:cs typeface="Times New Roman" panose="02020603050405020304" pitchFamily="18" charset="0"/>
                        </a:rPr>
                        <a:t>Feature</a:t>
                      </a:r>
                      <a:endParaRPr lang="en-IN" sz="2000">
                        <a:latin typeface="Times New Roman" panose="02020603050405020304" pitchFamily="18" charset="0"/>
                        <a:cs typeface="Times New Roman" panose="02020603050405020304" pitchFamily="18" charset="0"/>
                      </a:endParaRPr>
                    </a:p>
                  </a:txBody>
                  <a:tcPr marL="55080" marR="55080" marT="27540" marB="27540" anchor="ctr"/>
                </a:tc>
                <a:tc>
                  <a:txBody>
                    <a:bodyPr/>
                    <a:lstStyle/>
                    <a:p>
                      <a:pPr>
                        <a:buNone/>
                      </a:pPr>
                      <a:r>
                        <a:rPr lang="en-US" sz="2000" b="1" dirty="0">
                          <a:latin typeface="Times New Roman" panose="02020603050405020304" pitchFamily="18" charset="0"/>
                          <a:cs typeface="Times New Roman" panose="02020603050405020304" pitchFamily="18" charset="0"/>
                        </a:rPr>
                        <a:t>DDoS PCAP (HTTP Flood using </a:t>
                      </a:r>
                      <a:r>
                        <a:rPr lang="en-US" sz="2000" b="1" dirty="0" err="1">
                          <a:latin typeface="Times New Roman" panose="02020603050405020304" pitchFamily="18" charset="0"/>
                          <a:cs typeface="Times New Roman" panose="02020603050405020304" pitchFamily="18" charset="0"/>
                        </a:rPr>
                        <a:t>DDoSify</a:t>
                      </a:r>
                      <a:r>
                        <a:rPr lang="en-US" sz="2000" b="1" dirty="0">
                          <a:latin typeface="Times New Roman" panose="02020603050405020304" pitchFamily="18" charset="0"/>
                          <a:cs typeface="Times New Roman" panose="02020603050405020304" pitchFamily="18" charset="0"/>
                        </a:rPr>
                        <a:t>)</a:t>
                      </a:r>
                      <a:endParaRPr lang="en-US" sz="2000" dirty="0">
                        <a:latin typeface="Times New Roman" panose="02020603050405020304" pitchFamily="18" charset="0"/>
                        <a:cs typeface="Times New Roman" panose="02020603050405020304" pitchFamily="18" charset="0"/>
                      </a:endParaRPr>
                    </a:p>
                  </a:txBody>
                  <a:tcPr marL="55080" marR="55080" marT="27540" marB="27540" anchor="ctr"/>
                </a:tc>
                <a:tc>
                  <a:txBody>
                    <a:bodyPr/>
                    <a:lstStyle/>
                    <a:p>
                      <a:pPr>
                        <a:buNone/>
                      </a:pPr>
                      <a:r>
                        <a:rPr lang="en-IN" sz="2000" b="1">
                          <a:latin typeface="Times New Roman" panose="02020603050405020304" pitchFamily="18" charset="0"/>
                          <a:cs typeface="Times New Roman" panose="02020603050405020304" pitchFamily="18" charset="0"/>
                        </a:rPr>
                        <a:t>CIC-DDoS2017 PCAP (SYN Flood)</a:t>
                      </a:r>
                      <a:endParaRPr lang="en-IN" sz="2000">
                        <a:latin typeface="Times New Roman" panose="02020603050405020304" pitchFamily="18" charset="0"/>
                        <a:cs typeface="Times New Roman" panose="02020603050405020304" pitchFamily="18" charset="0"/>
                      </a:endParaRPr>
                    </a:p>
                  </a:txBody>
                  <a:tcPr marL="55080" marR="55080" marT="27540" marB="27540" anchor="ctr"/>
                </a:tc>
                <a:extLst>
                  <a:ext uri="{0D108BD9-81ED-4DB2-BD59-A6C34878D82A}">
                    <a16:rowId xmlns:a16="http://schemas.microsoft.com/office/drawing/2014/main" val="3266459697"/>
                  </a:ext>
                </a:extLst>
              </a:tr>
              <a:tr h="378608">
                <a:tc>
                  <a:txBody>
                    <a:bodyPr/>
                    <a:lstStyle/>
                    <a:p>
                      <a:pPr>
                        <a:buNone/>
                      </a:pPr>
                      <a:r>
                        <a:rPr lang="en-IN" sz="2000" b="1" dirty="0">
                          <a:latin typeface="Times New Roman" panose="02020603050405020304" pitchFamily="18" charset="0"/>
                          <a:cs typeface="Times New Roman" panose="02020603050405020304" pitchFamily="18" charset="0"/>
                        </a:rPr>
                        <a:t>Attack Type</a:t>
                      </a:r>
                      <a:endParaRPr lang="en-IN" sz="2000" dirty="0">
                        <a:latin typeface="Times New Roman" panose="02020603050405020304" pitchFamily="18" charset="0"/>
                        <a:cs typeface="Times New Roman" panose="02020603050405020304" pitchFamily="18" charset="0"/>
                      </a:endParaRPr>
                    </a:p>
                  </a:txBody>
                  <a:tcPr marL="55080" marR="55080" marT="27540" marB="27540" anchor="ctr"/>
                </a:tc>
                <a:tc>
                  <a:txBody>
                    <a:bodyPr/>
                    <a:lstStyle/>
                    <a:p>
                      <a:pPr>
                        <a:buNone/>
                      </a:pPr>
                      <a:r>
                        <a:rPr lang="en-IN" sz="2000">
                          <a:latin typeface="Times New Roman" panose="02020603050405020304" pitchFamily="18" charset="0"/>
                          <a:cs typeface="Times New Roman" panose="02020603050405020304" pitchFamily="18" charset="0"/>
                        </a:rPr>
                        <a:t>HTTP Flood</a:t>
                      </a:r>
                    </a:p>
                  </a:txBody>
                  <a:tcPr marL="55080" marR="55080" marT="27540" marB="27540" anchor="ctr"/>
                </a:tc>
                <a:tc>
                  <a:txBody>
                    <a:bodyPr/>
                    <a:lstStyle/>
                    <a:p>
                      <a:pPr>
                        <a:buNone/>
                      </a:pPr>
                      <a:r>
                        <a:rPr lang="en-IN" sz="2000">
                          <a:latin typeface="Times New Roman" panose="02020603050405020304" pitchFamily="18" charset="0"/>
                          <a:cs typeface="Times New Roman" panose="02020603050405020304" pitchFamily="18" charset="0"/>
                        </a:rPr>
                        <a:t>SYN Flood</a:t>
                      </a:r>
                    </a:p>
                  </a:txBody>
                  <a:tcPr marL="55080" marR="55080" marT="27540" marB="27540" anchor="ctr"/>
                </a:tc>
                <a:extLst>
                  <a:ext uri="{0D108BD9-81ED-4DB2-BD59-A6C34878D82A}">
                    <a16:rowId xmlns:a16="http://schemas.microsoft.com/office/drawing/2014/main" val="329760591"/>
                  </a:ext>
                </a:extLst>
              </a:tr>
              <a:tr h="378608">
                <a:tc>
                  <a:txBody>
                    <a:bodyPr/>
                    <a:lstStyle/>
                    <a:p>
                      <a:pPr>
                        <a:buNone/>
                      </a:pPr>
                      <a:r>
                        <a:rPr lang="en-IN" sz="2000" b="1" dirty="0">
                          <a:latin typeface="Times New Roman" panose="02020603050405020304" pitchFamily="18" charset="0"/>
                          <a:cs typeface="Times New Roman" panose="02020603050405020304" pitchFamily="18" charset="0"/>
                        </a:rPr>
                        <a:t>OSI Layer</a:t>
                      </a:r>
                      <a:endParaRPr lang="en-IN" sz="2000" dirty="0">
                        <a:latin typeface="Times New Roman" panose="02020603050405020304" pitchFamily="18" charset="0"/>
                        <a:cs typeface="Times New Roman" panose="02020603050405020304" pitchFamily="18" charset="0"/>
                      </a:endParaRPr>
                    </a:p>
                  </a:txBody>
                  <a:tcPr marL="55080" marR="55080" marT="27540" marB="27540" anchor="ctr"/>
                </a:tc>
                <a:tc>
                  <a:txBody>
                    <a:bodyPr/>
                    <a:lstStyle/>
                    <a:p>
                      <a:pPr>
                        <a:buNone/>
                      </a:pPr>
                      <a:r>
                        <a:rPr lang="en-IN" sz="2000">
                          <a:latin typeface="Times New Roman" panose="02020603050405020304" pitchFamily="18" charset="0"/>
                          <a:cs typeface="Times New Roman" panose="02020603050405020304" pitchFamily="18" charset="0"/>
                        </a:rPr>
                        <a:t>Application Layer (L7)</a:t>
                      </a:r>
                    </a:p>
                  </a:txBody>
                  <a:tcPr marL="55080" marR="55080" marT="27540" marB="27540" anchor="ctr"/>
                </a:tc>
                <a:tc>
                  <a:txBody>
                    <a:bodyPr/>
                    <a:lstStyle/>
                    <a:p>
                      <a:pPr>
                        <a:buNone/>
                      </a:pPr>
                      <a:r>
                        <a:rPr lang="en-IN" sz="2000">
                          <a:latin typeface="Times New Roman" panose="02020603050405020304" pitchFamily="18" charset="0"/>
                          <a:cs typeface="Times New Roman" panose="02020603050405020304" pitchFamily="18" charset="0"/>
                        </a:rPr>
                        <a:t>Transport Layer (L4)</a:t>
                      </a:r>
                    </a:p>
                  </a:txBody>
                  <a:tcPr marL="55080" marR="55080" marT="27540" marB="27540" anchor="ctr"/>
                </a:tc>
                <a:extLst>
                  <a:ext uri="{0D108BD9-81ED-4DB2-BD59-A6C34878D82A}">
                    <a16:rowId xmlns:a16="http://schemas.microsoft.com/office/drawing/2014/main" val="2221010515"/>
                  </a:ext>
                </a:extLst>
              </a:tr>
              <a:tr h="378608">
                <a:tc>
                  <a:txBody>
                    <a:bodyPr/>
                    <a:lstStyle/>
                    <a:p>
                      <a:pPr>
                        <a:buNone/>
                      </a:pPr>
                      <a:r>
                        <a:rPr lang="en-IN" sz="2000" b="1">
                          <a:latin typeface="Times New Roman" panose="02020603050405020304" pitchFamily="18" charset="0"/>
                          <a:cs typeface="Times New Roman" panose="02020603050405020304" pitchFamily="18" charset="0"/>
                        </a:rPr>
                        <a:t>Main Protocols</a:t>
                      </a:r>
                      <a:endParaRPr lang="en-IN" sz="2000">
                        <a:latin typeface="Times New Roman" panose="02020603050405020304" pitchFamily="18" charset="0"/>
                        <a:cs typeface="Times New Roman" panose="02020603050405020304" pitchFamily="18" charset="0"/>
                      </a:endParaRPr>
                    </a:p>
                  </a:txBody>
                  <a:tcPr marL="55080" marR="55080" marT="27540" marB="27540" anchor="ctr"/>
                </a:tc>
                <a:tc>
                  <a:txBody>
                    <a:bodyPr/>
                    <a:lstStyle/>
                    <a:p>
                      <a:pPr>
                        <a:buNone/>
                      </a:pPr>
                      <a:r>
                        <a:rPr lang="en-IN" sz="2000">
                          <a:latin typeface="Times New Roman" panose="02020603050405020304" pitchFamily="18" charset="0"/>
                          <a:cs typeface="Times New Roman" panose="02020603050405020304" pitchFamily="18" charset="0"/>
                        </a:rPr>
                        <a:t>HTTP + TCP</a:t>
                      </a:r>
                    </a:p>
                  </a:txBody>
                  <a:tcPr marL="55080" marR="55080" marT="27540" marB="27540" anchor="ctr"/>
                </a:tc>
                <a:tc>
                  <a:txBody>
                    <a:bodyPr/>
                    <a:lstStyle/>
                    <a:p>
                      <a:pPr>
                        <a:buNone/>
                      </a:pPr>
                      <a:r>
                        <a:rPr lang="en-IN" sz="2000">
                          <a:latin typeface="Times New Roman" panose="02020603050405020304" pitchFamily="18" charset="0"/>
                          <a:cs typeface="Times New Roman" panose="02020603050405020304" pitchFamily="18" charset="0"/>
                        </a:rPr>
                        <a:t>TCP</a:t>
                      </a:r>
                    </a:p>
                  </a:txBody>
                  <a:tcPr marL="55080" marR="55080" marT="27540" marB="27540" anchor="ctr"/>
                </a:tc>
                <a:extLst>
                  <a:ext uri="{0D108BD9-81ED-4DB2-BD59-A6C34878D82A}">
                    <a16:rowId xmlns:a16="http://schemas.microsoft.com/office/drawing/2014/main" val="2013906387"/>
                  </a:ext>
                </a:extLst>
              </a:tr>
              <a:tr h="378608">
                <a:tc>
                  <a:txBody>
                    <a:bodyPr/>
                    <a:lstStyle/>
                    <a:p>
                      <a:pPr>
                        <a:buNone/>
                      </a:pPr>
                      <a:r>
                        <a:rPr lang="en-IN" sz="2000" b="1" dirty="0">
                          <a:latin typeface="Times New Roman" panose="02020603050405020304" pitchFamily="18" charset="0"/>
                          <a:cs typeface="Times New Roman" panose="02020603050405020304" pitchFamily="18" charset="0"/>
                        </a:rPr>
                        <a:t>Traffic </a:t>
                      </a:r>
                      <a:r>
                        <a:rPr lang="en-IN" sz="2000" b="1" dirty="0" err="1">
                          <a:latin typeface="Times New Roman" panose="02020603050405020304" pitchFamily="18" charset="0"/>
                          <a:cs typeface="Times New Roman" panose="02020603050405020304" pitchFamily="18" charset="0"/>
                        </a:rPr>
                        <a:t>Behavior</a:t>
                      </a:r>
                      <a:endParaRPr lang="en-IN" sz="2000" dirty="0">
                        <a:latin typeface="Times New Roman" panose="02020603050405020304" pitchFamily="18" charset="0"/>
                        <a:cs typeface="Times New Roman" panose="02020603050405020304" pitchFamily="18" charset="0"/>
                      </a:endParaRPr>
                    </a:p>
                  </a:txBody>
                  <a:tcPr marL="55080" marR="55080" marT="27540" marB="27540" anchor="ctr"/>
                </a:tc>
                <a:tc>
                  <a:txBody>
                    <a:bodyPr/>
                    <a:lstStyle/>
                    <a:p>
                      <a:pPr>
                        <a:buNone/>
                      </a:pPr>
                      <a:r>
                        <a:rPr lang="en-IN" sz="2000">
                          <a:latin typeface="Times New Roman" panose="02020603050405020304" pitchFamily="18" charset="0"/>
                          <a:cs typeface="Times New Roman" panose="02020603050405020304" pitchFamily="18" charset="0"/>
                        </a:rPr>
                        <a:t>Full request-response cycle</a:t>
                      </a:r>
                    </a:p>
                  </a:txBody>
                  <a:tcPr marL="55080" marR="55080" marT="27540" marB="27540" anchor="ctr"/>
                </a:tc>
                <a:tc>
                  <a:txBody>
                    <a:bodyPr/>
                    <a:lstStyle/>
                    <a:p>
                      <a:pPr>
                        <a:buNone/>
                      </a:pPr>
                      <a:r>
                        <a:rPr lang="en-US" sz="2000">
                          <a:latin typeface="Times New Roman" panose="02020603050405020304" pitchFamily="18" charset="0"/>
                          <a:cs typeface="Times New Roman" panose="02020603050405020304" pitchFamily="18" charset="0"/>
                        </a:rPr>
                        <a:t>Only SYN packets sent repeatedly</a:t>
                      </a:r>
                    </a:p>
                  </a:txBody>
                  <a:tcPr marL="55080" marR="55080" marT="27540" marB="27540" anchor="ctr"/>
                </a:tc>
                <a:extLst>
                  <a:ext uri="{0D108BD9-81ED-4DB2-BD59-A6C34878D82A}">
                    <a16:rowId xmlns:a16="http://schemas.microsoft.com/office/drawing/2014/main" val="578254943"/>
                  </a:ext>
                </a:extLst>
              </a:tr>
              <a:tr h="639514">
                <a:tc>
                  <a:txBody>
                    <a:bodyPr/>
                    <a:lstStyle/>
                    <a:p>
                      <a:pPr>
                        <a:buNone/>
                      </a:pPr>
                      <a:r>
                        <a:rPr lang="en-IN" sz="2000" b="1">
                          <a:latin typeface="Times New Roman" panose="02020603050405020304" pitchFamily="18" charset="0"/>
                          <a:cs typeface="Times New Roman" panose="02020603050405020304" pitchFamily="18" charset="0"/>
                        </a:rPr>
                        <a:t>TCP Handshake</a:t>
                      </a:r>
                      <a:endParaRPr lang="en-IN" sz="2000">
                        <a:latin typeface="Times New Roman" panose="02020603050405020304" pitchFamily="18" charset="0"/>
                        <a:cs typeface="Times New Roman" panose="02020603050405020304" pitchFamily="18" charset="0"/>
                      </a:endParaRPr>
                    </a:p>
                  </a:txBody>
                  <a:tcPr marL="55080" marR="55080" marT="27540" marB="27540" anchor="ctr"/>
                </a:tc>
                <a:tc>
                  <a:txBody>
                    <a:bodyPr/>
                    <a:lstStyle/>
                    <a:p>
                      <a:pPr>
                        <a:buNone/>
                      </a:pPr>
                      <a:r>
                        <a:rPr lang="en-IN" sz="2000">
                          <a:latin typeface="Times New Roman" panose="02020603050405020304" pitchFamily="18" charset="0"/>
                          <a:cs typeface="Times New Roman" panose="02020603050405020304" pitchFamily="18" charset="0"/>
                        </a:rPr>
                        <a:t>Completed (SYN → SYN-ACK → ACK)</a:t>
                      </a:r>
                    </a:p>
                  </a:txBody>
                  <a:tcPr marL="55080" marR="55080" marT="27540" marB="27540" anchor="ctr"/>
                </a:tc>
                <a:tc>
                  <a:txBody>
                    <a:bodyPr/>
                    <a:lstStyle/>
                    <a:p>
                      <a:pPr>
                        <a:buNone/>
                      </a:pPr>
                      <a:r>
                        <a:rPr lang="en-IN" sz="2000">
                          <a:latin typeface="Times New Roman" panose="02020603050405020304" pitchFamily="18" charset="0"/>
                          <a:cs typeface="Times New Roman" panose="02020603050405020304" pitchFamily="18" charset="0"/>
                        </a:rPr>
                        <a:t>Not completed (only SYN)</a:t>
                      </a:r>
                    </a:p>
                  </a:txBody>
                  <a:tcPr marL="55080" marR="55080" marT="27540" marB="27540" anchor="ctr"/>
                </a:tc>
                <a:extLst>
                  <a:ext uri="{0D108BD9-81ED-4DB2-BD59-A6C34878D82A}">
                    <a16:rowId xmlns:a16="http://schemas.microsoft.com/office/drawing/2014/main" val="158574532"/>
                  </a:ext>
                </a:extLst>
              </a:tr>
              <a:tr h="378608">
                <a:tc>
                  <a:txBody>
                    <a:bodyPr/>
                    <a:lstStyle/>
                    <a:p>
                      <a:pPr>
                        <a:buNone/>
                      </a:pPr>
                      <a:r>
                        <a:rPr lang="en-IN" sz="2000" b="1">
                          <a:latin typeface="Times New Roman" panose="02020603050405020304" pitchFamily="18" charset="0"/>
                          <a:cs typeface="Times New Roman" panose="02020603050405020304" pitchFamily="18" charset="0"/>
                        </a:rPr>
                        <a:t>Packet Pattern</a:t>
                      </a:r>
                      <a:endParaRPr lang="en-IN" sz="2000">
                        <a:latin typeface="Times New Roman" panose="02020603050405020304" pitchFamily="18" charset="0"/>
                        <a:cs typeface="Times New Roman" panose="02020603050405020304" pitchFamily="18" charset="0"/>
                      </a:endParaRPr>
                    </a:p>
                  </a:txBody>
                  <a:tcPr marL="55080" marR="55080" marT="27540" marB="27540" anchor="ctr"/>
                </a:tc>
                <a:tc>
                  <a:txBody>
                    <a:bodyPr/>
                    <a:lstStyle/>
                    <a:p>
                      <a:pPr>
                        <a:buNone/>
                      </a:pPr>
                      <a:r>
                        <a:rPr lang="en-IN" sz="2000" dirty="0">
                          <a:latin typeface="Times New Roman" panose="02020603050405020304" pitchFamily="18" charset="0"/>
                          <a:cs typeface="Times New Roman" panose="02020603050405020304" pitchFamily="18" charset="0"/>
                        </a:rPr>
                        <a:t>HTTP GET/POST requests</a:t>
                      </a:r>
                    </a:p>
                  </a:txBody>
                  <a:tcPr marL="55080" marR="55080" marT="27540" marB="27540" anchor="ctr"/>
                </a:tc>
                <a:tc>
                  <a:txBody>
                    <a:bodyPr/>
                    <a:lstStyle/>
                    <a:p>
                      <a:pPr>
                        <a:buNone/>
                      </a:pPr>
                      <a:r>
                        <a:rPr lang="en-IN" sz="2000" dirty="0">
                          <a:latin typeface="Times New Roman" panose="02020603050405020304" pitchFamily="18" charset="0"/>
                          <a:cs typeface="Times New Roman" panose="02020603050405020304" pitchFamily="18" charset="0"/>
                        </a:rPr>
                        <a:t>Continuous SYN packets</a:t>
                      </a:r>
                    </a:p>
                  </a:txBody>
                  <a:tcPr marL="55080" marR="55080" marT="27540" marB="27540" anchor="ctr"/>
                </a:tc>
                <a:extLst>
                  <a:ext uri="{0D108BD9-81ED-4DB2-BD59-A6C34878D82A}">
                    <a16:rowId xmlns:a16="http://schemas.microsoft.com/office/drawing/2014/main" val="3246682382"/>
                  </a:ext>
                </a:extLst>
              </a:tr>
              <a:tr h="639514">
                <a:tc>
                  <a:txBody>
                    <a:bodyPr/>
                    <a:lstStyle/>
                    <a:p>
                      <a:pPr>
                        <a:buNone/>
                      </a:pPr>
                      <a:r>
                        <a:rPr lang="en-IN" sz="2000" b="1">
                          <a:latin typeface="Times New Roman" panose="02020603050405020304" pitchFamily="18" charset="0"/>
                          <a:cs typeface="Times New Roman" panose="02020603050405020304" pitchFamily="18" charset="0"/>
                        </a:rPr>
                        <a:t>Wireshark Filter</a:t>
                      </a:r>
                      <a:endParaRPr lang="en-IN" sz="2000">
                        <a:latin typeface="Times New Roman" panose="02020603050405020304" pitchFamily="18" charset="0"/>
                        <a:cs typeface="Times New Roman" panose="02020603050405020304" pitchFamily="18" charset="0"/>
                      </a:endParaRPr>
                    </a:p>
                  </a:txBody>
                  <a:tcPr marL="55080" marR="55080" marT="27540" marB="27540" anchor="ctr"/>
                </a:tc>
                <a:tc>
                  <a:txBody>
                    <a:bodyPr/>
                    <a:lstStyle/>
                    <a:p>
                      <a:pPr>
                        <a:buNone/>
                      </a:pPr>
                      <a:r>
                        <a:rPr lang="en-IN" sz="2000">
                          <a:latin typeface="Times New Roman" panose="02020603050405020304" pitchFamily="18" charset="0"/>
                          <a:cs typeface="Times New Roman" panose="02020603050405020304" pitchFamily="18" charset="0"/>
                        </a:rPr>
                        <a:t>http</a:t>
                      </a:r>
                    </a:p>
                  </a:txBody>
                  <a:tcPr marL="55080" marR="55080" marT="27540" marB="27540" anchor="ctr"/>
                </a:tc>
                <a:tc>
                  <a:txBody>
                    <a:bodyPr/>
                    <a:lstStyle/>
                    <a:p>
                      <a:pPr>
                        <a:buNone/>
                      </a:pPr>
                      <a:r>
                        <a:rPr lang="en-IN" sz="2000">
                          <a:latin typeface="Times New Roman" panose="02020603050405020304" pitchFamily="18" charset="0"/>
                          <a:cs typeface="Times New Roman" panose="02020603050405020304" pitchFamily="18" charset="0"/>
                        </a:rPr>
                        <a:t>tcp.flags.syn==1 &amp;&amp; tcp.flags.ack==0</a:t>
                      </a:r>
                    </a:p>
                  </a:txBody>
                  <a:tcPr marL="55080" marR="55080" marT="27540" marB="27540" anchor="ctr"/>
                </a:tc>
                <a:extLst>
                  <a:ext uri="{0D108BD9-81ED-4DB2-BD59-A6C34878D82A}">
                    <a16:rowId xmlns:a16="http://schemas.microsoft.com/office/drawing/2014/main" val="1573757625"/>
                  </a:ext>
                </a:extLst>
              </a:tr>
              <a:tr h="378608">
                <a:tc>
                  <a:txBody>
                    <a:bodyPr/>
                    <a:lstStyle/>
                    <a:p>
                      <a:pPr>
                        <a:buNone/>
                      </a:pPr>
                      <a:r>
                        <a:rPr lang="en-IN" sz="2000" b="1">
                          <a:latin typeface="Times New Roman" panose="02020603050405020304" pitchFamily="18" charset="0"/>
                          <a:cs typeface="Times New Roman" panose="02020603050405020304" pitchFamily="18" charset="0"/>
                        </a:rPr>
                        <a:t>Packet Rate</a:t>
                      </a:r>
                      <a:endParaRPr lang="en-IN" sz="2000">
                        <a:latin typeface="Times New Roman" panose="02020603050405020304" pitchFamily="18" charset="0"/>
                        <a:cs typeface="Times New Roman" panose="02020603050405020304" pitchFamily="18" charset="0"/>
                      </a:endParaRPr>
                    </a:p>
                  </a:txBody>
                  <a:tcPr marL="55080" marR="55080" marT="27540" marB="27540" anchor="ctr"/>
                </a:tc>
                <a:tc>
                  <a:txBody>
                    <a:bodyPr/>
                    <a:lstStyle/>
                    <a:p>
                      <a:pPr>
                        <a:buNone/>
                      </a:pPr>
                      <a:r>
                        <a:rPr lang="en-IN" sz="2000">
                          <a:latin typeface="Times New Roman" panose="02020603050405020304" pitchFamily="18" charset="0"/>
                          <a:cs typeface="Times New Roman" panose="02020603050405020304" pitchFamily="18" charset="0"/>
                        </a:rPr>
                        <a:t>High but structured</a:t>
                      </a:r>
                    </a:p>
                  </a:txBody>
                  <a:tcPr marL="55080" marR="55080" marT="27540" marB="27540" anchor="ctr"/>
                </a:tc>
                <a:tc>
                  <a:txBody>
                    <a:bodyPr/>
                    <a:lstStyle/>
                    <a:p>
                      <a:pPr>
                        <a:buNone/>
                      </a:pPr>
                      <a:r>
                        <a:rPr lang="en-IN" sz="2000">
                          <a:latin typeface="Times New Roman" panose="02020603050405020304" pitchFamily="18" charset="0"/>
                          <a:cs typeface="Times New Roman" panose="02020603050405020304" pitchFamily="18" charset="0"/>
                        </a:rPr>
                        <a:t>Extremely high and bursty</a:t>
                      </a:r>
                    </a:p>
                  </a:txBody>
                  <a:tcPr marL="55080" marR="55080" marT="27540" marB="27540" anchor="ctr"/>
                </a:tc>
                <a:extLst>
                  <a:ext uri="{0D108BD9-81ED-4DB2-BD59-A6C34878D82A}">
                    <a16:rowId xmlns:a16="http://schemas.microsoft.com/office/drawing/2014/main" val="4027506171"/>
                  </a:ext>
                </a:extLst>
              </a:tr>
              <a:tr h="639514">
                <a:tc>
                  <a:txBody>
                    <a:bodyPr/>
                    <a:lstStyle/>
                    <a:p>
                      <a:pPr>
                        <a:buNone/>
                      </a:pPr>
                      <a:r>
                        <a:rPr lang="en-IN" sz="2000" b="1">
                          <a:latin typeface="Times New Roman" panose="02020603050405020304" pitchFamily="18" charset="0"/>
                          <a:cs typeface="Times New Roman" panose="02020603050405020304" pitchFamily="18" charset="0"/>
                        </a:rPr>
                        <a:t>Example Tool Used</a:t>
                      </a:r>
                      <a:endParaRPr lang="en-IN" sz="2000">
                        <a:latin typeface="Times New Roman" panose="02020603050405020304" pitchFamily="18" charset="0"/>
                        <a:cs typeface="Times New Roman" panose="02020603050405020304" pitchFamily="18" charset="0"/>
                      </a:endParaRPr>
                    </a:p>
                  </a:txBody>
                  <a:tcPr marL="55080" marR="55080" marT="27540" marB="27540" anchor="ctr"/>
                </a:tc>
                <a:tc>
                  <a:txBody>
                    <a:bodyPr/>
                    <a:lstStyle/>
                    <a:p>
                      <a:pPr>
                        <a:buNone/>
                      </a:pPr>
                      <a:r>
                        <a:rPr lang="en-IN" sz="2000" dirty="0" err="1">
                          <a:latin typeface="Times New Roman" panose="02020603050405020304" pitchFamily="18" charset="0"/>
                          <a:cs typeface="Times New Roman" panose="02020603050405020304" pitchFamily="18" charset="0"/>
                        </a:rPr>
                        <a:t>DDoSify</a:t>
                      </a:r>
                      <a:endParaRPr lang="en-IN" sz="2000" dirty="0">
                        <a:latin typeface="Times New Roman" panose="02020603050405020304" pitchFamily="18" charset="0"/>
                        <a:cs typeface="Times New Roman" panose="02020603050405020304" pitchFamily="18" charset="0"/>
                      </a:endParaRPr>
                    </a:p>
                  </a:txBody>
                  <a:tcPr marL="55080" marR="55080" marT="27540" marB="27540" anchor="ctr"/>
                </a:tc>
                <a:tc>
                  <a:txBody>
                    <a:bodyPr/>
                    <a:lstStyle/>
                    <a:p>
                      <a:pPr>
                        <a:buNone/>
                      </a:pPr>
                      <a:r>
                        <a:rPr lang="en-IN" sz="2000" dirty="0">
                          <a:latin typeface="Times New Roman" panose="02020603050405020304" pitchFamily="18" charset="0"/>
                          <a:cs typeface="Times New Roman" panose="02020603050405020304" pitchFamily="18" charset="0"/>
                        </a:rPr>
                        <a:t>Dataset (pre-captured attack traffic)</a:t>
                      </a:r>
                    </a:p>
                  </a:txBody>
                  <a:tcPr marL="55080" marR="55080" marT="27540" marB="27540" anchor="ctr"/>
                </a:tc>
                <a:extLst>
                  <a:ext uri="{0D108BD9-81ED-4DB2-BD59-A6C34878D82A}">
                    <a16:rowId xmlns:a16="http://schemas.microsoft.com/office/drawing/2014/main" val="1144465592"/>
                  </a:ext>
                </a:extLst>
              </a:tr>
              <a:tr h="378608">
                <a:tc>
                  <a:txBody>
                    <a:bodyPr/>
                    <a:lstStyle/>
                    <a:p>
                      <a:pPr>
                        <a:buNone/>
                      </a:pPr>
                      <a:r>
                        <a:rPr lang="en-IN" sz="2000" b="1">
                          <a:latin typeface="Times New Roman" panose="02020603050405020304" pitchFamily="18" charset="0"/>
                          <a:cs typeface="Times New Roman" panose="02020603050405020304" pitchFamily="18" charset="0"/>
                        </a:rPr>
                        <a:t>Defense Mechanism</a:t>
                      </a:r>
                      <a:endParaRPr lang="en-IN" sz="2000">
                        <a:latin typeface="Times New Roman" panose="02020603050405020304" pitchFamily="18" charset="0"/>
                        <a:cs typeface="Times New Roman" panose="02020603050405020304" pitchFamily="18" charset="0"/>
                      </a:endParaRPr>
                    </a:p>
                  </a:txBody>
                  <a:tcPr marL="55080" marR="55080" marT="27540" marB="27540" anchor="ctr"/>
                </a:tc>
                <a:tc>
                  <a:txBody>
                    <a:bodyPr/>
                    <a:lstStyle/>
                    <a:p>
                      <a:pPr>
                        <a:buNone/>
                      </a:pPr>
                      <a:r>
                        <a:rPr lang="en-IN" sz="2000" dirty="0">
                          <a:latin typeface="Times New Roman" panose="02020603050405020304" pitchFamily="18" charset="0"/>
                          <a:cs typeface="Times New Roman" panose="02020603050405020304" pitchFamily="18" charset="0"/>
                        </a:rPr>
                        <a:t>Rate limiting, fail2ban</a:t>
                      </a:r>
                    </a:p>
                  </a:txBody>
                  <a:tcPr marL="55080" marR="55080" marT="27540" marB="27540" anchor="ctr"/>
                </a:tc>
                <a:tc>
                  <a:txBody>
                    <a:bodyPr/>
                    <a:lstStyle/>
                    <a:p>
                      <a:pPr>
                        <a:buNone/>
                      </a:pPr>
                      <a:r>
                        <a:rPr lang="en-IN" sz="2000" dirty="0">
                          <a:latin typeface="Times New Roman" panose="02020603050405020304" pitchFamily="18" charset="0"/>
                          <a:cs typeface="Times New Roman" panose="02020603050405020304" pitchFamily="18" charset="0"/>
                        </a:rPr>
                        <a:t>SYN cookies, firewall rules</a:t>
                      </a:r>
                    </a:p>
                  </a:txBody>
                  <a:tcPr marL="55080" marR="55080" marT="27540" marB="27540" anchor="ctr"/>
                </a:tc>
                <a:extLst>
                  <a:ext uri="{0D108BD9-81ED-4DB2-BD59-A6C34878D82A}">
                    <a16:rowId xmlns:a16="http://schemas.microsoft.com/office/drawing/2014/main" val="3364865776"/>
                  </a:ext>
                </a:extLst>
              </a:tr>
            </a:tbl>
          </a:graphicData>
        </a:graphic>
      </p:graphicFrame>
      <p:sp>
        <p:nvSpPr>
          <p:cNvPr id="7" name="Slide Number Placeholder 6">
            <a:extLst>
              <a:ext uri="{FF2B5EF4-FFF2-40B4-BE49-F238E27FC236}">
                <a16:creationId xmlns:a16="http://schemas.microsoft.com/office/drawing/2014/main" id="{D703AA31-A220-26AE-828A-D90338C42B7B}"/>
              </a:ext>
            </a:extLst>
          </p:cNvPr>
          <p:cNvSpPr>
            <a:spLocks noGrp="1"/>
          </p:cNvSpPr>
          <p:nvPr>
            <p:ph type="sldNum" sz="quarter" idx="12"/>
          </p:nvPr>
        </p:nvSpPr>
        <p:spPr/>
        <p:txBody>
          <a:bodyPr/>
          <a:lstStyle/>
          <a:p>
            <a:fld id="{29FACB4C-C362-4046-86B4-4C56FF9F32A5}" type="slidenum">
              <a:rPr lang="en-IN" smtClean="0"/>
              <a:t>12</a:t>
            </a:fld>
            <a:endParaRPr lang="en-IN"/>
          </a:p>
        </p:txBody>
      </p:sp>
    </p:spTree>
    <p:extLst>
      <p:ext uri="{BB962C8B-B14F-4D97-AF65-F5344CB8AC3E}">
        <p14:creationId xmlns:p14="http://schemas.microsoft.com/office/powerpoint/2010/main" val="3776236877"/>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F410144-6CEE-DA78-F469-22BDE04C1BE0}"/>
              </a:ext>
            </a:extLst>
          </p:cNvPr>
          <p:cNvSpPr>
            <a:spLocks noGrp="1"/>
          </p:cNvSpPr>
          <p:nvPr>
            <p:ph type="title"/>
          </p:nvPr>
        </p:nvSpPr>
        <p:spPr>
          <a:xfrm>
            <a:off x="0" y="0"/>
            <a:ext cx="11353800" cy="866274"/>
          </a:xfrm>
        </p:spPr>
        <p:txBody>
          <a:bodyPr>
            <a:normAutofit/>
          </a:bodyPr>
          <a:lstStyle/>
          <a:p>
            <a:r>
              <a:rPr lang="en-IN" sz="2200" dirty="0">
                <a:latin typeface="Times New Roman" panose="02020603050405020304" pitchFamily="18" charset="0"/>
                <a:cs typeface="Times New Roman" panose="02020603050405020304" pitchFamily="18" charset="0"/>
              </a:rPr>
              <a:t>SYSTEM DESIGN :</a:t>
            </a:r>
          </a:p>
        </p:txBody>
      </p:sp>
      <p:pic>
        <p:nvPicPr>
          <p:cNvPr id="5" name="Content Placeholder 4">
            <a:extLst>
              <a:ext uri="{FF2B5EF4-FFF2-40B4-BE49-F238E27FC236}">
                <a16:creationId xmlns:a16="http://schemas.microsoft.com/office/drawing/2014/main" id="{FE28AEA5-7642-F405-3C23-C1FD72D6EC5C}"/>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66275"/>
            <a:ext cx="12192000" cy="5991726"/>
          </a:xfrm>
          <a:prstGeom prst="rect">
            <a:avLst/>
          </a:prstGeom>
        </p:spPr>
      </p:pic>
      <p:sp>
        <p:nvSpPr>
          <p:cNvPr id="8" name="Slide Number Placeholder 7">
            <a:extLst>
              <a:ext uri="{FF2B5EF4-FFF2-40B4-BE49-F238E27FC236}">
                <a16:creationId xmlns:a16="http://schemas.microsoft.com/office/drawing/2014/main" id="{21AEE650-5114-E725-2C1A-E6AB46F63A13}"/>
              </a:ext>
            </a:extLst>
          </p:cNvPr>
          <p:cNvSpPr>
            <a:spLocks noGrp="1"/>
          </p:cNvSpPr>
          <p:nvPr>
            <p:ph type="sldNum" sz="quarter" idx="12"/>
          </p:nvPr>
        </p:nvSpPr>
        <p:spPr/>
        <p:txBody>
          <a:bodyPr/>
          <a:lstStyle/>
          <a:p>
            <a:fld id="{29FACB4C-C362-4046-86B4-4C56FF9F32A5}" type="slidenum">
              <a:rPr lang="en-IN" smtClean="0"/>
              <a:t>13</a:t>
            </a:fld>
            <a:endParaRPr lang="en-IN"/>
          </a:p>
        </p:txBody>
      </p:sp>
    </p:spTree>
    <p:extLst>
      <p:ext uri="{BB962C8B-B14F-4D97-AF65-F5344CB8AC3E}">
        <p14:creationId xmlns:p14="http://schemas.microsoft.com/office/powerpoint/2010/main" val="539811611"/>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6DFF6083-C2DE-7971-A173-0B64490380A5}"/>
              </a:ext>
            </a:extLst>
          </p:cNvPr>
          <p:cNvSpPr>
            <a:spLocks noGrp="1"/>
          </p:cNvSpPr>
          <p:nvPr>
            <p:ph type="title"/>
          </p:nvPr>
        </p:nvSpPr>
        <p:spPr>
          <a:xfrm>
            <a:off x="0" y="1"/>
            <a:ext cx="11353800" cy="914399"/>
          </a:xfrm>
        </p:spPr>
        <p:txBody>
          <a:bodyPr>
            <a:normAutofit/>
          </a:bodyPr>
          <a:lstStyle/>
          <a:p>
            <a:r>
              <a:rPr lang="en-IN" sz="2200" dirty="0">
                <a:latin typeface="Times New Roman" panose="02020603050405020304" pitchFamily="18" charset="0"/>
                <a:cs typeface="Times New Roman" panose="02020603050405020304" pitchFamily="18" charset="0"/>
              </a:rPr>
              <a:t>SOFTWARE REQUIREMENTS :</a:t>
            </a:r>
          </a:p>
        </p:txBody>
      </p:sp>
      <p:graphicFrame>
        <p:nvGraphicFramePr>
          <p:cNvPr id="4" name="Content Placeholder 3">
            <a:extLst>
              <a:ext uri="{FF2B5EF4-FFF2-40B4-BE49-F238E27FC236}">
                <a16:creationId xmlns:a16="http://schemas.microsoft.com/office/drawing/2014/main" id="{1ACE6140-916B-8855-B1E6-83CDC0AFE24F}"/>
              </a:ext>
            </a:extLst>
          </p:cNvPr>
          <p:cNvGraphicFramePr>
            <a:graphicFrameLocks noGrp="1"/>
          </p:cNvGraphicFramePr>
          <p:nvPr>
            <p:ph idx="1"/>
            <p:extLst>
              <p:ext uri="{D42A27DB-BD31-4B8C-83A1-F6EECF244321}">
                <p14:modId xmlns:p14="http://schemas.microsoft.com/office/powerpoint/2010/main" val="1592277271"/>
              </p:ext>
            </p:extLst>
          </p:nvPr>
        </p:nvGraphicFramePr>
        <p:xfrm>
          <a:off x="0" y="705853"/>
          <a:ext cx="12192000" cy="6152146"/>
        </p:xfrm>
        <a:graphic>
          <a:graphicData uri="http://schemas.openxmlformats.org/drawingml/2006/table">
            <a:tbl>
              <a:tblPr>
                <a:tableStyleId>{775DCB02-9BB8-47FD-8907-85C794F793BA}</a:tableStyleId>
              </a:tblPr>
              <a:tblGrid>
                <a:gridCol w="4064000">
                  <a:extLst>
                    <a:ext uri="{9D8B030D-6E8A-4147-A177-3AD203B41FA5}">
                      <a16:colId xmlns:a16="http://schemas.microsoft.com/office/drawing/2014/main" val="3073505916"/>
                    </a:ext>
                  </a:extLst>
                </a:gridCol>
                <a:gridCol w="4064000">
                  <a:extLst>
                    <a:ext uri="{9D8B030D-6E8A-4147-A177-3AD203B41FA5}">
                      <a16:colId xmlns:a16="http://schemas.microsoft.com/office/drawing/2014/main" val="857159687"/>
                    </a:ext>
                  </a:extLst>
                </a:gridCol>
                <a:gridCol w="4064000">
                  <a:extLst>
                    <a:ext uri="{9D8B030D-6E8A-4147-A177-3AD203B41FA5}">
                      <a16:colId xmlns:a16="http://schemas.microsoft.com/office/drawing/2014/main" val="1990001133"/>
                    </a:ext>
                  </a:extLst>
                </a:gridCol>
              </a:tblGrid>
              <a:tr h="559286">
                <a:tc>
                  <a:txBody>
                    <a:bodyPr/>
                    <a:lstStyle/>
                    <a:p>
                      <a:pPr>
                        <a:buNone/>
                      </a:pPr>
                      <a:r>
                        <a:rPr lang="en-IN" sz="2000" b="1" dirty="0">
                          <a:latin typeface="Times New Roman" panose="02020603050405020304" pitchFamily="18" charset="0"/>
                          <a:cs typeface="Times New Roman" panose="02020603050405020304" pitchFamily="18" charset="0"/>
                        </a:rPr>
                        <a:t>Software</a:t>
                      </a:r>
                    </a:p>
                  </a:txBody>
                  <a:tcPr anchor="ctr"/>
                </a:tc>
                <a:tc>
                  <a:txBody>
                    <a:bodyPr/>
                    <a:lstStyle/>
                    <a:p>
                      <a:pPr>
                        <a:buNone/>
                      </a:pPr>
                      <a:r>
                        <a:rPr lang="en-IN" sz="2000" b="1" dirty="0">
                          <a:latin typeface="Times New Roman" panose="02020603050405020304" pitchFamily="18" charset="0"/>
                          <a:cs typeface="Times New Roman" panose="02020603050405020304" pitchFamily="18" charset="0"/>
                        </a:rPr>
                        <a:t>Purpose</a:t>
                      </a:r>
                    </a:p>
                  </a:txBody>
                  <a:tcPr anchor="ctr"/>
                </a:tc>
                <a:tc>
                  <a:txBody>
                    <a:bodyPr/>
                    <a:lstStyle/>
                    <a:p>
                      <a:pPr>
                        <a:buNone/>
                      </a:pPr>
                      <a:r>
                        <a:rPr lang="en-IN" sz="2000" b="1" dirty="0">
                          <a:latin typeface="Times New Roman" panose="02020603050405020304" pitchFamily="18" charset="0"/>
                          <a:cs typeface="Times New Roman" panose="02020603050405020304" pitchFamily="18" charset="0"/>
                        </a:rPr>
                        <a:t>Version</a:t>
                      </a:r>
                    </a:p>
                  </a:txBody>
                  <a:tcPr anchor="ctr"/>
                </a:tc>
                <a:extLst>
                  <a:ext uri="{0D108BD9-81ED-4DB2-BD59-A6C34878D82A}">
                    <a16:rowId xmlns:a16="http://schemas.microsoft.com/office/drawing/2014/main" val="422648442"/>
                  </a:ext>
                </a:extLst>
              </a:tr>
              <a:tr h="559286">
                <a:tc>
                  <a:txBody>
                    <a:bodyPr/>
                    <a:lstStyle/>
                    <a:p>
                      <a:pPr>
                        <a:buNone/>
                      </a:pPr>
                      <a:r>
                        <a:rPr lang="en-IN" sz="2000" dirty="0">
                          <a:latin typeface="Times New Roman" panose="02020603050405020304" pitchFamily="18" charset="0"/>
                          <a:cs typeface="Times New Roman" panose="02020603050405020304" pitchFamily="18" charset="0"/>
                        </a:rPr>
                        <a:t>Kali Linux</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Attacker OS</a:t>
                      </a:r>
                    </a:p>
                  </a:txBody>
                  <a:tcPr anchor="ctr"/>
                </a:tc>
                <a:tc>
                  <a:txBody>
                    <a:bodyPr/>
                    <a:lstStyle/>
                    <a:p>
                      <a:pPr>
                        <a:buNone/>
                      </a:pPr>
                      <a:r>
                        <a:rPr lang="en-IN" sz="2000">
                          <a:latin typeface="Times New Roman" panose="02020603050405020304" pitchFamily="18" charset="0"/>
                          <a:cs typeface="Times New Roman" panose="02020603050405020304" pitchFamily="18" charset="0"/>
                        </a:rPr>
                        <a:t>Latest</a:t>
                      </a:r>
                    </a:p>
                  </a:txBody>
                  <a:tcPr anchor="ctr"/>
                </a:tc>
                <a:extLst>
                  <a:ext uri="{0D108BD9-81ED-4DB2-BD59-A6C34878D82A}">
                    <a16:rowId xmlns:a16="http://schemas.microsoft.com/office/drawing/2014/main" val="1931022714"/>
                  </a:ext>
                </a:extLst>
              </a:tr>
              <a:tr h="559286">
                <a:tc>
                  <a:txBody>
                    <a:bodyPr/>
                    <a:lstStyle/>
                    <a:p>
                      <a:pPr>
                        <a:buNone/>
                      </a:pPr>
                      <a:r>
                        <a:rPr lang="en-IN" sz="2000" dirty="0">
                          <a:latin typeface="Times New Roman" panose="02020603050405020304" pitchFamily="18" charset="0"/>
                          <a:cs typeface="Times New Roman" panose="02020603050405020304" pitchFamily="18" charset="0"/>
                        </a:rPr>
                        <a:t>Ubuntu Server</a:t>
                      </a:r>
                    </a:p>
                  </a:txBody>
                  <a:tcPr anchor="ctr"/>
                </a:tc>
                <a:tc>
                  <a:txBody>
                    <a:bodyPr/>
                    <a:lstStyle/>
                    <a:p>
                      <a:pPr>
                        <a:buNone/>
                      </a:pPr>
                      <a:r>
                        <a:rPr lang="en-IN" sz="2000">
                          <a:latin typeface="Times New Roman" panose="02020603050405020304" pitchFamily="18" charset="0"/>
                          <a:cs typeface="Times New Roman" panose="02020603050405020304" pitchFamily="18" charset="0"/>
                        </a:rPr>
                        <a:t>Victim OS</a:t>
                      </a:r>
                    </a:p>
                  </a:txBody>
                  <a:tcPr anchor="ctr"/>
                </a:tc>
                <a:tc>
                  <a:txBody>
                    <a:bodyPr/>
                    <a:lstStyle/>
                    <a:p>
                      <a:pPr>
                        <a:buNone/>
                      </a:pPr>
                      <a:r>
                        <a:rPr lang="en-IN" sz="2000">
                          <a:latin typeface="Times New Roman" panose="02020603050405020304" pitchFamily="18" charset="0"/>
                          <a:cs typeface="Times New Roman" panose="02020603050405020304" pitchFamily="18" charset="0"/>
                        </a:rPr>
                        <a:t>22.04 LTS</a:t>
                      </a:r>
                    </a:p>
                  </a:txBody>
                  <a:tcPr anchor="ctr"/>
                </a:tc>
                <a:extLst>
                  <a:ext uri="{0D108BD9-81ED-4DB2-BD59-A6C34878D82A}">
                    <a16:rowId xmlns:a16="http://schemas.microsoft.com/office/drawing/2014/main" val="25906629"/>
                  </a:ext>
                </a:extLst>
              </a:tr>
              <a:tr h="559286">
                <a:tc>
                  <a:txBody>
                    <a:bodyPr/>
                    <a:lstStyle/>
                    <a:p>
                      <a:pPr>
                        <a:buNone/>
                      </a:pPr>
                      <a:r>
                        <a:rPr lang="en-IN" sz="2000" dirty="0">
                          <a:latin typeface="Times New Roman" panose="02020603050405020304" pitchFamily="18" charset="0"/>
                          <a:cs typeface="Times New Roman" panose="02020603050405020304" pitchFamily="18" charset="0"/>
                        </a:rPr>
                        <a:t>Ubuntu Desktop</a:t>
                      </a:r>
                    </a:p>
                  </a:txBody>
                  <a:tcPr anchor="ctr"/>
                </a:tc>
                <a:tc>
                  <a:txBody>
                    <a:bodyPr/>
                    <a:lstStyle/>
                    <a:p>
                      <a:pPr>
                        <a:buNone/>
                      </a:pPr>
                      <a:r>
                        <a:rPr lang="en-IN" sz="2000">
                          <a:latin typeface="Times New Roman" panose="02020603050405020304" pitchFamily="18" charset="0"/>
                          <a:cs typeface="Times New Roman" panose="02020603050405020304" pitchFamily="18" charset="0"/>
                        </a:rPr>
                        <a:t>Monitoring OS</a:t>
                      </a:r>
                    </a:p>
                  </a:txBody>
                  <a:tcPr anchor="ctr"/>
                </a:tc>
                <a:tc>
                  <a:txBody>
                    <a:bodyPr/>
                    <a:lstStyle/>
                    <a:p>
                      <a:pPr>
                        <a:buNone/>
                      </a:pPr>
                      <a:r>
                        <a:rPr lang="en-IN" sz="2000">
                          <a:latin typeface="Times New Roman" panose="02020603050405020304" pitchFamily="18" charset="0"/>
                          <a:cs typeface="Times New Roman" panose="02020603050405020304" pitchFamily="18" charset="0"/>
                        </a:rPr>
                        <a:t>22.04 LTS</a:t>
                      </a:r>
                    </a:p>
                  </a:txBody>
                  <a:tcPr anchor="ctr"/>
                </a:tc>
                <a:extLst>
                  <a:ext uri="{0D108BD9-81ED-4DB2-BD59-A6C34878D82A}">
                    <a16:rowId xmlns:a16="http://schemas.microsoft.com/office/drawing/2014/main" val="593082143"/>
                  </a:ext>
                </a:extLst>
              </a:tr>
              <a:tr h="559286">
                <a:tc>
                  <a:txBody>
                    <a:bodyPr/>
                    <a:lstStyle/>
                    <a:p>
                      <a:pPr>
                        <a:buNone/>
                      </a:pPr>
                      <a:r>
                        <a:rPr lang="en-IN" sz="2000">
                          <a:latin typeface="Times New Roman" panose="02020603050405020304" pitchFamily="18" charset="0"/>
                          <a:cs typeface="Times New Roman" panose="02020603050405020304" pitchFamily="18" charset="0"/>
                        </a:rPr>
                        <a:t>DDoSify</a:t>
                      </a:r>
                    </a:p>
                  </a:txBody>
                  <a:tcPr anchor="ctr"/>
                </a:tc>
                <a:tc>
                  <a:txBody>
                    <a:bodyPr/>
                    <a:lstStyle/>
                    <a:p>
                      <a:pPr>
                        <a:buNone/>
                      </a:pPr>
                      <a:r>
                        <a:rPr lang="en-IN" sz="2000">
                          <a:latin typeface="Times New Roman" panose="02020603050405020304" pitchFamily="18" charset="0"/>
                          <a:cs typeface="Times New Roman" panose="02020603050405020304" pitchFamily="18" charset="0"/>
                        </a:rPr>
                        <a:t>DDoS simulation tool</a:t>
                      </a:r>
                    </a:p>
                  </a:txBody>
                  <a:tcPr anchor="ctr"/>
                </a:tc>
                <a:tc>
                  <a:txBody>
                    <a:bodyPr/>
                    <a:lstStyle/>
                    <a:p>
                      <a:pPr>
                        <a:buNone/>
                      </a:pPr>
                      <a:r>
                        <a:rPr lang="en-IN" sz="2000">
                          <a:latin typeface="Times New Roman" panose="02020603050405020304" pitchFamily="18" charset="0"/>
                          <a:cs typeface="Times New Roman" panose="02020603050405020304" pitchFamily="18" charset="0"/>
                        </a:rPr>
                        <a:t>Latest</a:t>
                      </a:r>
                    </a:p>
                  </a:txBody>
                  <a:tcPr anchor="ctr"/>
                </a:tc>
                <a:extLst>
                  <a:ext uri="{0D108BD9-81ED-4DB2-BD59-A6C34878D82A}">
                    <a16:rowId xmlns:a16="http://schemas.microsoft.com/office/drawing/2014/main" val="3029912475"/>
                  </a:ext>
                </a:extLst>
              </a:tr>
              <a:tr h="559286">
                <a:tc>
                  <a:txBody>
                    <a:bodyPr/>
                    <a:lstStyle/>
                    <a:p>
                      <a:pPr>
                        <a:buNone/>
                      </a:pPr>
                      <a:r>
                        <a:rPr lang="en-IN" sz="2000" dirty="0">
                          <a:latin typeface="Times New Roman" panose="02020603050405020304" pitchFamily="18" charset="0"/>
                          <a:cs typeface="Times New Roman" panose="02020603050405020304" pitchFamily="18" charset="0"/>
                        </a:rPr>
                        <a:t>Wireshark</a:t>
                      </a:r>
                    </a:p>
                  </a:txBody>
                  <a:tcPr anchor="ctr"/>
                </a:tc>
                <a:tc>
                  <a:txBody>
                    <a:bodyPr/>
                    <a:lstStyle/>
                    <a:p>
                      <a:pPr>
                        <a:buNone/>
                      </a:pPr>
                      <a:r>
                        <a:rPr lang="en-IN" sz="2000">
                          <a:latin typeface="Times New Roman" panose="02020603050405020304" pitchFamily="18" charset="0"/>
                          <a:cs typeface="Times New Roman" panose="02020603050405020304" pitchFamily="18" charset="0"/>
                        </a:rPr>
                        <a:t>Packet analysis (GUI)</a:t>
                      </a:r>
                    </a:p>
                  </a:txBody>
                  <a:tcPr anchor="ctr"/>
                </a:tc>
                <a:tc>
                  <a:txBody>
                    <a:bodyPr/>
                    <a:lstStyle/>
                    <a:p>
                      <a:pPr>
                        <a:buNone/>
                      </a:pPr>
                      <a:r>
                        <a:rPr lang="en-IN" sz="2000">
                          <a:latin typeface="Times New Roman" panose="02020603050405020304" pitchFamily="18" charset="0"/>
                          <a:cs typeface="Times New Roman" panose="02020603050405020304" pitchFamily="18" charset="0"/>
                        </a:rPr>
                        <a:t>3.x</a:t>
                      </a:r>
                    </a:p>
                  </a:txBody>
                  <a:tcPr anchor="ctr"/>
                </a:tc>
                <a:extLst>
                  <a:ext uri="{0D108BD9-81ED-4DB2-BD59-A6C34878D82A}">
                    <a16:rowId xmlns:a16="http://schemas.microsoft.com/office/drawing/2014/main" val="224360082"/>
                  </a:ext>
                </a:extLst>
              </a:tr>
              <a:tr h="559286">
                <a:tc>
                  <a:txBody>
                    <a:bodyPr/>
                    <a:lstStyle/>
                    <a:p>
                      <a:pPr>
                        <a:buNone/>
                      </a:pPr>
                      <a:r>
                        <a:rPr lang="en-IN" sz="2000">
                          <a:latin typeface="Times New Roman" panose="02020603050405020304" pitchFamily="18" charset="0"/>
                          <a:cs typeface="Times New Roman" panose="02020603050405020304" pitchFamily="18" charset="0"/>
                        </a:rPr>
                        <a:t>tcpdump</a:t>
                      </a:r>
                    </a:p>
                  </a:txBody>
                  <a:tcPr anchor="ctr"/>
                </a:tc>
                <a:tc>
                  <a:txBody>
                    <a:bodyPr/>
                    <a:lstStyle/>
                    <a:p>
                      <a:pPr>
                        <a:buNone/>
                      </a:pPr>
                      <a:r>
                        <a:rPr lang="en-IN" sz="2000">
                          <a:latin typeface="Times New Roman" panose="02020603050405020304" pitchFamily="18" charset="0"/>
                          <a:cs typeface="Times New Roman" panose="02020603050405020304" pitchFamily="18" charset="0"/>
                        </a:rPr>
                        <a:t>Packet capture (CLI)</a:t>
                      </a:r>
                    </a:p>
                  </a:txBody>
                  <a:tcPr anchor="ctr"/>
                </a:tc>
                <a:tc>
                  <a:txBody>
                    <a:bodyPr/>
                    <a:lstStyle/>
                    <a:p>
                      <a:pPr>
                        <a:buNone/>
                      </a:pPr>
                      <a:r>
                        <a:rPr lang="en-IN" sz="2000">
                          <a:latin typeface="Times New Roman" panose="02020603050405020304" pitchFamily="18" charset="0"/>
                          <a:cs typeface="Times New Roman" panose="02020603050405020304" pitchFamily="18" charset="0"/>
                        </a:rPr>
                        <a:t>Latest</a:t>
                      </a:r>
                    </a:p>
                  </a:txBody>
                  <a:tcPr anchor="ctr"/>
                </a:tc>
                <a:extLst>
                  <a:ext uri="{0D108BD9-81ED-4DB2-BD59-A6C34878D82A}">
                    <a16:rowId xmlns:a16="http://schemas.microsoft.com/office/drawing/2014/main" val="1408958387"/>
                  </a:ext>
                </a:extLst>
              </a:tr>
              <a:tr h="559286">
                <a:tc>
                  <a:txBody>
                    <a:bodyPr/>
                    <a:lstStyle/>
                    <a:p>
                      <a:pPr>
                        <a:buNone/>
                      </a:pPr>
                      <a:r>
                        <a:rPr lang="en-IN" sz="2000">
                          <a:latin typeface="Times New Roman" panose="02020603050405020304" pitchFamily="18" charset="0"/>
                          <a:cs typeface="Times New Roman" panose="02020603050405020304" pitchFamily="18" charset="0"/>
                        </a:rPr>
                        <a:t>Snort</a:t>
                      </a:r>
                    </a:p>
                  </a:txBody>
                  <a:tcPr anchor="ctr"/>
                </a:tc>
                <a:tc>
                  <a:txBody>
                    <a:bodyPr/>
                    <a:lstStyle/>
                    <a:p>
                      <a:pPr>
                        <a:buNone/>
                      </a:pPr>
                      <a:r>
                        <a:rPr lang="en-IN" sz="2000">
                          <a:latin typeface="Times New Roman" panose="02020603050405020304" pitchFamily="18" charset="0"/>
                          <a:cs typeface="Times New Roman" panose="02020603050405020304" pitchFamily="18" charset="0"/>
                        </a:rPr>
                        <a:t>Intrusion Detection System</a:t>
                      </a:r>
                    </a:p>
                  </a:txBody>
                  <a:tcPr anchor="ctr"/>
                </a:tc>
                <a:tc>
                  <a:txBody>
                    <a:bodyPr/>
                    <a:lstStyle/>
                    <a:p>
                      <a:pPr>
                        <a:buNone/>
                      </a:pPr>
                      <a:r>
                        <a:rPr lang="en-IN" sz="2000">
                          <a:latin typeface="Times New Roman" panose="02020603050405020304" pitchFamily="18" charset="0"/>
                          <a:cs typeface="Times New Roman" panose="02020603050405020304" pitchFamily="18" charset="0"/>
                        </a:rPr>
                        <a:t>2.9.x</a:t>
                      </a:r>
                    </a:p>
                  </a:txBody>
                  <a:tcPr anchor="ctr"/>
                </a:tc>
                <a:extLst>
                  <a:ext uri="{0D108BD9-81ED-4DB2-BD59-A6C34878D82A}">
                    <a16:rowId xmlns:a16="http://schemas.microsoft.com/office/drawing/2014/main" val="2260911107"/>
                  </a:ext>
                </a:extLst>
              </a:tr>
              <a:tr h="559286">
                <a:tc>
                  <a:txBody>
                    <a:bodyPr/>
                    <a:lstStyle/>
                    <a:p>
                      <a:pPr>
                        <a:buNone/>
                      </a:pPr>
                      <a:r>
                        <a:rPr lang="en-IN" sz="2000">
                          <a:latin typeface="Times New Roman" panose="02020603050405020304" pitchFamily="18" charset="0"/>
                          <a:cs typeface="Times New Roman" panose="02020603050405020304" pitchFamily="18" charset="0"/>
                        </a:rPr>
                        <a:t>fail2ban</a:t>
                      </a:r>
                    </a:p>
                  </a:txBody>
                  <a:tcPr anchor="ctr"/>
                </a:tc>
                <a:tc>
                  <a:txBody>
                    <a:bodyPr/>
                    <a:lstStyle/>
                    <a:p>
                      <a:pPr>
                        <a:buNone/>
                      </a:pPr>
                      <a:r>
                        <a:rPr lang="en-IN" sz="2000">
                          <a:latin typeface="Times New Roman" panose="02020603050405020304" pitchFamily="18" charset="0"/>
                          <a:cs typeface="Times New Roman" panose="02020603050405020304" pitchFamily="18" charset="0"/>
                        </a:rPr>
                        <a:t>Automatic IP banning</a:t>
                      </a:r>
                    </a:p>
                  </a:txBody>
                  <a:tcPr anchor="ctr"/>
                </a:tc>
                <a:tc>
                  <a:txBody>
                    <a:bodyPr/>
                    <a:lstStyle/>
                    <a:p>
                      <a:pPr>
                        <a:buNone/>
                      </a:pPr>
                      <a:r>
                        <a:rPr lang="en-IN" sz="2000">
                          <a:latin typeface="Times New Roman" panose="02020603050405020304" pitchFamily="18" charset="0"/>
                          <a:cs typeface="Times New Roman" panose="02020603050405020304" pitchFamily="18" charset="0"/>
                        </a:rPr>
                        <a:t>Latest</a:t>
                      </a:r>
                    </a:p>
                  </a:txBody>
                  <a:tcPr anchor="ctr"/>
                </a:tc>
                <a:extLst>
                  <a:ext uri="{0D108BD9-81ED-4DB2-BD59-A6C34878D82A}">
                    <a16:rowId xmlns:a16="http://schemas.microsoft.com/office/drawing/2014/main" val="2580234744"/>
                  </a:ext>
                </a:extLst>
              </a:tr>
              <a:tr h="559286">
                <a:tc>
                  <a:txBody>
                    <a:bodyPr/>
                    <a:lstStyle/>
                    <a:p>
                      <a:pPr>
                        <a:buNone/>
                      </a:pPr>
                      <a:r>
                        <a:rPr lang="en-IN" sz="2000">
                          <a:latin typeface="Times New Roman" panose="02020603050405020304" pitchFamily="18" charset="0"/>
                          <a:cs typeface="Times New Roman" panose="02020603050405020304" pitchFamily="18" charset="0"/>
                        </a:rPr>
                        <a:t>Apache2</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Web server on victim</a:t>
                      </a:r>
                    </a:p>
                  </a:txBody>
                  <a:tcPr anchor="ctr"/>
                </a:tc>
                <a:tc>
                  <a:txBody>
                    <a:bodyPr/>
                    <a:lstStyle/>
                    <a:p>
                      <a:pPr>
                        <a:buNone/>
                      </a:pPr>
                      <a:r>
                        <a:rPr lang="en-IN" sz="2000">
                          <a:latin typeface="Times New Roman" panose="02020603050405020304" pitchFamily="18" charset="0"/>
                          <a:cs typeface="Times New Roman" panose="02020603050405020304" pitchFamily="18" charset="0"/>
                        </a:rPr>
                        <a:t>2.4.x</a:t>
                      </a:r>
                    </a:p>
                  </a:txBody>
                  <a:tcPr anchor="ctr"/>
                </a:tc>
                <a:extLst>
                  <a:ext uri="{0D108BD9-81ED-4DB2-BD59-A6C34878D82A}">
                    <a16:rowId xmlns:a16="http://schemas.microsoft.com/office/drawing/2014/main" val="2873675521"/>
                  </a:ext>
                </a:extLst>
              </a:tr>
              <a:tr h="559286">
                <a:tc>
                  <a:txBody>
                    <a:bodyPr/>
                    <a:lstStyle/>
                    <a:p>
                      <a:pPr>
                        <a:buNone/>
                      </a:pPr>
                      <a:r>
                        <a:rPr lang="en-IN" sz="2000">
                          <a:latin typeface="Times New Roman" panose="02020603050405020304" pitchFamily="18" charset="0"/>
                          <a:cs typeface="Times New Roman" panose="02020603050405020304" pitchFamily="18" charset="0"/>
                        </a:rPr>
                        <a:t>VirtualBox / VMware</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Virtualization platform</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Latest</a:t>
                      </a:r>
                    </a:p>
                  </a:txBody>
                  <a:tcPr anchor="ctr"/>
                </a:tc>
                <a:extLst>
                  <a:ext uri="{0D108BD9-81ED-4DB2-BD59-A6C34878D82A}">
                    <a16:rowId xmlns:a16="http://schemas.microsoft.com/office/drawing/2014/main" val="433304671"/>
                  </a:ext>
                </a:extLst>
              </a:tr>
            </a:tbl>
          </a:graphicData>
        </a:graphic>
      </p:graphicFrame>
      <p:sp>
        <p:nvSpPr>
          <p:cNvPr id="7" name="Slide Number Placeholder 6">
            <a:extLst>
              <a:ext uri="{FF2B5EF4-FFF2-40B4-BE49-F238E27FC236}">
                <a16:creationId xmlns:a16="http://schemas.microsoft.com/office/drawing/2014/main" id="{855FD1E7-7B5C-56E0-A54A-54ACE7483791}"/>
              </a:ext>
            </a:extLst>
          </p:cNvPr>
          <p:cNvSpPr>
            <a:spLocks noGrp="1"/>
          </p:cNvSpPr>
          <p:nvPr>
            <p:ph type="sldNum" sz="quarter" idx="12"/>
          </p:nvPr>
        </p:nvSpPr>
        <p:spPr/>
        <p:txBody>
          <a:bodyPr/>
          <a:lstStyle/>
          <a:p>
            <a:fld id="{29FACB4C-C362-4046-86B4-4C56FF9F32A5}" type="slidenum">
              <a:rPr lang="en-IN" smtClean="0"/>
              <a:t>14</a:t>
            </a:fld>
            <a:endParaRPr lang="en-IN"/>
          </a:p>
        </p:txBody>
      </p:sp>
    </p:spTree>
    <p:extLst>
      <p:ext uri="{BB962C8B-B14F-4D97-AF65-F5344CB8AC3E}">
        <p14:creationId xmlns:p14="http://schemas.microsoft.com/office/powerpoint/2010/main" val="1650598072"/>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285CAEE-7CE1-1F44-994B-AB0AEDC45953}"/>
              </a:ext>
            </a:extLst>
          </p:cNvPr>
          <p:cNvSpPr>
            <a:spLocks noGrp="1"/>
          </p:cNvSpPr>
          <p:nvPr>
            <p:ph type="title"/>
          </p:nvPr>
        </p:nvSpPr>
        <p:spPr>
          <a:xfrm>
            <a:off x="0" y="1"/>
            <a:ext cx="11353800" cy="914399"/>
          </a:xfrm>
        </p:spPr>
        <p:txBody>
          <a:bodyPr>
            <a:normAutofit/>
          </a:bodyPr>
          <a:lstStyle/>
          <a:p>
            <a:r>
              <a:rPr lang="en-IN" sz="2200" dirty="0">
                <a:latin typeface="Times New Roman" panose="02020603050405020304" pitchFamily="18" charset="0"/>
                <a:cs typeface="Times New Roman" panose="02020603050405020304" pitchFamily="18" charset="0"/>
              </a:rPr>
              <a:t>HARDWARE REQUIREMENTS :</a:t>
            </a:r>
          </a:p>
        </p:txBody>
      </p:sp>
      <p:graphicFrame>
        <p:nvGraphicFramePr>
          <p:cNvPr id="4" name="Content Placeholder 3">
            <a:extLst>
              <a:ext uri="{FF2B5EF4-FFF2-40B4-BE49-F238E27FC236}">
                <a16:creationId xmlns:a16="http://schemas.microsoft.com/office/drawing/2014/main" id="{2F238C63-FADA-EA59-D7F0-6CA08F25DD8A}"/>
              </a:ext>
            </a:extLst>
          </p:cNvPr>
          <p:cNvGraphicFramePr>
            <a:graphicFrameLocks noGrp="1"/>
          </p:cNvGraphicFramePr>
          <p:nvPr>
            <p:ph idx="1"/>
            <p:extLst>
              <p:ext uri="{D42A27DB-BD31-4B8C-83A1-F6EECF244321}">
                <p14:modId xmlns:p14="http://schemas.microsoft.com/office/powerpoint/2010/main" val="3100216965"/>
              </p:ext>
            </p:extLst>
          </p:nvPr>
        </p:nvGraphicFramePr>
        <p:xfrm>
          <a:off x="0" y="721895"/>
          <a:ext cx="12192000" cy="6136104"/>
        </p:xfrm>
        <a:graphic>
          <a:graphicData uri="http://schemas.openxmlformats.org/drawingml/2006/table">
            <a:tbl>
              <a:tblPr>
                <a:tableStyleId>{775DCB02-9BB8-47FD-8907-85C794F793BA}</a:tableStyleId>
              </a:tblPr>
              <a:tblGrid>
                <a:gridCol w="4064000">
                  <a:extLst>
                    <a:ext uri="{9D8B030D-6E8A-4147-A177-3AD203B41FA5}">
                      <a16:colId xmlns:a16="http://schemas.microsoft.com/office/drawing/2014/main" val="2845268649"/>
                    </a:ext>
                  </a:extLst>
                </a:gridCol>
                <a:gridCol w="4064000">
                  <a:extLst>
                    <a:ext uri="{9D8B030D-6E8A-4147-A177-3AD203B41FA5}">
                      <a16:colId xmlns:a16="http://schemas.microsoft.com/office/drawing/2014/main" val="2134460786"/>
                    </a:ext>
                  </a:extLst>
                </a:gridCol>
                <a:gridCol w="4064000">
                  <a:extLst>
                    <a:ext uri="{9D8B030D-6E8A-4147-A177-3AD203B41FA5}">
                      <a16:colId xmlns:a16="http://schemas.microsoft.com/office/drawing/2014/main" val="202696538"/>
                    </a:ext>
                  </a:extLst>
                </a:gridCol>
              </a:tblGrid>
              <a:tr h="1022684">
                <a:tc>
                  <a:txBody>
                    <a:bodyPr/>
                    <a:lstStyle/>
                    <a:p>
                      <a:pPr>
                        <a:buNone/>
                      </a:pPr>
                      <a:r>
                        <a:rPr lang="en-IN" sz="2000" b="1" dirty="0">
                          <a:latin typeface="Times New Roman" panose="02020603050405020304" pitchFamily="18" charset="0"/>
                          <a:cs typeface="Times New Roman" panose="02020603050405020304" pitchFamily="18" charset="0"/>
                        </a:rPr>
                        <a:t>Component</a:t>
                      </a:r>
                    </a:p>
                  </a:txBody>
                  <a:tcPr anchor="ctr"/>
                </a:tc>
                <a:tc>
                  <a:txBody>
                    <a:bodyPr/>
                    <a:lstStyle/>
                    <a:p>
                      <a:pPr>
                        <a:buNone/>
                      </a:pPr>
                      <a:r>
                        <a:rPr lang="en-IN" sz="2000" b="1" dirty="0">
                          <a:latin typeface="Times New Roman" panose="02020603050405020304" pitchFamily="18" charset="0"/>
                          <a:cs typeface="Times New Roman" panose="02020603050405020304" pitchFamily="18" charset="0"/>
                        </a:rPr>
                        <a:t>Minimum</a:t>
                      </a:r>
                    </a:p>
                  </a:txBody>
                  <a:tcPr anchor="ctr"/>
                </a:tc>
                <a:tc>
                  <a:txBody>
                    <a:bodyPr/>
                    <a:lstStyle/>
                    <a:p>
                      <a:pPr>
                        <a:buNone/>
                      </a:pPr>
                      <a:r>
                        <a:rPr lang="en-IN" sz="2000" b="1" dirty="0">
                          <a:latin typeface="Times New Roman" panose="02020603050405020304" pitchFamily="18" charset="0"/>
                          <a:cs typeface="Times New Roman" panose="02020603050405020304" pitchFamily="18" charset="0"/>
                        </a:rPr>
                        <a:t>Recommended</a:t>
                      </a:r>
                    </a:p>
                  </a:txBody>
                  <a:tcPr anchor="ctr"/>
                </a:tc>
                <a:extLst>
                  <a:ext uri="{0D108BD9-81ED-4DB2-BD59-A6C34878D82A}">
                    <a16:rowId xmlns:a16="http://schemas.microsoft.com/office/drawing/2014/main" val="765856110"/>
                  </a:ext>
                </a:extLst>
              </a:tr>
              <a:tr h="1022684">
                <a:tc>
                  <a:txBody>
                    <a:bodyPr/>
                    <a:lstStyle/>
                    <a:p>
                      <a:pPr>
                        <a:buNone/>
                      </a:pPr>
                      <a:r>
                        <a:rPr lang="en-IN" sz="2000" dirty="0">
                          <a:latin typeface="Times New Roman" panose="02020603050405020304" pitchFamily="18" charset="0"/>
                          <a:cs typeface="Times New Roman" panose="02020603050405020304" pitchFamily="18" charset="0"/>
                        </a:rPr>
                        <a:t>RAM</a:t>
                      </a:r>
                    </a:p>
                  </a:txBody>
                  <a:tcPr anchor="ctr"/>
                </a:tc>
                <a:tc>
                  <a:txBody>
                    <a:bodyPr/>
                    <a:lstStyle/>
                    <a:p>
                      <a:pPr>
                        <a:buNone/>
                      </a:pPr>
                      <a:r>
                        <a:rPr lang="en-IN" sz="2000">
                          <a:latin typeface="Times New Roman" panose="02020603050405020304" pitchFamily="18" charset="0"/>
                          <a:cs typeface="Times New Roman" panose="02020603050405020304" pitchFamily="18" charset="0"/>
                        </a:rPr>
                        <a:t>8 GB</a:t>
                      </a:r>
                    </a:p>
                  </a:txBody>
                  <a:tcPr anchor="ctr"/>
                </a:tc>
                <a:tc>
                  <a:txBody>
                    <a:bodyPr/>
                    <a:lstStyle/>
                    <a:p>
                      <a:pPr>
                        <a:buNone/>
                      </a:pPr>
                      <a:r>
                        <a:rPr lang="en-IN" sz="2000">
                          <a:latin typeface="Times New Roman" panose="02020603050405020304" pitchFamily="18" charset="0"/>
                          <a:cs typeface="Times New Roman" panose="02020603050405020304" pitchFamily="18" charset="0"/>
                        </a:rPr>
                        <a:t>16 GB</a:t>
                      </a:r>
                    </a:p>
                  </a:txBody>
                  <a:tcPr anchor="ctr"/>
                </a:tc>
                <a:extLst>
                  <a:ext uri="{0D108BD9-81ED-4DB2-BD59-A6C34878D82A}">
                    <a16:rowId xmlns:a16="http://schemas.microsoft.com/office/drawing/2014/main" val="179917970"/>
                  </a:ext>
                </a:extLst>
              </a:tr>
              <a:tr h="1022684">
                <a:tc>
                  <a:txBody>
                    <a:bodyPr/>
                    <a:lstStyle/>
                    <a:p>
                      <a:pPr>
                        <a:buNone/>
                      </a:pPr>
                      <a:r>
                        <a:rPr lang="en-IN" sz="2000" dirty="0">
                          <a:latin typeface="Times New Roman" panose="02020603050405020304" pitchFamily="18" charset="0"/>
                          <a:cs typeface="Times New Roman" panose="02020603050405020304" pitchFamily="18" charset="0"/>
                        </a:rPr>
                        <a:t>Processor</a:t>
                      </a:r>
                    </a:p>
                  </a:txBody>
                  <a:tcPr anchor="ctr"/>
                </a:tc>
                <a:tc>
                  <a:txBody>
                    <a:bodyPr/>
                    <a:lstStyle/>
                    <a:p>
                      <a:pPr>
                        <a:buNone/>
                      </a:pPr>
                      <a:r>
                        <a:rPr lang="nn-NO" sz="2000">
                          <a:latin typeface="Times New Roman" panose="02020603050405020304" pitchFamily="18" charset="0"/>
                          <a:cs typeface="Times New Roman" panose="02020603050405020304" pitchFamily="18" charset="0"/>
                        </a:rPr>
                        <a:t>Intel i5 / AMD Ryzen 5</a:t>
                      </a:r>
                    </a:p>
                  </a:txBody>
                  <a:tcPr anchor="ctr"/>
                </a:tc>
                <a:tc>
                  <a:txBody>
                    <a:bodyPr/>
                    <a:lstStyle/>
                    <a:p>
                      <a:pPr>
                        <a:buNone/>
                      </a:pPr>
                      <a:r>
                        <a:rPr lang="en-IN" sz="2000">
                          <a:latin typeface="Times New Roman" panose="02020603050405020304" pitchFamily="18" charset="0"/>
                          <a:cs typeface="Times New Roman" panose="02020603050405020304" pitchFamily="18" charset="0"/>
                        </a:rPr>
                        <a:t>Intel i7 / Ryzen 7</a:t>
                      </a:r>
                    </a:p>
                  </a:txBody>
                  <a:tcPr anchor="ctr"/>
                </a:tc>
                <a:extLst>
                  <a:ext uri="{0D108BD9-81ED-4DB2-BD59-A6C34878D82A}">
                    <a16:rowId xmlns:a16="http://schemas.microsoft.com/office/drawing/2014/main" val="2041832459"/>
                  </a:ext>
                </a:extLst>
              </a:tr>
              <a:tr h="1022684">
                <a:tc>
                  <a:txBody>
                    <a:bodyPr/>
                    <a:lstStyle/>
                    <a:p>
                      <a:pPr>
                        <a:buNone/>
                      </a:pPr>
                      <a:r>
                        <a:rPr lang="en-IN" sz="2000">
                          <a:latin typeface="Times New Roman" panose="02020603050405020304" pitchFamily="18" charset="0"/>
                          <a:cs typeface="Times New Roman" panose="02020603050405020304" pitchFamily="18" charset="0"/>
                        </a:rPr>
                        <a:t>Storage</a:t>
                      </a:r>
                    </a:p>
                  </a:txBody>
                  <a:tcPr anchor="ctr"/>
                </a:tc>
                <a:tc>
                  <a:txBody>
                    <a:bodyPr/>
                    <a:lstStyle/>
                    <a:p>
                      <a:pPr>
                        <a:buNone/>
                      </a:pPr>
                      <a:r>
                        <a:rPr lang="en-IN" sz="2000">
                          <a:latin typeface="Times New Roman" panose="02020603050405020304" pitchFamily="18" charset="0"/>
                          <a:cs typeface="Times New Roman" panose="02020603050405020304" pitchFamily="18" charset="0"/>
                        </a:rPr>
                        <a:t>20 GB free</a:t>
                      </a:r>
                    </a:p>
                  </a:txBody>
                  <a:tcPr anchor="ctr"/>
                </a:tc>
                <a:tc>
                  <a:txBody>
                    <a:bodyPr/>
                    <a:lstStyle/>
                    <a:p>
                      <a:pPr>
                        <a:buNone/>
                      </a:pPr>
                      <a:r>
                        <a:rPr lang="en-IN" sz="2000">
                          <a:latin typeface="Times New Roman" panose="02020603050405020304" pitchFamily="18" charset="0"/>
                          <a:cs typeface="Times New Roman" panose="02020603050405020304" pitchFamily="18" charset="0"/>
                        </a:rPr>
                        <a:t>50 GB free</a:t>
                      </a:r>
                    </a:p>
                  </a:txBody>
                  <a:tcPr anchor="ctr"/>
                </a:tc>
                <a:extLst>
                  <a:ext uri="{0D108BD9-81ED-4DB2-BD59-A6C34878D82A}">
                    <a16:rowId xmlns:a16="http://schemas.microsoft.com/office/drawing/2014/main" val="3537047912"/>
                  </a:ext>
                </a:extLst>
              </a:tr>
              <a:tr h="1022684">
                <a:tc>
                  <a:txBody>
                    <a:bodyPr/>
                    <a:lstStyle/>
                    <a:p>
                      <a:pPr>
                        <a:buNone/>
                      </a:pPr>
                      <a:r>
                        <a:rPr lang="en-IN" sz="2000">
                          <a:latin typeface="Times New Roman" panose="02020603050405020304" pitchFamily="18" charset="0"/>
                          <a:cs typeface="Times New Roman" panose="02020603050405020304" pitchFamily="18" charset="0"/>
                        </a:rPr>
                        <a:t>Network</a:t>
                      </a:r>
                    </a:p>
                  </a:txBody>
                  <a:tcPr anchor="ctr"/>
                </a:tc>
                <a:tc>
                  <a:txBody>
                    <a:bodyPr/>
                    <a:lstStyle/>
                    <a:p>
                      <a:pPr>
                        <a:buNone/>
                      </a:pPr>
                      <a:r>
                        <a:rPr lang="en-US" sz="2000" dirty="0">
                          <a:latin typeface="Times New Roman" panose="02020603050405020304" pitchFamily="18" charset="0"/>
                          <a:cs typeface="Times New Roman" panose="02020603050405020304" pitchFamily="18" charset="0"/>
                        </a:rPr>
                        <a:t>Single NIC(Network interface card) with virtual network</a:t>
                      </a:r>
                    </a:p>
                  </a:txBody>
                  <a:tcPr anchor="ctr"/>
                </a:tc>
                <a:tc>
                  <a:txBody>
                    <a:bodyPr/>
                    <a:lstStyle/>
                    <a:p>
                      <a:pPr>
                        <a:buNone/>
                      </a:pPr>
                      <a:r>
                        <a:rPr lang="en-IN" sz="2000">
                          <a:latin typeface="Times New Roman" panose="02020603050405020304" pitchFamily="18" charset="0"/>
                          <a:cs typeface="Times New Roman" panose="02020603050405020304" pitchFamily="18" charset="0"/>
                        </a:rPr>
                        <a:t>Dual NIC</a:t>
                      </a:r>
                    </a:p>
                  </a:txBody>
                  <a:tcPr anchor="ctr"/>
                </a:tc>
                <a:extLst>
                  <a:ext uri="{0D108BD9-81ED-4DB2-BD59-A6C34878D82A}">
                    <a16:rowId xmlns:a16="http://schemas.microsoft.com/office/drawing/2014/main" val="2621460896"/>
                  </a:ext>
                </a:extLst>
              </a:tr>
              <a:tr h="1022684">
                <a:tc>
                  <a:txBody>
                    <a:bodyPr/>
                    <a:lstStyle/>
                    <a:p>
                      <a:pPr>
                        <a:buNone/>
                      </a:pPr>
                      <a:r>
                        <a:rPr lang="en-IN" sz="2000">
                          <a:latin typeface="Times New Roman" panose="02020603050405020304" pitchFamily="18" charset="0"/>
                          <a:cs typeface="Times New Roman" panose="02020603050405020304" pitchFamily="18" charset="0"/>
                        </a:rPr>
                        <a:t>OS (Host)</a:t>
                      </a:r>
                    </a:p>
                  </a:txBody>
                  <a:tcPr anchor="ctr"/>
                </a:tc>
                <a:tc>
                  <a:txBody>
                    <a:bodyPr/>
                    <a:lstStyle/>
                    <a:p>
                      <a:pPr>
                        <a:buNone/>
                      </a:pPr>
                      <a:r>
                        <a:rPr lang="en-IN" sz="2000">
                          <a:latin typeface="Times New Roman" panose="02020603050405020304" pitchFamily="18" charset="0"/>
                          <a:cs typeface="Times New Roman" panose="02020603050405020304" pitchFamily="18" charset="0"/>
                        </a:rPr>
                        <a:t>Windows 10 / Ubuntu 20.04</a:t>
                      </a:r>
                    </a:p>
                  </a:txBody>
                  <a:tcPr anchor="ctr"/>
                </a:tc>
                <a:tc>
                  <a:txBody>
                    <a:bodyPr/>
                    <a:lstStyle/>
                    <a:p>
                      <a:pPr>
                        <a:buNone/>
                      </a:pPr>
                      <a:r>
                        <a:rPr lang="en-IN" sz="2000" dirty="0">
                          <a:latin typeface="Times New Roman" panose="02020603050405020304" pitchFamily="18" charset="0"/>
                          <a:cs typeface="Times New Roman" panose="02020603050405020304" pitchFamily="18" charset="0"/>
                        </a:rPr>
                        <a:t>Ubuntu 22.04</a:t>
                      </a:r>
                    </a:p>
                  </a:txBody>
                  <a:tcPr anchor="ctr"/>
                </a:tc>
                <a:extLst>
                  <a:ext uri="{0D108BD9-81ED-4DB2-BD59-A6C34878D82A}">
                    <a16:rowId xmlns:a16="http://schemas.microsoft.com/office/drawing/2014/main" val="3525660673"/>
                  </a:ext>
                </a:extLst>
              </a:tr>
            </a:tbl>
          </a:graphicData>
        </a:graphic>
      </p:graphicFrame>
      <p:sp>
        <p:nvSpPr>
          <p:cNvPr id="7" name="Slide Number Placeholder 6">
            <a:extLst>
              <a:ext uri="{FF2B5EF4-FFF2-40B4-BE49-F238E27FC236}">
                <a16:creationId xmlns:a16="http://schemas.microsoft.com/office/drawing/2014/main" id="{00AC8ACE-6A5A-1354-2318-ACF5A7A86DC0}"/>
              </a:ext>
            </a:extLst>
          </p:cNvPr>
          <p:cNvSpPr>
            <a:spLocks noGrp="1"/>
          </p:cNvSpPr>
          <p:nvPr>
            <p:ph type="sldNum" sz="quarter" idx="12"/>
          </p:nvPr>
        </p:nvSpPr>
        <p:spPr/>
        <p:txBody>
          <a:bodyPr/>
          <a:lstStyle/>
          <a:p>
            <a:fld id="{29FACB4C-C362-4046-86B4-4C56FF9F32A5}" type="slidenum">
              <a:rPr lang="en-IN" smtClean="0"/>
              <a:t>15</a:t>
            </a:fld>
            <a:endParaRPr lang="en-IN"/>
          </a:p>
        </p:txBody>
      </p:sp>
    </p:spTree>
    <p:extLst>
      <p:ext uri="{BB962C8B-B14F-4D97-AF65-F5344CB8AC3E}">
        <p14:creationId xmlns:p14="http://schemas.microsoft.com/office/powerpoint/2010/main" val="2465480897"/>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CA1A7409-1CDB-41B6-2505-CDAF708A05F8}"/>
              </a:ext>
            </a:extLst>
          </p:cNvPr>
          <p:cNvSpPr>
            <a:spLocks noGrp="1"/>
          </p:cNvSpPr>
          <p:nvPr>
            <p:ph type="title"/>
          </p:nvPr>
        </p:nvSpPr>
        <p:spPr>
          <a:xfrm>
            <a:off x="1" y="0"/>
            <a:ext cx="11353800" cy="834189"/>
          </a:xfrm>
        </p:spPr>
        <p:txBody>
          <a:bodyPr>
            <a:normAutofit/>
          </a:bodyPr>
          <a:lstStyle/>
          <a:p>
            <a:r>
              <a:rPr lang="en-IN" sz="2200" dirty="0">
                <a:latin typeface="Times New Roman" panose="02020603050405020304" pitchFamily="18" charset="0"/>
                <a:cs typeface="Times New Roman" panose="02020603050405020304" pitchFamily="18" charset="0"/>
              </a:rPr>
              <a:t>APPLICATIONS :</a:t>
            </a:r>
          </a:p>
        </p:txBody>
      </p:sp>
      <p:sp>
        <p:nvSpPr>
          <p:cNvPr id="5" name="Rectangle 2">
            <a:extLst>
              <a:ext uri="{FF2B5EF4-FFF2-40B4-BE49-F238E27FC236}">
                <a16:creationId xmlns:a16="http://schemas.microsoft.com/office/drawing/2014/main" id="{EF0A710D-5AE7-4919-B909-FA50D8F3C2F8}"/>
              </a:ext>
            </a:extLst>
          </p:cNvPr>
          <p:cNvSpPr>
            <a:spLocks noGrp="1" noChangeArrowheads="1"/>
          </p:cNvSpPr>
          <p:nvPr>
            <p:ph idx="1"/>
          </p:nvPr>
        </p:nvSpPr>
        <p:spPr bwMode="auto">
          <a:xfrm>
            <a:off x="0" y="809736"/>
            <a:ext cx="10661715" cy="193899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Used by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cybersecurity professionals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test the resilience of their servers.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Can be used by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network administrators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to tune IDS rules and firewall settings.</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Helps </a:t>
            </a: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SOC (Security Operations Center) teams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practice and understand incident response. </a:t>
            </a:r>
          </a:p>
        </p:txBody>
      </p:sp>
      <p:sp>
        <p:nvSpPr>
          <p:cNvPr id="8" name="Slide Number Placeholder 7">
            <a:extLst>
              <a:ext uri="{FF2B5EF4-FFF2-40B4-BE49-F238E27FC236}">
                <a16:creationId xmlns:a16="http://schemas.microsoft.com/office/drawing/2014/main" id="{CA341A1F-8A0A-914F-5BD3-CBB93D11ED8C}"/>
              </a:ext>
            </a:extLst>
          </p:cNvPr>
          <p:cNvSpPr>
            <a:spLocks noGrp="1"/>
          </p:cNvSpPr>
          <p:nvPr>
            <p:ph type="sldNum" sz="quarter" idx="12"/>
          </p:nvPr>
        </p:nvSpPr>
        <p:spPr/>
        <p:txBody>
          <a:bodyPr/>
          <a:lstStyle/>
          <a:p>
            <a:fld id="{29FACB4C-C362-4046-86B4-4C56FF9F32A5}" type="slidenum">
              <a:rPr lang="en-IN" smtClean="0"/>
              <a:t>16</a:t>
            </a:fld>
            <a:endParaRPr lang="en-IN"/>
          </a:p>
        </p:txBody>
      </p:sp>
    </p:spTree>
    <p:extLst>
      <p:ext uri="{BB962C8B-B14F-4D97-AF65-F5344CB8AC3E}">
        <p14:creationId xmlns:p14="http://schemas.microsoft.com/office/powerpoint/2010/main" val="3267841102"/>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6E1E103-D04C-ECCA-845D-11CA365066F7}"/>
              </a:ext>
            </a:extLst>
          </p:cNvPr>
          <p:cNvSpPr>
            <a:spLocks noGrp="1"/>
          </p:cNvSpPr>
          <p:nvPr>
            <p:ph type="title"/>
          </p:nvPr>
        </p:nvSpPr>
        <p:spPr>
          <a:xfrm>
            <a:off x="0" y="1"/>
            <a:ext cx="11353800" cy="882315"/>
          </a:xfrm>
        </p:spPr>
        <p:txBody>
          <a:bodyPr>
            <a:normAutofit/>
          </a:bodyPr>
          <a:lstStyle/>
          <a:p>
            <a:r>
              <a:rPr lang="en-IN" sz="2200" dirty="0">
                <a:latin typeface="Times New Roman" panose="02020603050405020304" pitchFamily="18" charset="0"/>
                <a:cs typeface="Times New Roman" panose="02020603050405020304" pitchFamily="18" charset="0"/>
              </a:rPr>
              <a:t>ADVANTAGES :</a:t>
            </a:r>
          </a:p>
        </p:txBody>
      </p:sp>
      <p:sp>
        <p:nvSpPr>
          <p:cNvPr id="5" name="Rectangle 2">
            <a:extLst>
              <a:ext uri="{FF2B5EF4-FFF2-40B4-BE49-F238E27FC236}">
                <a16:creationId xmlns:a16="http://schemas.microsoft.com/office/drawing/2014/main" id="{FCD40CF2-6D1C-5CC5-5C81-10A0DDEC08F3}"/>
              </a:ext>
            </a:extLst>
          </p:cNvPr>
          <p:cNvSpPr>
            <a:spLocks noGrp="1" noChangeArrowheads="1"/>
          </p:cNvSpPr>
          <p:nvPr>
            <p:ph idx="1"/>
          </p:nvPr>
        </p:nvSpPr>
        <p:spPr bwMode="auto">
          <a:xfrm>
            <a:off x="2" y="916576"/>
            <a:ext cx="8342720"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Provides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hands-on practical experience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with real tools used in the industry.</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Entire setup is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inside virtual machines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risk to real production systems.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Combines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detection and automated response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in a single pipeline.</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Open-source tools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licensing cost required.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Easy to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reproduce and scale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for different attack scenarios. </a:t>
            </a:r>
          </a:p>
        </p:txBody>
      </p:sp>
      <p:sp>
        <p:nvSpPr>
          <p:cNvPr id="8" name="Slide Number Placeholder 7">
            <a:extLst>
              <a:ext uri="{FF2B5EF4-FFF2-40B4-BE49-F238E27FC236}">
                <a16:creationId xmlns:a16="http://schemas.microsoft.com/office/drawing/2014/main" id="{FDB0BBF2-4B04-B014-970E-C23459CACE96}"/>
              </a:ext>
            </a:extLst>
          </p:cNvPr>
          <p:cNvSpPr>
            <a:spLocks noGrp="1"/>
          </p:cNvSpPr>
          <p:nvPr>
            <p:ph type="sldNum" sz="quarter" idx="12"/>
          </p:nvPr>
        </p:nvSpPr>
        <p:spPr/>
        <p:txBody>
          <a:bodyPr/>
          <a:lstStyle/>
          <a:p>
            <a:fld id="{29FACB4C-C362-4046-86B4-4C56FF9F32A5}" type="slidenum">
              <a:rPr lang="en-IN" smtClean="0"/>
              <a:t>17</a:t>
            </a:fld>
            <a:endParaRPr lang="en-IN"/>
          </a:p>
        </p:txBody>
      </p:sp>
    </p:spTree>
    <p:extLst>
      <p:ext uri="{BB962C8B-B14F-4D97-AF65-F5344CB8AC3E}">
        <p14:creationId xmlns:p14="http://schemas.microsoft.com/office/powerpoint/2010/main" val="1665308087"/>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49568CB3-CE79-95D5-9275-A443D80AC88C}"/>
              </a:ext>
            </a:extLst>
          </p:cNvPr>
          <p:cNvSpPr>
            <a:spLocks noGrp="1"/>
          </p:cNvSpPr>
          <p:nvPr>
            <p:ph type="title"/>
          </p:nvPr>
        </p:nvSpPr>
        <p:spPr>
          <a:xfrm>
            <a:off x="0" y="1"/>
            <a:ext cx="11353800" cy="930441"/>
          </a:xfrm>
        </p:spPr>
        <p:txBody>
          <a:bodyPr>
            <a:normAutofit/>
          </a:bodyPr>
          <a:lstStyle/>
          <a:p>
            <a:r>
              <a:rPr lang="en-IN" sz="2200" dirty="0">
                <a:latin typeface="Times New Roman" panose="02020603050405020304" pitchFamily="18" charset="0"/>
                <a:cs typeface="Times New Roman" panose="02020603050405020304" pitchFamily="18" charset="0"/>
              </a:rPr>
              <a:t>DISADVANTAGES :</a:t>
            </a:r>
          </a:p>
        </p:txBody>
      </p:sp>
      <p:sp>
        <p:nvSpPr>
          <p:cNvPr id="4" name="Rectangle 1">
            <a:extLst>
              <a:ext uri="{FF2B5EF4-FFF2-40B4-BE49-F238E27FC236}">
                <a16:creationId xmlns:a16="http://schemas.microsoft.com/office/drawing/2014/main" id="{D8126970-E50B-32DE-D36E-4B845469C5E4}"/>
              </a:ext>
            </a:extLst>
          </p:cNvPr>
          <p:cNvSpPr>
            <a:spLocks noGrp="1" noChangeArrowheads="1"/>
          </p:cNvSpPr>
          <p:nvPr>
            <p:ph idx="1"/>
          </p:nvPr>
        </p:nvSpPr>
        <p:spPr bwMode="auto">
          <a:xfrm>
            <a:off x="0" y="787974"/>
            <a:ext cx="12191999"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lab is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isolated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does not reflect the complexity of real-world internet traffic.</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fail2ban relies on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log files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if the log format changes, detection may fail.</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Snort requires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manual rule updates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cannot detect brand-new attack types on its own.</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RAM usage  </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running 3 VMs simultaneously can slow down low-end machines.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err="1">
                <a:ln>
                  <a:noFill/>
                </a:ln>
                <a:solidFill>
                  <a:schemeClr val="tx1"/>
                </a:solidFill>
                <a:effectLst/>
                <a:latin typeface="Times New Roman" panose="02020603050405020304" pitchFamily="18" charset="0"/>
                <a:cs typeface="Times New Roman" panose="02020603050405020304" pitchFamily="18" charset="0"/>
              </a:rPr>
              <a:t>DDoSify</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simulates a </a:t>
            </a:r>
            <a:r>
              <a:rPr kumimoji="0" lang="en-US" altLang="en-US" sz="200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simple HTTP flood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more advanced DDoS types (botnet) are not covered. </a:t>
            </a:r>
          </a:p>
        </p:txBody>
      </p:sp>
      <p:sp>
        <p:nvSpPr>
          <p:cNvPr id="7" name="Slide Number Placeholder 6">
            <a:extLst>
              <a:ext uri="{FF2B5EF4-FFF2-40B4-BE49-F238E27FC236}">
                <a16:creationId xmlns:a16="http://schemas.microsoft.com/office/drawing/2014/main" id="{CBE7B288-C5B5-DDBE-5AB5-94B8C3BE0C6D}"/>
              </a:ext>
            </a:extLst>
          </p:cNvPr>
          <p:cNvSpPr>
            <a:spLocks noGrp="1"/>
          </p:cNvSpPr>
          <p:nvPr>
            <p:ph type="sldNum" sz="quarter" idx="12"/>
          </p:nvPr>
        </p:nvSpPr>
        <p:spPr/>
        <p:txBody>
          <a:bodyPr/>
          <a:lstStyle/>
          <a:p>
            <a:fld id="{29FACB4C-C362-4046-86B4-4C56FF9F32A5}" type="slidenum">
              <a:rPr lang="en-IN" smtClean="0"/>
              <a:t>18</a:t>
            </a:fld>
            <a:endParaRPr lang="en-IN"/>
          </a:p>
        </p:txBody>
      </p:sp>
    </p:spTree>
    <p:extLst>
      <p:ext uri="{BB962C8B-B14F-4D97-AF65-F5344CB8AC3E}">
        <p14:creationId xmlns:p14="http://schemas.microsoft.com/office/powerpoint/2010/main" val="2218194852"/>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DC93327F-907A-9EFE-E449-DA29571DA914}"/>
              </a:ext>
            </a:extLst>
          </p:cNvPr>
          <p:cNvSpPr>
            <a:spLocks noGrp="1"/>
          </p:cNvSpPr>
          <p:nvPr>
            <p:ph type="title"/>
          </p:nvPr>
        </p:nvSpPr>
        <p:spPr>
          <a:xfrm>
            <a:off x="0" y="1"/>
            <a:ext cx="11353800" cy="834188"/>
          </a:xfrm>
        </p:spPr>
        <p:txBody>
          <a:bodyPr>
            <a:normAutofit/>
          </a:bodyPr>
          <a:lstStyle/>
          <a:p>
            <a:r>
              <a:rPr lang="en-IN" sz="2200" dirty="0">
                <a:latin typeface="Times New Roman" panose="02020603050405020304" pitchFamily="18" charset="0"/>
                <a:cs typeface="Times New Roman" panose="02020603050405020304" pitchFamily="18" charset="0"/>
              </a:rPr>
              <a:t>Results :</a:t>
            </a:r>
          </a:p>
        </p:txBody>
      </p:sp>
      <p:pic>
        <p:nvPicPr>
          <p:cNvPr id="5" name="Content Placeholder 4">
            <a:extLst>
              <a:ext uri="{FF2B5EF4-FFF2-40B4-BE49-F238E27FC236}">
                <a16:creationId xmlns:a16="http://schemas.microsoft.com/office/drawing/2014/main" id="{16A69377-35E1-6F50-6F74-F6456C944E58}"/>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0" y="834188"/>
            <a:ext cx="6096000" cy="2594809"/>
          </a:xfrm>
          <a:prstGeom prst="rect">
            <a:avLst/>
          </a:prstGeom>
        </p:spPr>
      </p:pic>
      <p:sp>
        <p:nvSpPr>
          <p:cNvPr id="6" name="Slide Number Placeholder 5">
            <a:extLst>
              <a:ext uri="{FF2B5EF4-FFF2-40B4-BE49-F238E27FC236}">
                <a16:creationId xmlns:a16="http://schemas.microsoft.com/office/drawing/2014/main" id="{E444D224-020E-8B00-09D3-16C737720192}"/>
              </a:ext>
            </a:extLst>
          </p:cNvPr>
          <p:cNvSpPr>
            <a:spLocks noGrp="1"/>
          </p:cNvSpPr>
          <p:nvPr>
            <p:ph type="sldNum" sz="quarter" idx="12"/>
          </p:nvPr>
        </p:nvSpPr>
        <p:spPr/>
        <p:txBody>
          <a:bodyPr/>
          <a:lstStyle/>
          <a:p>
            <a:fld id="{29FACB4C-C362-4046-86B4-4C56FF9F32A5}" type="slidenum">
              <a:rPr lang="en-IN" smtClean="0"/>
              <a:t>19</a:t>
            </a:fld>
            <a:endParaRPr lang="en-IN"/>
          </a:p>
        </p:txBody>
      </p:sp>
      <p:pic>
        <p:nvPicPr>
          <p:cNvPr id="8" name="Picture 7">
            <a:extLst>
              <a:ext uri="{FF2B5EF4-FFF2-40B4-BE49-F238E27FC236}">
                <a16:creationId xmlns:a16="http://schemas.microsoft.com/office/drawing/2014/main" id="{CCF79714-03D9-BE7F-1685-96F1514445AD}"/>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3558620"/>
            <a:ext cx="6095999" cy="3299380"/>
          </a:xfrm>
          <a:prstGeom prst="rect">
            <a:avLst/>
          </a:prstGeom>
        </p:spPr>
      </p:pic>
      <p:pic>
        <p:nvPicPr>
          <p:cNvPr id="10" name="Picture 9">
            <a:extLst>
              <a:ext uri="{FF2B5EF4-FFF2-40B4-BE49-F238E27FC236}">
                <a16:creationId xmlns:a16="http://schemas.microsoft.com/office/drawing/2014/main" id="{FC3C2B3D-FD7C-8152-3004-25F13A7B9400}"/>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78252" y="834189"/>
            <a:ext cx="5913745" cy="2587906"/>
          </a:xfrm>
          <a:prstGeom prst="rect">
            <a:avLst/>
          </a:prstGeom>
        </p:spPr>
      </p:pic>
      <p:pic>
        <p:nvPicPr>
          <p:cNvPr id="12" name="Picture 11">
            <a:extLst>
              <a:ext uri="{FF2B5EF4-FFF2-40B4-BE49-F238E27FC236}">
                <a16:creationId xmlns:a16="http://schemas.microsoft.com/office/drawing/2014/main" id="{B5423441-FB26-FF3F-5EF0-43A43273F3B5}"/>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278252" y="3558619"/>
            <a:ext cx="5913745" cy="3299380"/>
          </a:xfrm>
          <a:prstGeom prst="rect">
            <a:avLst/>
          </a:prstGeom>
        </p:spPr>
      </p:pic>
    </p:spTree>
    <p:extLst>
      <p:ext uri="{BB962C8B-B14F-4D97-AF65-F5344CB8AC3E}">
        <p14:creationId xmlns:p14="http://schemas.microsoft.com/office/powerpoint/2010/main" val="4110211471"/>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E785A37B-6353-BB38-14B7-F79EF03DF394}"/>
              </a:ext>
            </a:extLst>
          </p:cNvPr>
          <p:cNvSpPr>
            <a:spLocks noGrp="1"/>
          </p:cNvSpPr>
          <p:nvPr>
            <p:ph type="title"/>
          </p:nvPr>
        </p:nvSpPr>
        <p:spPr>
          <a:xfrm>
            <a:off x="0" y="0"/>
            <a:ext cx="12192000" cy="412955"/>
          </a:xfrm>
        </p:spPr>
        <p:txBody>
          <a:bodyPr>
            <a:normAutofit fontScale="90000"/>
          </a:bodyPr>
          <a:lstStyle/>
          <a:p>
            <a:endParaRPr lang="en-IN" dirty="0"/>
          </a:p>
        </p:txBody>
      </p:sp>
      <p:pic>
        <p:nvPicPr>
          <p:cNvPr id="5" name="Content Placeholder 4">
            <a:extLst>
              <a:ext uri="{FF2B5EF4-FFF2-40B4-BE49-F238E27FC236}">
                <a16:creationId xmlns:a16="http://schemas.microsoft.com/office/drawing/2014/main" id="{C0A396E8-D97F-CD57-5301-9D28099A3397}"/>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481013"/>
            <a:ext cx="6469626" cy="3186419"/>
          </a:xfrm>
          <a:prstGeom prst="rect">
            <a:avLst/>
          </a:prstGeom>
        </p:spPr>
      </p:pic>
      <p:sp>
        <p:nvSpPr>
          <p:cNvPr id="6" name="Slide Number Placeholder 5">
            <a:extLst>
              <a:ext uri="{FF2B5EF4-FFF2-40B4-BE49-F238E27FC236}">
                <a16:creationId xmlns:a16="http://schemas.microsoft.com/office/drawing/2014/main" id="{BF180686-2343-3619-BB1D-FD0F0BAEEF5F}"/>
              </a:ext>
            </a:extLst>
          </p:cNvPr>
          <p:cNvSpPr>
            <a:spLocks noGrp="1"/>
          </p:cNvSpPr>
          <p:nvPr>
            <p:ph type="sldNum" sz="quarter" idx="12"/>
          </p:nvPr>
        </p:nvSpPr>
        <p:spPr/>
        <p:txBody>
          <a:bodyPr/>
          <a:lstStyle/>
          <a:p>
            <a:fld id="{29FACB4C-C362-4046-86B4-4C56FF9F32A5}" type="slidenum">
              <a:rPr lang="en-IN" smtClean="0"/>
              <a:t>20</a:t>
            </a:fld>
            <a:endParaRPr lang="en-IN"/>
          </a:p>
        </p:txBody>
      </p:sp>
      <p:pic>
        <p:nvPicPr>
          <p:cNvPr id="8" name="Picture 7">
            <a:extLst>
              <a:ext uri="{FF2B5EF4-FFF2-40B4-BE49-F238E27FC236}">
                <a16:creationId xmlns:a16="http://schemas.microsoft.com/office/drawing/2014/main" id="{EB4DBB80-7A68-A328-6CFD-6854F912CE5C}"/>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0" y="3735490"/>
            <a:ext cx="6469627" cy="3122510"/>
          </a:xfrm>
          <a:prstGeom prst="rect">
            <a:avLst/>
          </a:prstGeom>
        </p:spPr>
      </p:pic>
      <p:pic>
        <p:nvPicPr>
          <p:cNvPr id="10" name="Picture 9">
            <a:extLst>
              <a:ext uri="{FF2B5EF4-FFF2-40B4-BE49-F238E27FC236}">
                <a16:creationId xmlns:a16="http://schemas.microsoft.com/office/drawing/2014/main" id="{2E9804A9-AA52-0079-6438-EB4DF8DF1F77}"/>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597445" y="481013"/>
            <a:ext cx="5594554" cy="3186420"/>
          </a:xfrm>
          <a:prstGeom prst="rect">
            <a:avLst/>
          </a:prstGeom>
        </p:spPr>
      </p:pic>
      <p:pic>
        <p:nvPicPr>
          <p:cNvPr id="12" name="Picture 11">
            <a:extLst>
              <a:ext uri="{FF2B5EF4-FFF2-40B4-BE49-F238E27FC236}">
                <a16:creationId xmlns:a16="http://schemas.microsoft.com/office/drawing/2014/main" id="{A43E83D4-FF9F-B51D-E5D8-08DFF4209D06}"/>
              </a:ext>
            </a:extLst>
          </p:cNvPr>
          <p:cNvPicPr>
            <a:picLocks noChangeAspect="1"/>
          </p:cNvPicPr>
          <p:nvPr/>
        </p:nvPicPr>
        <p:blipFill>
          <a:blip r:embed="rId5">
            <a:extLst>
              <a:ext uri="{28A0092B-C50C-407E-A947-70E740481C1C}">
                <a14:useLocalDpi xmlns:a14="http://schemas.microsoft.com/office/drawing/2010/main" val="0"/>
              </a:ext>
            </a:extLst>
          </a:blip>
          <a:stretch>
            <a:fillRect/>
          </a:stretch>
        </p:blipFill>
        <p:spPr>
          <a:xfrm>
            <a:off x="6597444" y="3735490"/>
            <a:ext cx="5594556" cy="3122510"/>
          </a:xfrm>
          <a:prstGeom prst="rect">
            <a:avLst/>
          </a:prstGeom>
        </p:spPr>
      </p:pic>
    </p:spTree>
    <p:extLst>
      <p:ext uri="{BB962C8B-B14F-4D97-AF65-F5344CB8AC3E}">
        <p14:creationId xmlns:p14="http://schemas.microsoft.com/office/powerpoint/2010/main" val="163548592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B606CD67-40BE-D1C1-91D3-7FFBCF4FB9BC}"/>
              </a:ext>
            </a:extLst>
          </p:cNvPr>
          <p:cNvSpPr>
            <a:spLocks noGrp="1"/>
          </p:cNvSpPr>
          <p:nvPr>
            <p:ph type="title"/>
          </p:nvPr>
        </p:nvSpPr>
        <p:spPr>
          <a:xfrm>
            <a:off x="0" y="1"/>
            <a:ext cx="12192000" cy="518473"/>
          </a:xfrm>
        </p:spPr>
        <p:txBody>
          <a:bodyPr>
            <a:normAutofit fontScale="90000"/>
          </a:bodyPr>
          <a:lstStyle/>
          <a:p>
            <a:endParaRPr lang="en-IN" dirty="0"/>
          </a:p>
        </p:txBody>
      </p:sp>
      <p:pic>
        <p:nvPicPr>
          <p:cNvPr id="5" name="Content Placeholder 4">
            <a:extLst>
              <a:ext uri="{FF2B5EF4-FFF2-40B4-BE49-F238E27FC236}">
                <a16:creationId xmlns:a16="http://schemas.microsoft.com/office/drawing/2014/main" id="{432ED268-5362-16E8-6C8E-80C8ACF4D330}"/>
              </a:ext>
            </a:extLst>
          </p:cNvPr>
          <p:cNvPicPr>
            <a:picLocks noGrp="1" noChangeAspect="1"/>
          </p:cNvPicPr>
          <p:nvPr>
            <p:ph idx="1"/>
          </p:nvPr>
        </p:nvPicPr>
        <p:blipFill>
          <a:blip r:embed="rId2">
            <a:extLst>
              <a:ext uri="{28A0092B-C50C-407E-A947-70E740481C1C}">
                <a14:useLocalDpi xmlns:a14="http://schemas.microsoft.com/office/drawing/2010/main" val="0"/>
              </a:ext>
            </a:extLst>
          </a:blip>
          <a:stretch>
            <a:fillRect/>
          </a:stretch>
        </p:blipFill>
        <p:spPr>
          <a:xfrm>
            <a:off x="1" y="518474"/>
            <a:ext cx="6096000" cy="2910526"/>
          </a:xfrm>
          <a:prstGeom prst="rect">
            <a:avLst/>
          </a:prstGeom>
        </p:spPr>
      </p:pic>
      <p:sp>
        <p:nvSpPr>
          <p:cNvPr id="6" name="Slide Number Placeholder 5">
            <a:extLst>
              <a:ext uri="{FF2B5EF4-FFF2-40B4-BE49-F238E27FC236}">
                <a16:creationId xmlns:a16="http://schemas.microsoft.com/office/drawing/2014/main" id="{FCF63145-9348-0A85-D701-6F2ACC914E14}"/>
              </a:ext>
            </a:extLst>
          </p:cNvPr>
          <p:cNvSpPr>
            <a:spLocks noGrp="1"/>
          </p:cNvSpPr>
          <p:nvPr>
            <p:ph type="sldNum" sz="quarter" idx="12"/>
          </p:nvPr>
        </p:nvSpPr>
        <p:spPr/>
        <p:txBody>
          <a:bodyPr/>
          <a:lstStyle/>
          <a:p>
            <a:fld id="{29FACB4C-C362-4046-86B4-4C56FF9F32A5}" type="slidenum">
              <a:rPr lang="en-IN" smtClean="0"/>
              <a:t>21</a:t>
            </a:fld>
            <a:endParaRPr lang="en-IN"/>
          </a:p>
        </p:txBody>
      </p:sp>
      <p:pic>
        <p:nvPicPr>
          <p:cNvPr id="8" name="Picture 7">
            <a:extLst>
              <a:ext uri="{FF2B5EF4-FFF2-40B4-BE49-F238E27FC236}">
                <a16:creationId xmlns:a16="http://schemas.microsoft.com/office/drawing/2014/main" id="{B4EFA3E5-E3AA-52D2-6E0C-3409CA1EFE91}"/>
              </a:ext>
            </a:extLst>
          </p:cNvPr>
          <p:cNvPicPr>
            <a:picLocks noChangeAspect="1"/>
          </p:cNvPicPr>
          <p:nvPr/>
        </p:nvPicPr>
        <p:blipFill>
          <a:blip r:embed="rId3">
            <a:extLst>
              <a:ext uri="{28A0092B-C50C-407E-A947-70E740481C1C}">
                <a14:useLocalDpi xmlns:a14="http://schemas.microsoft.com/office/drawing/2010/main" val="0"/>
              </a:ext>
            </a:extLst>
          </a:blip>
          <a:stretch>
            <a:fillRect/>
          </a:stretch>
        </p:blipFill>
        <p:spPr>
          <a:xfrm>
            <a:off x="1" y="3563332"/>
            <a:ext cx="6096000" cy="3294668"/>
          </a:xfrm>
          <a:prstGeom prst="rect">
            <a:avLst/>
          </a:prstGeom>
        </p:spPr>
      </p:pic>
      <p:pic>
        <p:nvPicPr>
          <p:cNvPr id="10" name="Picture 9">
            <a:extLst>
              <a:ext uri="{FF2B5EF4-FFF2-40B4-BE49-F238E27FC236}">
                <a16:creationId xmlns:a16="http://schemas.microsoft.com/office/drawing/2014/main" id="{4EE7BBD0-F85C-4C9B-A722-E9B5EE0E61EF}"/>
              </a:ext>
            </a:extLst>
          </p:cNvPr>
          <p:cNvPicPr>
            <a:picLocks noChangeAspect="1"/>
          </p:cNvPicPr>
          <p:nvPr/>
        </p:nvPicPr>
        <p:blipFill>
          <a:blip r:embed="rId4">
            <a:extLst>
              <a:ext uri="{28A0092B-C50C-407E-A947-70E740481C1C}">
                <a14:useLocalDpi xmlns:a14="http://schemas.microsoft.com/office/drawing/2010/main" val="0"/>
              </a:ext>
            </a:extLst>
          </a:blip>
          <a:stretch>
            <a:fillRect/>
          </a:stretch>
        </p:blipFill>
        <p:spPr>
          <a:xfrm>
            <a:off x="6240544" y="518475"/>
            <a:ext cx="5951456" cy="2910526"/>
          </a:xfrm>
          <a:prstGeom prst="rect">
            <a:avLst/>
          </a:prstGeom>
        </p:spPr>
      </p:pic>
    </p:spTree>
    <p:extLst>
      <p:ext uri="{BB962C8B-B14F-4D97-AF65-F5344CB8AC3E}">
        <p14:creationId xmlns:p14="http://schemas.microsoft.com/office/powerpoint/2010/main" val="1588338822"/>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B393CC0-2CD1-EE31-D8DD-A8B00A00A233}"/>
              </a:ext>
            </a:extLst>
          </p:cNvPr>
          <p:cNvSpPr>
            <a:spLocks noGrp="1"/>
          </p:cNvSpPr>
          <p:nvPr>
            <p:ph type="title"/>
          </p:nvPr>
        </p:nvSpPr>
        <p:spPr>
          <a:xfrm>
            <a:off x="0" y="1"/>
            <a:ext cx="11353800" cy="850231"/>
          </a:xfrm>
        </p:spPr>
        <p:txBody>
          <a:bodyPr>
            <a:normAutofit/>
          </a:bodyPr>
          <a:lstStyle/>
          <a:p>
            <a:r>
              <a:rPr lang="en-IN" sz="2200" dirty="0">
                <a:latin typeface="Times New Roman" panose="02020603050405020304" pitchFamily="18" charset="0"/>
                <a:cs typeface="Times New Roman" panose="02020603050405020304" pitchFamily="18" charset="0"/>
              </a:rPr>
              <a:t>LIMITATIONS :</a:t>
            </a:r>
          </a:p>
        </p:txBody>
      </p:sp>
      <p:sp>
        <p:nvSpPr>
          <p:cNvPr id="4" name="Rectangle 1">
            <a:extLst>
              <a:ext uri="{FF2B5EF4-FFF2-40B4-BE49-F238E27FC236}">
                <a16:creationId xmlns:a16="http://schemas.microsoft.com/office/drawing/2014/main" id="{FF9D9282-8F8D-2398-4DBB-447D6B905264}"/>
              </a:ext>
            </a:extLst>
          </p:cNvPr>
          <p:cNvSpPr>
            <a:spLocks noGrp="1" noChangeArrowheads="1"/>
          </p:cNvSpPr>
          <p:nvPr>
            <p:ph idx="1"/>
          </p:nvPr>
        </p:nvSpPr>
        <p:spPr bwMode="auto">
          <a:xfrm>
            <a:off x="0" y="822458"/>
            <a:ext cx="12192000" cy="4708981"/>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Isolated Lab Environment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The entire setup runs inside virtual machines on a single host computer. Real-world DDoS attacks come from thousands of distributed sources across different countries and ISPs. The simulation uses just one attacker machine, which does not reflect the full complexity of an actual botnet-driven attack.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Snort Cannot Detect Zero-Day Attacks</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Snort works by matching traffic against a set of pre-written rules. If a new type of DDoS attack is launched that does not match any existing rule, Snort will not raise any alert. Rules must be manually updated each time a new attack pattern is discovered.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No IPv6 Support</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 The entire lab is configured using IPv4 addressing. Modern networks increasingly use IPv6, and many DDoS attacks now originate from IPv6 addresses. Our current detection and mitigation rules do not cover IPv6 traffic. </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High Resource Usage</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Running three virtual machines simultaneously requires at least 8GB RAM and a powerful CPU. On low-end machines, the VMs become slow, which reduces the reliability of the packet capture and affects the timing of fail2ban's response. </a:t>
            </a:r>
          </a:p>
        </p:txBody>
      </p:sp>
      <p:sp>
        <p:nvSpPr>
          <p:cNvPr id="7" name="Slide Number Placeholder 6">
            <a:extLst>
              <a:ext uri="{FF2B5EF4-FFF2-40B4-BE49-F238E27FC236}">
                <a16:creationId xmlns:a16="http://schemas.microsoft.com/office/drawing/2014/main" id="{34DE0E2A-65EC-4991-9EEC-EC54ADD4DB7D}"/>
              </a:ext>
            </a:extLst>
          </p:cNvPr>
          <p:cNvSpPr>
            <a:spLocks noGrp="1"/>
          </p:cNvSpPr>
          <p:nvPr>
            <p:ph type="sldNum" sz="quarter" idx="12"/>
          </p:nvPr>
        </p:nvSpPr>
        <p:spPr/>
        <p:txBody>
          <a:bodyPr/>
          <a:lstStyle/>
          <a:p>
            <a:fld id="{29FACB4C-C362-4046-86B4-4C56FF9F32A5}" type="slidenum">
              <a:rPr lang="en-IN" smtClean="0"/>
              <a:t>22</a:t>
            </a:fld>
            <a:endParaRPr lang="en-IN"/>
          </a:p>
        </p:txBody>
      </p:sp>
    </p:spTree>
    <p:extLst>
      <p:ext uri="{BB962C8B-B14F-4D97-AF65-F5344CB8AC3E}">
        <p14:creationId xmlns:p14="http://schemas.microsoft.com/office/powerpoint/2010/main" val="2024233269"/>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8F8C39EF-DA31-76E9-DC7F-82E1E77BC5F6}"/>
              </a:ext>
            </a:extLst>
          </p:cNvPr>
          <p:cNvSpPr>
            <a:spLocks noGrp="1"/>
          </p:cNvSpPr>
          <p:nvPr>
            <p:ph type="title"/>
          </p:nvPr>
        </p:nvSpPr>
        <p:spPr>
          <a:xfrm>
            <a:off x="0" y="1"/>
            <a:ext cx="12192000" cy="930441"/>
          </a:xfrm>
        </p:spPr>
        <p:txBody>
          <a:bodyPr>
            <a:normAutofit/>
          </a:bodyPr>
          <a:lstStyle/>
          <a:p>
            <a:r>
              <a:rPr lang="en-IN" sz="2200" dirty="0">
                <a:latin typeface="Times New Roman" panose="02020603050405020304" pitchFamily="18" charset="0"/>
                <a:cs typeface="Times New Roman" panose="02020603050405020304" pitchFamily="18" charset="0"/>
              </a:rPr>
              <a:t>CONCLUSION :</a:t>
            </a:r>
          </a:p>
        </p:txBody>
      </p:sp>
      <p:sp>
        <p:nvSpPr>
          <p:cNvPr id="4" name="Rectangle 1">
            <a:extLst>
              <a:ext uri="{FF2B5EF4-FFF2-40B4-BE49-F238E27FC236}">
                <a16:creationId xmlns:a16="http://schemas.microsoft.com/office/drawing/2014/main" id="{21977014-2355-D80B-7D3C-D3DB8304B411}"/>
              </a:ext>
            </a:extLst>
          </p:cNvPr>
          <p:cNvSpPr>
            <a:spLocks noGrp="1" noChangeArrowheads="1"/>
          </p:cNvSpPr>
          <p:nvPr>
            <p:ph idx="1"/>
          </p:nvPr>
        </p:nvSpPr>
        <p:spPr bwMode="auto">
          <a:xfrm>
            <a:off x="0" y="676053"/>
            <a:ext cx="12192000" cy="3785652"/>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This project successfully demonstrated how a DDoS attack is launched, detected, and mitigated in a controlled virtual environment.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a:p>
            <a:pPr marL="0" marR="0" lvl="0" indent="0" algn="just" defTabSz="914400" rtl="0" eaLnBrk="0" fontAlgn="base" latinLnBrk="0" hangingPunct="0">
              <a:lnSpc>
                <a:spcPct val="100000"/>
              </a:lnSpc>
              <a:spcBef>
                <a:spcPct val="0"/>
              </a:spcBef>
              <a:spcAft>
                <a:spcPct val="0"/>
              </a:spcAft>
              <a:buClrTx/>
              <a:buSzTx/>
              <a:buFontTx/>
              <a:buChar char="•"/>
              <a:tabLst/>
            </a:pPr>
            <a:r>
              <a:rPr lang="en-US" altLang="en-US" sz="2000" dirty="0">
                <a:latin typeface="Times New Roman" panose="02020603050405020304" pitchFamily="18" charset="0"/>
                <a:cs typeface="Times New Roman" panose="02020603050405020304" pitchFamily="18" charset="0"/>
              </a:rPr>
              <a:t>By this Project I</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learned that no single tool is enough a combination of packet capture, IDS, and automated banning gives the best protection.</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Snort proved effective at detecting abnormal traffic patterns, while fail2ban provided automated and fast response.</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The project builds a strong foundation for understanding real-world network security operations.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It shows that even with basic open-source tools, a functional DDoS detection and mitigation system can be built. </a:t>
            </a:r>
          </a:p>
        </p:txBody>
      </p:sp>
      <p:sp>
        <p:nvSpPr>
          <p:cNvPr id="7" name="Slide Number Placeholder 6">
            <a:extLst>
              <a:ext uri="{FF2B5EF4-FFF2-40B4-BE49-F238E27FC236}">
                <a16:creationId xmlns:a16="http://schemas.microsoft.com/office/drawing/2014/main" id="{1B0F9124-117A-621D-2BEA-86A8621DAC23}"/>
              </a:ext>
            </a:extLst>
          </p:cNvPr>
          <p:cNvSpPr>
            <a:spLocks noGrp="1"/>
          </p:cNvSpPr>
          <p:nvPr>
            <p:ph type="sldNum" sz="quarter" idx="12"/>
          </p:nvPr>
        </p:nvSpPr>
        <p:spPr/>
        <p:txBody>
          <a:bodyPr/>
          <a:lstStyle/>
          <a:p>
            <a:fld id="{29FACB4C-C362-4046-86B4-4C56FF9F32A5}" type="slidenum">
              <a:rPr lang="en-IN" smtClean="0"/>
              <a:t>23</a:t>
            </a:fld>
            <a:endParaRPr lang="en-IN"/>
          </a:p>
        </p:txBody>
      </p:sp>
    </p:spTree>
    <p:extLst>
      <p:ext uri="{BB962C8B-B14F-4D97-AF65-F5344CB8AC3E}">
        <p14:creationId xmlns:p14="http://schemas.microsoft.com/office/powerpoint/2010/main" val="1713714114"/>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2A3D31B9-B485-765B-261F-91853E52837C}"/>
              </a:ext>
            </a:extLst>
          </p:cNvPr>
          <p:cNvSpPr>
            <a:spLocks noGrp="1"/>
          </p:cNvSpPr>
          <p:nvPr>
            <p:ph type="title"/>
          </p:nvPr>
        </p:nvSpPr>
        <p:spPr>
          <a:xfrm>
            <a:off x="0" y="1"/>
            <a:ext cx="11353800" cy="914399"/>
          </a:xfrm>
        </p:spPr>
        <p:txBody>
          <a:bodyPr>
            <a:normAutofit/>
          </a:bodyPr>
          <a:lstStyle/>
          <a:p>
            <a:r>
              <a:rPr lang="en-IN" sz="2200" dirty="0">
                <a:latin typeface="Times New Roman" panose="02020603050405020304" pitchFamily="18" charset="0"/>
                <a:cs typeface="Times New Roman" panose="02020603050405020304" pitchFamily="18" charset="0"/>
              </a:rPr>
              <a:t>FUTURE SCOPE :</a:t>
            </a:r>
          </a:p>
        </p:txBody>
      </p:sp>
      <p:sp>
        <p:nvSpPr>
          <p:cNvPr id="4" name="Rectangle 1">
            <a:extLst>
              <a:ext uri="{FF2B5EF4-FFF2-40B4-BE49-F238E27FC236}">
                <a16:creationId xmlns:a16="http://schemas.microsoft.com/office/drawing/2014/main" id="{B3191438-9BF7-039A-7D24-35D06AF76488}"/>
              </a:ext>
            </a:extLst>
          </p:cNvPr>
          <p:cNvSpPr>
            <a:spLocks noGrp="1" noChangeArrowheads="1"/>
          </p:cNvSpPr>
          <p:nvPr>
            <p:ph idx="1"/>
          </p:nvPr>
        </p:nvSpPr>
        <p:spPr bwMode="auto">
          <a:xfrm>
            <a:off x="0" y="801330"/>
            <a:ext cx="12191999" cy="3170099"/>
          </a:xfrm>
          <a:prstGeom prst="rect">
            <a:avLst/>
          </a:prstGeom>
          <a:noFill/>
          <a:ln>
            <a:noFill/>
          </a:ln>
          <a:effectLst/>
          <a:extLst>
            <a:ext uri="{909E8E84-426E-40DD-AFC4-6F175D3DCCD1}">
              <a14:hiddenFill xmlns:a14="http://schemas.microsoft.com/office/drawing/2010/main">
                <a:solidFill>
                  <a:schemeClr val="accent1"/>
                </a:solidFill>
              </a14:hiddenFill>
            </a:ext>
            <a:ext uri="{91240B29-F687-4F45-9708-019B960494DF}">
              <a14:hiddenLine xmlns:a14="http://schemas.microsoft.com/office/drawing/2010/main" w="9525">
                <a:solidFill>
                  <a:schemeClr val="tx1"/>
                </a:solidFill>
                <a:miter lim="800000"/>
                <a:headEnd/>
                <a:tailEnd/>
              </a14:hiddenLine>
            </a:ext>
            <a:ext uri="{AF507438-7753-43E0-B8FC-AC1667EBCBE1}">
              <a14:hiddenEffects xmlns:a14="http://schemas.microsoft.com/office/drawing/2010/main">
                <a:effectLst>
                  <a:outerShdw dist="35921" dir="2700000" algn="ctr" rotWithShape="0">
                    <a:schemeClr val="bg2"/>
                  </a:outerShdw>
                </a:effectLst>
              </a14:hiddenEffects>
            </a:ext>
          </a:extLst>
        </p:spPr>
        <p:txBody>
          <a:bodyPr vert="horz" wrap="square" lIns="91440" tIns="45720" rIns="91440" bIns="45720" numCol="1" anchor="ctr" anchorCtr="0" compatLnSpc="1">
            <a:prstTxWarp prst="textNoShape">
              <a:avLst/>
            </a:prstTxWarp>
            <a:spAutoFit/>
          </a:bodyPr>
          <a:lstStyle/>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Machine Learning-based Detection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Train ML models on traffic data to detect attacks more accurately and reduce false positives.</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Botnet Simulation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Extend the lab to simulate attacks from multiple attacker machines (actual botnet behavior).</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Cloud-based Mitigation</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Integrate with cloud services like AWS Shield or Cloudflare for large-scale protection.</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FontTx/>
              <a:buChar char="•"/>
              <a:tabLst/>
            </a:pPr>
            <a:r>
              <a:rPr kumimoji="0" lang="en-US" altLang="en-US" sz="2000" b="1"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Real-time Dashboard</a:t>
            </a: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Build a web dashboard that shows live traffic, Snort alerts, and banned IPs visually.</a:t>
            </a:r>
          </a:p>
          <a:p>
            <a:pPr marL="0" marR="0" lvl="0" indent="0" algn="just" defTabSz="914400" rtl="0" eaLnBrk="0" fontAlgn="base" latinLnBrk="0" hangingPunct="0">
              <a:lnSpc>
                <a:spcPct val="100000"/>
              </a:lnSpc>
              <a:spcBef>
                <a:spcPct val="0"/>
              </a:spcBef>
              <a:spcAft>
                <a:spcPct val="0"/>
              </a:spcAft>
              <a:buClrTx/>
              <a:buSzTx/>
              <a:buNone/>
              <a:tabLst/>
            </a:pPr>
            <a:r>
              <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rPr>
              <a:t> </a:t>
            </a:r>
          </a:p>
          <a:p>
            <a:pPr marL="0" marR="0" lvl="0" indent="0" algn="just" defTabSz="914400" rtl="0" eaLnBrk="0" fontAlgn="base" latinLnBrk="0" hangingPunct="0">
              <a:lnSpc>
                <a:spcPct val="100000"/>
              </a:lnSpc>
              <a:spcBef>
                <a:spcPct val="0"/>
              </a:spcBef>
              <a:spcAft>
                <a:spcPct val="0"/>
              </a:spcAft>
              <a:buClrTx/>
              <a:buSzTx/>
              <a:buNone/>
              <a:tabLst/>
            </a:pPr>
            <a:endParaRPr kumimoji="0" lang="en-US" altLang="en-US" sz="2000" b="0" i="0" u="none" strike="noStrike" cap="none" normalizeH="0" baseline="0" dirty="0">
              <a:ln>
                <a:noFill/>
              </a:ln>
              <a:solidFill>
                <a:schemeClr val="tx1"/>
              </a:solidFill>
              <a:effectLst/>
              <a:latin typeface="Times New Roman" panose="02020603050405020304" pitchFamily="18" charset="0"/>
              <a:cs typeface="Times New Roman" panose="02020603050405020304" pitchFamily="18" charset="0"/>
            </a:endParaRPr>
          </a:p>
        </p:txBody>
      </p:sp>
      <p:sp>
        <p:nvSpPr>
          <p:cNvPr id="7" name="Slide Number Placeholder 6">
            <a:extLst>
              <a:ext uri="{FF2B5EF4-FFF2-40B4-BE49-F238E27FC236}">
                <a16:creationId xmlns:a16="http://schemas.microsoft.com/office/drawing/2014/main" id="{29CB6A0F-F481-2716-ADCA-F0D190766529}"/>
              </a:ext>
            </a:extLst>
          </p:cNvPr>
          <p:cNvSpPr>
            <a:spLocks noGrp="1"/>
          </p:cNvSpPr>
          <p:nvPr>
            <p:ph type="sldNum" sz="quarter" idx="12"/>
          </p:nvPr>
        </p:nvSpPr>
        <p:spPr/>
        <p:txBody>
          <a:bodyPr/>
          <a:lstStyle/>
          <a:p>
            <a:fld id="{29FACB4C-C362-4046-86B4-4C56FF9F32A5}" type="slidenum">
              <a:rPr lang="en-IN" smtClean="0"/>
              <a:t>24</a:t>
            </a:fld>
            <a:endParaRPr lang="en-IN"/>
          </a:p>
        </p:txBody>
      </p:sp>
    </p:spTree>
    <p:extLst>
      <p:ext uri="{BB962C8B-B14F-4D97-AF65-F5344CB8AC3E}">
        <p14:creationId xmlns:p14="http://schemas.microsoft.com/office/powerpoint/2010/main" val="3374753559"/>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itle 1">
            <a:extLst>
              <a:ext uri="{FF2B5EF4-FFF2-40B4-BE49-F238E27FC236}">
                <a16:creationId xmlns:a16="http://schemas.microsoft.com/office/drawing/2014/main" id="{999103FC-767B-2F64-4B6D-55288E7C53E8}"/>
              </a:ext>
            </a:extLst>
          </p:cNvPr>
          <p:cNvSpPr>
            <a:spLocks noGrp="1"/>
          </p:cNvSpPr>
          <p:nvPr>
            <p:ph type="title"/>
          </p:nvPr>
        </p:nvSpPr>
        <p:spPr>
          <a:xfrm>
            <a:off x="0" y="1"/>
            <a:ext cx="12192000" cy="1010652"/>
          </a:xfrm>
        </p:spPr>
        <p:txBody>
          <a:bodyPr>
            <a:normAutofit/>
          </a:bodyPr>
          <a:lstStyle/>
          <a:p>
            <a:r>
              <a:rPr lang="en-IN" sz="2200" dirty="0">
                <a:latin typeface="Times New Roman" panose="02020603050405020304" pitchFamily="18" charset="0"/>
                <a:cs typeface="Times New Roman" panose="02020603050405020304" pitchFamily="18" charset="0"/>
              </a:rPr>
              <a:t>REFERENCES :</a:t>
            </a:r>
          </a:p>
        </p:txBody>
      </p:sp>
      <p:sp>
        <p:nvSpPr>
          <p:cNvPr id="3" name="Content Placeholder 2">
            <a:extLst>
              <a:ext uri="{FF2B5EF4-FFF2-40B4-BE49-F238E27FC236}">
                <a16:creationId xmlns:a16="http://schemas.microsoft.com/office/drawing/2014/main" id="{CDA29BDD-EE8B-A719-7233-107A4B358A72}"/>
              </a:ext>
            </a:extLst>
          </p:cNvPr>
          <p:cNvSpPr>
            <a:spLocks noGrp="1"/>
          </p:cNvSpPr>
          <p:nvPr>
            <p:ph idx="1"/>
          </p:nvPr>
        </p:nvSpPr>
        <p:spPr>
          <a:xfrm>
            <a:off x="0" y="1171074"/>
            <a:ext cx="12192000" cy="5686926"/>
          </a:xfrm>
        </p:spPr>
        <p:txBody>
          <a:bodyPr>
            <a:normAutofit/>
          </a:bodyPr>
          <a:lstStyle/>
          <a:p>
            <a:pPr algn="just"/>
            <a:r>
              <a:rPr lang="en-IN" sz="2000" dirty="0">
                <a:latin typeface="Times New Roman" panose="02020603050405020304" pitchFamily="18" charset="0"/>
                <a:cs typeface="Times New Roman" panose="02020603050405020304" pitchFamily="18" charset="0"/>
              </a:rPr>
              <a:t>[1] Bhuyan, M. H., &amp; Bhattacharyya, D. K. (2020). </a:t>
            </a:r>
            <a:r>
              <a:rPr lang="en-IN" sz="2000" i="1" dirty="0">
                <a:latin typeface="Times New Roman" panose="02020603050405020304" pitchFamily="18" charset="0"/>
                <a:cs typeface="Times New Roman" panose="02020603050405020304" pitchFamily="18" charset="0"/>
              </a:rPr>
              <a:t>A survey on DDoS attack detection and prevention methods</a:t>
            </a:r>
            <a:r>
              <a:rPr lang="en-IN" sz="2000" dirty="0">
                <a:latin typeface="Times New Roman" panose="02020603050405020304" pitchFamily="18" charset="0"/>
                <a:cs typeface="Times New Roman" panose="02020603050405020304" pitchFamily="18" charset="0"/>
              </a:rPr>
              <a:t>. International Journal of Network Security, 22(3), 450–465.</a:t>
            </a:r>
          </a:p>
          <a:p>
            <a:pPr algn="just"/>
            <a:r>
              <a:rPr lang="en-IN" sz="2000" dirty="0">
                <a:latin typeface="Times New Roman" panose="02020603050405020304" pitchFamily="18" charset="0"/>
                <a:cs typeface="Times New Roman" panose="02020603050405020304" pitchFamily="18" charset="0"/>
              </a:rPr>
              <a:t>[2] Ahmed, A., &amp; Khan, F. (2020). </a:t>
            </a:r>
            <a:r>
              <a:rPr lang="en-IN" sz="2000" i="1" dirty="0">
                <a:latin typeface="Times New Roman" panose="02020603050405020304" pitchFamily="18" charset="0"/>
                <a:cs typeface="Times New Roman" panose="02020603050405020304" pitchFamily="18" charset="0"/>
              </a:rPr>
              <a:t>Intrusion detection system using Snort for DDoS mitigation</a:t>
            </a:r>
            <a:r>
              <a:rPr lang="en-IN" sz="2000" dirty="0">
                <a:latin typeface="Times New Roman" panose="02020603050405020304" pitchFamily="18" charset="0"/>
                <a:cs typeface="Times New Roman" panose="02020603050405020304" pitchFamily="18" charset="0"/>
              </a:rPr>
              <a:t>. International Journal of Computer Applications, 176(25), 15–21.</a:t>
            </a:r>
          </a:p>
          <a:p>
            <a:pPr algn="just"/>
            <a:r>
              <a:rPr lang="en-IN" sz="2000" dirty="0">
                <a:latin typeface="Times New Roman" panose="02020603050405020304" pitchFamily="18" charset="0"/>
                <a:cs typeface="Times New Roman" panose="02020603050405020304" pitchFamily="18" charset="0"/>
              </a:rPr>
              <a:t>[3] Singh, J., &amp; Verma, P. (2022). </a:t>
            </a:r>
            <a:r>
              <a:rPr lang="en-IN" sz="2000" i="1" dirty="0">
                <a:latin typeface="Times New Roman" panose="02020603050405020304" pitchFamily="18" charset="0"/>
                <a:cs typeface="Times New Roman" panose="02020603050405020304" pitchFamily="18" charset="0"/>
              </a:rPr>
              <a:t>Hybrid DDoS </a:t>
            </a:r>
            <a:r>
              <a:rPr lang="en-IN" sz="2000" i="1" dirty="0" err="1">
                <a:latin typeface="Times New Roman" panose="02020603050405020304" pitchFamily="18" charset="0"/>
                <a:cs typeface="Times New Roman" panose="02020603050405020304" pitchFamily="18" charset="0"/>
              </a:rPr>
              <a:t>defense</a:t>
            </a:r>
            <a:r>
              <a:rPr lang="en-IN" sz="2000" i="1" dirty="0">
                <a:latin typeface="Times New Roman" panose="02020603050405020304" pitchFamily="18" charset="0"/>
                <a:cs typeface="Times New Roman" panose="02020603050405020304" pitchFamily="18" charset="0"/>
              </a:rPr>
              <a:t>: Combining intrusion detection systems and rate limiting techniques</a:t>
            </a:r>
            <a:r>
              <a:rPr lang="en-IN" sz="2000" dirty="0">
                <a:latin typeface="Times New Roman" panose="02020603050405020304" pitchFamily="18" charset="0"/>
                <a:cs typeface="Times New Roman" panose="02020603050405020304" pitchFamily="18" charset="0"/>
              </a:rPr>
              <a:t>. Journal of Information Security and Applications, 64, 103056.</a:t>
            </a:r>
          </a:p>
          <a:p>
            <a:pPr algn="just"/>
            <a:r>
              <a:rPr lang="en-IN" sz="2000" dirty="0">
                <a:latin typeface="Times New Roman" panose="02020603050405020304" pitchFamily="18" charset="0"/>
                <a:cs typeface="Times New Roman" panose="02020603050405020304" pitchFamily="18" charset="0"/>
              </a:rPr>
              <a:t>[4] Zhao, K., Li, X., &amp; Chen, Y. (2020). </a:t>
            </a:r>
            <a:r>
              <a:rPr lang="en-IN" sz="2000" i="1" dirty="0">
                <a:latin typeface="Times New Roman" panose="02020603050405020304" pitchFamily="18" charset="0"/>
                <a:cs typeface="Times New Roman" panose="02020603050405020304" pitchFamily="18" charset="0"/>
              </a:rPr>
              <a:t>Botnet-based DDoS attack simulation in virtual environments</a:t>
            </a:r>
            <a:r>
              <a:rPr lang="en-IN" sz="2000" dirty="0">
                <a:latin typeface="Times New Roman" panose="02020603050405020304" pitchFamily="18" charset="0"/>
                <a:cs typeface="Times New Roman" panose="02020603050405020304" pitchFamily="18" charset="0"/>
              </a:rPr>
              <a:t>. IEEE Access, 8, 123456–123467.</a:t>
            </a:r>
          </a:p>
          <a:p>
            <a:pPr algn="just"/>
            <a:r>
              <a:rPr lang="en-IN" sz="2000" dirty="0">
                <a:latin typeface="Times New Roman" panose="02020603050405020304" pitchFamily="18" charset="0"/>
                <a:cs typeface="Times New Roman" panose="02020603050405020304" pitchFamily="18" charset="0"/>
              </a:rPr>
              <a:t>[5] Samatar, A. F., Hirsi, A., Omar, A. M., &amp; Abdiaziz, M. J. (2024). </a:t>
            </a:r>
            <a:r>
              <a:rPr lang="en-IN" sz="2000" i="1" dirty="0">
                <a:latin typeface="Times New Roman" panose="02020603050405020304" pitchFamily="18" charset="0"/>
                <a:cs typeface="Times New Roman" panose="02020603050405020304" pitchFamily="18" charset="0"/>
              </a:rPr>
              <a:t>Investigating DDoS attack mitigation strategies and simulation tools using GNS3</a:t>
            </a:r>
            <a:r>
              <a:rPr lang="en-IN" sz="2000" dirty="0">
                <a:latin typeface="Times New Roman" panose="02020603050405020304" pitchFamily="18" charset="0"/>
                <a:cs typeface="Times New Roman" panose="02020603050405020304" pitchFamily="18" charset="0"/>
              </a:rPr>
              <a:t>. In Proceedings of the 2024 International Conference on Electrical Engineering (FORTEI-ICEE) (pp. 142–147). IEEE. https://doi.org/10.1109/FORTEI-ICEE64706.2024.10824613</a:t>
            </a:r>
          </a:p>
          <a:p>
            <a:pPr marL="0" indent="0" algn="just">
              <a:buNone/>
            </a:pPr>
            <a:endParaRPr lang="en-IN" sz="2000" dirty="0">
              <a:latin typeface="Times New Roman" panose="02020603050405020304" pitchFamily="18" charset="0"/>
              <a:cs typeface="Times New Roman" panose="02020603050405020304" pitchFamily="18" charset="0"/>
            </a:endParaRPr>
          </a:p>
        </p:txBody>
      </p:sp>
      <p:sp>
        <p:nvSpPr>
          <p:cNvPr id="6" name="Slide Number Placeholder 5">
            <a:extLst>
              <a:ext uri="{FF2B5EF4-FFF2-40B4-BE49-F238E27FC236}">
                <a16:creationId xmlns:a16="http://schemas.microsoft.com/office/drawing/2014/main" id="{1B4D3301-54BE-9A42-4E64-2911F7AD9E63}"/>
              </a:ext>
            </a:extLst>
          </p:cNvPr>
          <p:cNvSpPr>
            <a:spLocks noGrp="1"/>
          </p:cNvSpPr>
          <p:nvPr>
            <p:ph type="sldNum" sz="quarter" idx="12"/>
          </p:nvPr>
        </p:nvSpPr>
        <p:spPr/>
        <p:txBody>
          <a:bodyPr/>
          <a:lstStyle/>
          <a:p>
            <a:fld id="{29FACB4C-C362-4046-86B4-4C56FF9F32A5}" type="slidenum">
              <a:rPr lang="en-IN" smtClean="0"/>
              <a:t>25</a:t>
            </a:fld>
            <a:endParaRPr lang="en-IN"/>
          </a:p>
        </p:txBody>
      </p:sp>
    </p:spTree>
    <p:extLst>
      <p:ext uri="{BB962C8B-B14F-4D97-AF65-F5344CB8AC3E}">
        <p14:creationId xmlns:p14="http://schemas.microsoft.com/office/powerpoint/2010/main" val="770739431"/>
      </p:ext>
    </p:extLst>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3.xml><?xml version="1.0" encoding="utf-8"?>
<a:theme xmlns:a="http://schemas.openxmlformats.org/drawingml/2006/main" name="Office Theme">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543</TotalTime>
  <Words>2636</Words>
  <Application>Microsoft Office PowerPoint</Application>
  <PresentationFormat>Widescreen</PresentationFormat>
  <Paragraphs>328</Paragraphs>
  <Slides>25</Slides>
  <Notes>0</Notes>
  <HiddenSlides>0</HiddenSlides>
  <MMClips>0</MMClips>
  <ScaleCrop>false</ScaleCrop>
  <HeadingPairs>
    <vt:vector size="6" baseType="variant">
      <vt:variant>
        <vt:lpstr>Fonts Used</vt:lpstr>
      </vt:variant>
      <vt:variant>
        <vt:i4>4</vt:i4>
      </vt:variant>
      <vt:variant>
        <vt:lpstr>Theme</vt:lpstr>
      </vt:variant>
      <vt:variant>
        <vt:i4>1</vt:i4>
      </vt:variant>
      <vt:variant>
        <vt:lpstr>Slide Titles</vt:lpstr>
      </vt:variant>
      <vt:variant>
        <vt:i4>25</vt:i4>
      </vt:variant>
    </vt:vector>
  </HeadingPairs>
  <TitlesOfParts>
    <vt:vector size="30" baseType="lpstr">
      <vt:lpstr>Arial</vt:lpstr>
      <vt:lpstr>Calibri</vt:lpstr>
      <vt:lpstr>Calibri Light</vt:lpstr>
      <vt:lpstr>Times New Roman</vt:lpstr>
      <vt:lpstr>Office Theme</vt:lpstr>
      <vt:lpstr>        Dept. of Cyber Forensics &amp; Information Security  MINI PROJECT REVIEW  TITLE: An Experimental Analysis of DDoS Attack Detection and Response  Supervisor: Dr. Gaurav Sharma  Presented By: Tadikamalla Revanth Mahajan   (NDU202500358)</vt:lpstr>
      <vt:lpstr>    CONTENTS</vt:lpstr>
      <vt:lpstr>ABSTRACT :</vt:lpstr>
      <vt:lpstr>INTRODUCTION :</vt:lpstr>
      <vt:lpstr>LITERATURE SURVEY :</vt:lpstr>
      <vt:lpstr>OBJECTIVES OF PROPOSED MODEL :</vt:lpstr>
      <vt:lpstr>METHODOLOGY :</vt:lpstr>
      <vt:lpstr>METHODOLOGY :</vt:lpstr>
      <vt:lpstr>PowerPoint Presentation</vt:lpstr>
      <vt:lpstr>PowerPoint Presentation</vt:lpstr>
      <vt:lpstr>DDOSIFY SIMULATION PARAMETERS :</vt:lpstr>
      <vt:lpstr>DATA SET COMPARASION :</vt:lpstr>
      <vt:lpstr>SYSTEM DESIGN :</vt:lpstr>
      <vt:lpstr>SOFTWARE REQUIREMENTS :</vt:lpstr>
      <vt:lpstr>HARDWARE REQUIREMENTS :</vt:lpstr>
      <vt:lpstr>APPLICATIONS :</vt:lpstr>
      <vt:lpstr>ADVANTAGES :</vt:lpstr>
      <vt:lpstr>DISADVANTAGES :</vt:lpstr>
      <vt:lpstr>Results :</vt:lpstr>
      <vt:lpstr>PowerPoint Presentation</vt:lpstr>
      <vt:lpstr>PowerPoint Presentation</vt:lpstr>
      <vt:lpstr>LIMITATIONS :</vt:lpstr>
      <vt:lpstr>CONCLUSION :</vt:lpstr>
      <vt:lpstr>FUTURE SCOPE :</vt:lpstr>
      <vt:lpstr>REFERENCES :</vt:lpstr>
    </vt:vector>
  </TitlesOfParts>
  <Company/>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creator>Revanth Mahajan</dc:creator>
  <cp:lastModifiedBy>Revanth Mahajan</cp:lastModifiedBy>
  <cp:revision>6</cp:revision>
  <dcterms:created xsi:type="dcterms:W3CDTF">2026-04-27T14:34:51Z</dcterms:created>
  <dcterms:modified xsi:type="dcterms:W3CDTF">2026-04-29T05:17:19Z</dcterms:modified>
</cp:coreProperties>
</file>